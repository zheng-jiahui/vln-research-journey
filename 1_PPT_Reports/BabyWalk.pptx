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handoutMasterIdLst>
    <p:handoutMasterId r:id="rId8"/>
  </p:handoutMasterIdLst>
  <p:sldIdLst>
    <p:sldId id="256" r:id="rId2"/>
    <p:sldId id="526" r:id="rId3"/>
    <p:sldId id="528" r:id="rId4"/>
    <p:sldId id="529" r:id="rId5"/>
    <p:sldId id="502" r:id="rId6"/>
  </p:sldIdLst>
  <p:sldSz cx="9144000" cy="6858000" type="screen4x3"/>
  <p:notesSz cx="6858000" cy="9144000"/>
  <p:custDataLst>
    <p:tags r:id="rId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fkx" initials="w" lastIdx="1" clrIdx="0"/>
  <p:cmAuthor id="2" name="2115875948@qq.com" initials="2" lastIdx="3" clrIdx="1">
    <p:extLst>
      <p:ext uri="{19B8F6BF-5375-455C-9EA6-DF929625EA0E}">
        <p15:presenceInfo xmlns:p15="http://schemas.microsoft.com/office/powerpoint/2012/main" userId="77d56f992319ea5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658F"/>
    <a:srgbClr val="5B9BD5"/>
    <a:srgbClr val="FF9966"/>
    <a:srgbClr val="FF9800"/>
    <a:srgbClr val="00AFF0"/>
    <a:srgbClr val="FF0000"/>
    <a:srgbClr val="1212F0"/>
    <a:srgbClr val="FFB014"/>
    <a:srgbClr val="AAAAFF"/>
    <a:srgbClr val="55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5153" autoAdjust="0"/>
  </p:normalViewPr>
  <p:slideViewPr>
    <p:cSldViewPr>
      <p:cViewPr varScale="1">
        <p:scale>
          <a:sx n="80" d="100"/>
          <a:sy n="80" d="100"/>
        </p:scale>
        <p:origin x="1507" y="62"/>
      </p:cViewPr>
      <p:guideLst/>
    </p:cSldViewPr>
  </p:slideViewPr>
  <p:notesTextViewPr>
    <p:cViewPr>
      <p:scale>
        <a:sx n="3" d="2"/>
        <a:sy n="3" d="2"/>
      </p:scale>
      <p:origin x="0" y="0"/>
    </p:cViewPr>
  </p:notesTextViewPr>
  <p:sorterViewPr>
    <p:cViewPr>
      <p:scale>
        <a:sx n="100" d="100"/>
        <a:sy n="100" d="100"/>
      </p:scale>
      <p:origin x="0" y="0"/>
    </p:cViewPr>
  </p:sorter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tags" Target="tags/tag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2025/9/8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A0B522-843A-4E8E-A647-AF429A9C9E7B}" type="datetimeFigureOut">
              <a:rPr lang="zh-CN" altLang="en-US" smtClean="0"/>
              <a:t>2025/9/8</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6659DB-8BA6-4AD3-9C6C-00F0DE7EB856}"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26659DB-8BA6-4AD3-9C6C-00F0DE7EB856}"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D0A12A2-0C94-4ACB-BC57-F09E82DBA60E}"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14908679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D0A12A2-0C94-4ACB-BC57-F09E82DBA60E}"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4148248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D0A12A2-0C94-4ACB-BC57-F09E82DBA60E}"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35331394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D0A12A2-0C94-4ACB-BC57-F09E82DBA60E}"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5</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4898193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2025/9/8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2025/9/8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D997B5FA-0921-464F-AAE1-844C04324D75}" type="datetimeFigureOut">
              <a:rPr lang="zh-CN" altLang="en-US" smtClean="0"/>
              <a:t>2025/9/8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D997B5FA-0921-464F-AAE1-844C04324D75}" type="datetimeFigureOut">
              <a:rPr lang="zh-CN" altLang="en-US" smtClean="0"/>
              <a:t>2025/9/8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hasCustomPrompt="1"/>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hasCustomPrompt="1"/>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D997B5FA-0921-464F-AAE1-844C04324D75}" type="datetimeFigureOut">
              <a:rPr lang="zh-CN" altLang="en-US" smtClean="0"/>
              <a:t>2025/9/8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D997B5FA-0921-464F-AAE1-844C04324D75}" type="datetimeFigureOut">
              <a:rPr lang="zh-CN" altLang="en-US" smtClean="0"/>
              <a:t>2025/9/8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97B5FA-0921-464F-AAE1-844C04324D75}" type="datetimeFigureOut">
              <a:rPr lang="zh-CN" altLang="en-US" smtClean="0"/>
              <a:t>2025/9/8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D997B5FA-0921-464F-AAE1-844C04324D75}" type="datetimeFigureOut">
              <a:rPr lang="zh-CN" altLang="en-US" smtClean="0"/>
              <a:t>2025/9/8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D997B5FA-0921-464F-AAE1-844C04324D75}" type="datetimeFigureOut">
              <a:rPr lang="zh-CN" altLang="en-US" smtClean="0"/>
              <a:t>2025/9/8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2025/9/8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2025/9/8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内容与标题">
    <p:spTree>
      <p:nvGrpSpPr>
        <p:cNvPr id="1" name=""/>
        <p:cNvGrpSpPr/>
        <p:nvPr/>
      </p:nvGrpSpPr>
      <p:grpSpPr>
        <a:xfrm>
          <a:off x="0" y="0"/>
          <a:ext cx="0" cy="0"/>
          <a:chOff x="0" y="0"/>
          <a:chExt cx="0" cy="0"/>
        </a:xfrm>
      </p:grpSpPr>
      <p:sp>
        <p:nvSpPr>
          <p:cNvPr id="8" name="平行四边形 7"/>
          <p:cNvSpPr/>
          <p:nvPr userDrawn="1"/>
        </p:nvSpPr>
        <p:spPr>
          <a:xfrm>
            <a:off x="-48939" y="-921"/>
            <a:ext cx="1470827" cy="692150"/>
          </a:xfrm>
          <a:prstGeom prst="parallelogram">
            <a:avLst>
              <a:gd name="adj" fmla="val 57289"/>
            </a:avLst>
          </a:prstGeom>
          <a:solidFill>
            <a:srgbClr val="354B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latin typeface="微软雅黑" panose="020B0503020204020204" pitchFamily="34" charset="-122"/>
            </a:endParaRPr>
          </a:p>
        </p:txBody>
      </p:sp>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32296" y="16480"/>
            <a:ext cx="708365" cy="659190"/>
          </a:xfrm>
          <a:prstGeom prst="rect">
            <a:avLst/>
          </a:prstGeom>
        </p:spPr>
      </p:pic>
      <p:sp>
        <p:nvSpPr>
          <p:cNvPr id="4" name="平行四边形 3"/>
          <p:cNvSpPr/>
          <p:nvPr userDrawn="1"/>
        </p:nvSpPr>
        <p:spPr>
          <a:xfrm>
            <a:off x="1040658" y="647450"/>
            <a:ext cx="8136000" cy="36000"/>
          </a:xfrm>
          <a:prstGeom prst="parallelogram">
            <a:avLst>
              <a:gd name="adj" fmla="val 57289"/>
            </a:avLst>
          </a:prstGeom>
          <a:solidFill>
            <a:srgbClr val="354B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latin typeface="微软雅黑" panose="020B0503020204020204" pitchFamily="34" charset="-122"/>
            </a:endParaRPr>
          </a:p>
        </p:txBody>
      </p:sp>
      <p:sp>
        <p:nvSpPr>
          <p:cNvPr id="2" name="文本框 1"/>
          <p:cNvSpPr txBox="1"/>
          <p:nvPr userDrawn="1"/>
        </p:nvSpPr>
        <p:spPr>
          <a:xfrm>
            <a:off x="8788198" y="6583996"/>
            <a:ext cx="500202" cy="275590"/>
          </a:xfrm>
          <a:prstGeom prst="rect">
            <a:avLst/>
          </a:prstGeom>
          <a:noFill/>
        </p:spPr>
        <p:txBody>
          <a:bodyPr wrap="square" rtlCol="0">
            <a:spAutoFit/>
          </a:bodyPr>
          <a:lstStyle/>
          <a:p>
            <a:fld id="{F1B2D83C-3CD3-4CBF-B268-3EDB8087C524}" type="slidenum">
              <a:rPr lang="zh-CN" altLang="en-US" sz="1200" b="1" smtClean="0">
                <a:solidFill>
                  <a:srgbClr val="354B72"/>
                </a:solidFill>
                <a:latin typeface="微软雅黑" panose="020B0503020204020204" pitchFamily="34" charset="-122"/>
                <a:ea typeface="微软雅黑" panose="020B0503020204020204" pitchFamily="34" charset="-122"/>
              </a:rPr>
              <a:t>‹#›</a:t>
            </a:fld>
            <a:endParaRPr lang="zh-CN" altLang="en-US" sz="1200" b="1" dirty="0">
              <a:solidFill>
                <a:srgbClr val="354B72"/>
              </a:solidFill>
              <a:latin typeface="微软雅黑" panose="020B0503020204020204" pitchFamily="34" charset="-122"/>
              <a:ea typeface="微软雅黑" panose="020B0503020204020204" pitchFamily="34" charset="-122"/>
            </a:endParaRPr>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2025/9/8</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7" name="组合 156"/>
          <p:cNvGrpSpPr/>
          <p:nvPr/>
        </p:nvGrpSpPr>
        <p:grpSpPr>
          <a:xfrm>
            <a:off x="3665847" y="158637"/>
            <a:ext cx="3239135" cy="1496060"/>
            <a:chOff x="5295900" y="2146300"/>
            <a:chExt cx="2552700" cy="1181100"/>
          </a:xfrm>
          <a:solidFill>
            <a:schemeClr val="bg1">
              <a:lumMod val="85000"/>
              <a:alpha val="58000"/>
            </a:schemeClr>
          </a:solidFill>
        </p:grpSpPr>
        <p:grpSp>
          <p:nvGrpSpPr>
            <p:cNvPr id="164" name="组合 163"/>
            <p:cNvGrpSpPr/>
            <p:nvPr/>
          </p:nvGrpSpPr>
          <p:grpSpPr>
            <a:xfrm>
              <a:off x="5295900" y="2146300"/>
              <a:ext cx="2552700" cy="114300"/>
              <a:chOff x="5295900" y="2146300"/>
              <a:chExt cx="2552700" cy="114300"/>
            </a:xfrm>
            <a:grpFill/>
          </p:grpSpPr>
          <p:sp>
            <p:nvSpPr>
              <p:cNvPr id="291" name="矩形 290"/>
              <p:cNvSpPr/>
              <p:nvPr/>
            </p:nvSpPr>
            <p:spPr>
              <a:xfrm>
                <a:off x="5295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92" name="矩形 291"/>
              <p:cNvSpPr/>
              <p:nvPr/>
            </p:nvSpPr>
            <p:spPr>
              <a:xfrm>
                <a:off x="5448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93" name="矩形 292"/>
              <p:cNvSpPr/>
              <p:nvPr/>
            </p:nvSpPr>
            <p:spPr>
              <a:xfrm>
                <a:off x="56007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94" name="矩形 293"/>
              <p:cNvSpPr/>
              <p:nvPr/>
            </p:nvSpPr>
            <p:spPr>
              <a:xfrm>
                <a:off x="57531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95" name="矩形 294"/>
              <p:cNvSpPr/>
              <p:nvPr/>
            </p:nvSpPr>
            <p:spPr>
              <a:xfrm>
                <a:off x="59055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96" name="矩形 295"/>
              <p:cNvSpPr/>
              <p:nvPr/>
            </p:nvSpPr>
            <p:spPr>
              <a:xfrm>
                <a:off x="6057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97" name="矩形 296"/>
              <p:cNvSpPr/>
              <p:nvPr/>
            </p:nvSpPr>
            <p:spPr>
              <a:xfrm>
                <a:off x="6210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98" name="矩形 297"/>
              <p:cNvSpPr/>
              <p:nvPr/>
            </p:nvSpPr>
            <p:spPr>
              <a:xfrm>
                <a:off x="63627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99" name="矩形 298"/>
              <p:cNvSpPr/>
              <p:nvPr/>
            </p:nvSpPr>
            <p:spPr>
              <a:xfrm>
                <a:off x="65151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300" name="矩形 299"/>
              <p:cNvSpPr/>
              <p:nvPr/>
            </p:nvSpPr>
            <p:spPr>
              <a:xfrm>
                <a:off x="66675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301" name="矩形 300"/>
              <p:cNvSpPr/>
              <p:nvPr/>
            </p:nvSpPr>
            <p:spPr>
              <a:xfrm>
                <a:off x="6819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302" name="矩形 301"/>
              <p:cNvSpPr/>
              <p:nvPr/>
            </p:nvSpPr>
            <p:spPr>
              <a:xfrm>
                <a:off x="6972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303" name="矩形 302"/>
              <p:cNvSpPr/>
              <p:nvPr/>
            </p:nvSpPr>
            <p:spPr>
              <a:xfrm>
                <a:off x="71247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304" name="矩形 303"/>
              <p:cNvSpPr/>
              <p:nvPr/>
            </p:nvSpPr>
            <p:spPr>
              <a:xfrm>
                <a:off x="72771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305" name="矩形 304"/>
              <p:cNvSpPr/>
              <p:nvPr/>
            </p:nvSpPr>
            <p:spPr>
              <a:xfrm>
                <a:off x="74295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306" name="矩形 305"/>
              <p:cNvSpPr/>
              <p:nvPr/>
            </p:nvSpPr>
            <p:spPr>
              <a:xfrm>
                <a:off x="7581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307" name="矩形 306"/>
              <p:cNvSpPr/>
              <p:nvPr/>
            </p:nvSpPr>
            <p:spPr>
              <a:xfrm>
                <a:off x="7734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grpSp>
        <p:grpSp>
          <p:nvGrpSpPr>
            <p:cNvPr id="165" name="组合 164"/>
            <p:cNvGrpSpPr/>
            <p:nvPr/>
          </p:nvGrpSpPr>
          <p:grpSpPr>
            <a:xfrm>
              <a:off x="5295900" y="2298700"/>
              <a:ext cx="2552700" cy="114300"/>
              <a:chOff x="5295900" y="2146300"/>
              <a:chExt cx="2552700" cy="114300"/>
            </a:xfrm>
            <a:grpFill/>
          </p:grpSpPr>
          <p:sp>
            <p:nvSpPr>
              <p:cNvPr id="274" name="矩形 273"/>
              <p:cNvSpPr/>
              <p:nvPr/>
            </p:nvSpPr>
            <p:spPr>
              <a:xfrm>
                <a:off x="5295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75" name="矩形 274"/>
              <p:cNvSpPr/>
              <p:nvPr/>
            </p:nvSpPr>
            <p:spPr>
              <a:xfrm>
                <a:off x="5448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76" name="矩形 275"/>
              <p:cNvSpPr/>
              <p:nvPr/>
            </p:nvSpPr>
            <p:spPr>
              <a:xfrm>
                <a:off x="56007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77" name="矩形 276"/>
              <p:cNvSpPr/>
              <p:nvPr/>
            </p:nvSpPr>
            <p:spPr>
              <a:xfrm>
                <a:off x="57531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78" name="矩形 277"/>
              <p:cNvSpPr/>
              <p:nvPr/>
            </p:nvSpPr>
            <p:spPr>
              <a:xfrm>
                <a:off x="59055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79" name="矩形 278"/>
              <p:cNvSpPr/>
              <p:nvPr/>
            </p:nvSpPr>
            <p:spPr>
              <a:xfrm>
                <a:off x="6057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80" name="矩形 279"/>
              <p:cNvSpPr/>
              <p:nvPr/>
            </p:nvSpPr>
            <p:spPr>
              <a:xfrm>
                <a:off x="6210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81" name="矩形 280"/>
              <p:cNvSpPr/>
              <p:nvPr/>
            </p:nvSpPr>
            <p:spPr>
              <a:xfrm>
                <a:off x="63627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82" name="矩形 281"/>
              <p:cNvSpPr/>
              <p:nvPr/>
            </p:nvSpPr>
            <p:spPr>
              <a:xfrm>
                <a:off x="65151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83" name="矩形 282"/>
              <p:cNvSpPr/>
              <p:nvPr/>
            </p:nvSpPr>
            <p:spPr>
              <a:xfrm>
                <a:off x="66675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84" name="矩形 283"/>
              <p:cNvSpPr/>
              <p:nvPr/>
            </p:nvSpPr>
            <p:spPr>
              <a:xfrm>
                <a:off x="6819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85" name="矩形 284"/>
              <p:cNvSpPr/>
              <p:nvPr/>
            </p:nvSpPr>
            <p:spPr>
              <a:xfrm>
                <a:off x="6972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86" name="矩形 285"/>
              <p:cNvSpPr/>
              <p:nvPr/>
            </p:nvSpPr>
            <p:spPr>
              <a:xfrm>
                <a:off x="71247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87" name="矩形 286"/>
              <p:cNvSpPr/>
              <p:nvPr/>
            </p:nvSpPr>
            <p:spPr>
              <a:xfrm>
                <a:off x="72771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88" name="矩形 287"/>
              <p:cNvSpPr/>
              <p:nvPr/>
            </p:nvSpPr>
            <p:spPr>
              <a:xfrm>
                <a:off x="74295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89" name="矩形 288"/>
              <p:cNvSpPr/>
              <p:nvPr/>
            </p:nvSpPr>
            <p:spPr>
              <a:xfrm>
                <a:off x="7581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90" name="矩形 289"/>
              <p:cNvSpPr/>
              <p:nvPr/>
            </p:nvSpPr>
            <p:spPr>
              <a:xfrm>
                <a:off x="7734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grpSp>
        <p:grpSp>
          <p:nvGrpSpPr>
            <p:cNvPr id="166" name="组合 165"/>
            <p:cNvGrpSpPr/>
            <p:nvPr/>
          </p:nvGrpSpPr>
          <p:grpSpPr>
            <a:xfrm>
              <a:off x="5295900" y="2451100"/>
              <a:ext cx="2552700" cy="114300"/>
              <a:chOff x="5295900" y="2146300"/>
              <a:chExt cx="2552700" cy="114300"/>
            </a:xfrm>
            <a:grpFill/>
          </p:grpSpPr>
          <p:sp>
            <p:nvSpPr>
              <p:cNvPr id="257" name="矩形 256"/>
              <p:cNvSpPr/>
              <p:nvPr/>
            </p:nvSpPr>
            <p:spPr>
              <a:xfrm>
                <a:off x="5295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58" name="矩形 257"/>
              <p:cNvSpPr/>
              <p:nvPr/>
            </p:nvSpPr>
            <p:spPr>
              <a:xfrm>
                <a:off x="5448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59" name="矩形 258"/>
              <p:cNvSpPr/>
              <p:nvPr/>
            </p:nvSpPr>
            <p:spPr>
              <a:xfrm>
                <a:off x="56007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60" name="矩形 259"/>
              <p:cNvSpPr/>
              <p:nvPr/>
            </p:nvSpPr>
            <p:spPr>
              <a:xfrm>
                <a:off x="57531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61" name="矩形 260"/>
              <p:cNvSpPr/>
              <p:nvPr/>
            </p:nvSpPr>
            <p:spPr>
              <a:xfrm>
                <a:off x="59055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62" name="矩形 261"/>
              <p:cNvSpPr/>
              <p:nvPr/>
            </p:nvSpPr>
            <p:spPr>
              <a:xfrm>
                <a:off x="6057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63" name="矩形 262"/>
              <p:cNvSpPr/>
              <p:nvPr/>
            </p:nvSpPr>
            <p:spPr>
              <a:xfrm>
                <a:off x="6210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64" name="矩形 263"/>
              <p:cNvSpPr/>
              <p:nvPr/>
            </p:nvSpPr>
            <p:spPr>
              <a:xfrm>
                <a:off x="63627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65" name="矩形 264"/>
              <p:cNvSpPr/>
              <p:nvPr/>
            </p:nvSpPr>
            <p:spPr>
              <a:xfrm>
                <a:off x="65151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66" name="矩形 265"/>
              <p:cNvSpPr/>
              <p:nvPr/>
            </p:nvSpPr>
            <p:spPr>
              <a:xfrm>
                <a:off x="66675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67" name="矩形 266"/>
              <p:cNvSpPr/>
              <p:nvPr/>
            </p:nvSpPr>
            <p:spPr>
              <a:xfrm>
                <a:off x="6819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68" name="矩形 267"/>
              <p:cNvSpPr/>
              <p:nvPr/>
            </p:nvSpPr>
            <p:spPr>
              <a:xfrm>
                <a:off x="6972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69" name="矩形 268"/>
              <p:cNvSpPr/>
              <p:nvPr/>
            </p:nvSpPr>
            <p:spPr>
              <a:xfrm>
                <a:off x="71247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70" name="矩形 269"/>
              <p:cNvSpPr/>
              <p:nvPr/>
            </p:nvSpPr>
            <p:spPr>
              <a:xfrm>
                <a:off x="72771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71" name="矩形 270"/>
              <p:cNvSpPr/>
              <p:nvPr/>
            </p:nvSpPr>
            <p:spPr>
              <a:xfrm>
                <a:off x="74295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72" name="矩形 271"/>
              <p:cNvSpPr/>
              <p:nvPr/>
            </p:nvSpPr>
            <p:spPr>
              <a:xfrm>
                <a:off x="7581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73" name="矩形 272"/>
              <p:cNvSpPr/>
              <p:nvPr/>
            </p:nvSpPr>
            <p:spPr>
              <a:xfrm>
                <a:off x="7734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grpSp>
        <p:grpSp>
          <p:nvGrpSpPr>
            <p:cNvPr id="167" name="组合 166"/>
            <p:cNvGrpSpPr/>
            <p:nvPr/>
          </p:nvGrpSpPr>
          <p:grpSpPr>
            <a:xfrm>
              <a:off x="5295900" y="2603500"/>
              <a:ext cx="2552700" cy="114300"/>
              <a:chOff x="5295900" y="2146300"/>
              <a:chExt cx="2552700" cy="114300"/>
            </a:xfrm>
            <a:grpFill/>
          </p:grpSpPr>
          <p:sp>
            <p:nvSpPr>
              <p:cNvPr id="240" name="矩形 239"/>
              <p:cNvSpPr/>
              <p:nvPr/>
            </p:nvSpPr>
            <p:spPr>
              <a:xfrm>
                <a:off x="5295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41" name="矩形 240"/>
              <p:cNvSpPr/>
              <p:nvPr/>
            </p:nvSpPr>
            <p:spPr>
              <a:xfrm>
                <a:off x="5448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42" name="矩形 241"/>
              <p:cNvSpPr/>
              <p:nvPr/>
            </p:nvSpPr>
            <p:spPr>
              <a:xfrm>
                <a:off x="56007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43" name="矩形 242"/>
              <p:cNvSpPr/>
              <p:nvPr/>
            </p:nvSpPr>
            <p:spPr>
              <a:xfrm>
                <a:off x="57531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44" name="矩形 243"/>
              <p:cNvSpPr/>
              <p:nvPr/>
            </p:nvSpPr>
            <p:spPr>
              <a:xfrm>
                <a:off x="59055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45" name="矩形 244"/>
              <p:cNvSpPr/>
              <p:nvPr/>
            </p:nvSpPr>
            <p:spPr>
              <a:xfrm>
                <a:off x="6057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46" name="矩形 245"/>
              <p:cNvSpPr/>
              <p:nvPr/>
            </p:nvSpPr>
            <p:spPr>
              <a:xfrm>
                <a:off x="6210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47" name="矩形 246"/>
              <p:cNvSpPr/>
              <p:nvPr/>
            </p:nvSpPr>
            <p:spPr>
              <a:xfrm>
                <a:off x="63627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48" name="矩形 247"/>
              <p:cNvSpPr/>
              <p:nvPr/>
            </p:nvSpPr>
            <p:spPr>
              <a:xfrm>
                <a:off x="65151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49" name="矩形 248"/>
              <p:cNvSpPr/>
              <p:nvPr/>
            </p:nvSpPr>
            <p:spPr>
              <a:xfrm>
                <a:off x="66675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50" name="矩形 249"/>
              <p:cNvSpPr/>
              <p:nvPr/>
            </p:nvSpPr>
            <p:spPr>
              <a:xfrm>
                <a:off x="6819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51" name="矩形 250"/>
              <p:cNvSpPr/>
              <p:nvPr/>
            </p:nvSpPr>
            <p:spPr>
              <a:xfrm>
                <a:off x="6972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52" name="矩形 251"/>
              <p:cNvSpPr/>
              <p:nvPr/>
            </p:nvSpPr>
            <p:spPr>
              <a:xfrm>
                <a:off x="71247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53" name="矩形 252"/>
              <p:cNvSpPr/>
              <p:nvPr/>
            </p:nvSpPr>
            <p:spPr>
              <a:xfrm>
                <a:off x="72771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54" name="矩形 253"/>
              <p:cNvSpPr/>
              <p:nvPr/>
            </p:nvSpPr>
            <p:spPr>
              <a:xfrm>
                <a:off x="74295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55" name="矩形 254"/>
              <p:cNvSpPr/>
              <p:nvPr/>
            </p:nvSpPr>
            <p:spPr>
              <a:xfrm>
                <a:off x="7581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56" name="矩形 255"/>
              <p:cNvSpPr/>
              <p:nvPr/>
            </p:nvSpPr>
            <p:spPr>
              <a:xfrm>
                <a:off x="7734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grpSp>
        <p:grpSp>
          <p:nvGrpSpPr>
            <p:cNvPr id="168" name="组合 167"/>
            <p:cNvGrpSpPr/>
            <p:nvPr/>
          </p:nvGrpSpPr>
          <p:grpSpPr>
            <a:xfrm>
              <a:off x="5295900" y="2755900"/>
              <a:ext cx="2552700" cy="114300"/>
              <a:chOff x="5295900" y="2146300"/>
              <a:chExt cx="2552700" cy="114300"/>
            </a:xfrm>
            <a:grpFill/>
          </p:grpSpPr>
          <p:sp>
            <p:nvSpPr>
              <p:cNvPr id="223" name="矩形 222"/>
              <p:cNvSpPr/>
              <p:nvPr/>
            </p:nvSpPr>
            <p:spPr>
              <a:xfrm>
                <a:off x="5295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24" name="矩形 223"/>
              <p:cNvSpPr/>
              <p:nvPr/>
            </p:nvSpPr>
            <p:spPr>
              <a:xfrm>
                <a:off x="5448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25" name="矩形 224"/>
              <p:cNvSpPr/>
              <p:nvPr/>
            </p:nvSpPr>
            <p:spPr>
              <a:xfrm>
                <a:off x="56007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26" name="矩形 225"/>
              <p:cNvSpPr/>
              <p:nvPr/>
            </p:nvSpPr>
            <p:spPr>
              <a:xfrm>
                <a:off x="57531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27" name="矩形 226"/>
              <p:cNvSpPr/>
              <p:nvPr/>
            </p:nvSpPr>
            <p:spPr>
              <a:xfrm>
                <a:off x="59055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28" name="矩形 227"/>
              <p:cNvSpPr/>
              <p:nvPr/>
            </p:nvSpPr>
            <p:spPr>
              <a:xfrm>
                <a:off x="6057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29" name="矩形 228"/>
              <p:cNvSpPr/>
              <p:nvPr/>
            </p:nvSpPr>
            <p:spPr>
              <a:xfrm>
                <a:off x="6210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30" name="矩形 229"/>
              <p:cNvSpPr/>
              <p:nvPr/>
            </p:nvSpPr>
            <p:spPr>
              <a:xfrm>
                <a:off x="63627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31" name="矩形 230"/>
              <p:cNvSpPr/>
              <p:nvPr/>
            </p:nvSpPr>
            <p:spPr>
              <a:xfrm>
                <a:off x="65151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32" name="矩形 231"/>
              <p:cNvSpPr/>
              <p:nvPr/>
            </p:nvSpPr>
            <p:spPr>
              <a:xfrm>
                <a:off x="66675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33" name="矩形 232"/>
              <p:cNvSpPr/>
              <p:nvPr/>
            </p:nvSpPr>
            <p:spPr>
              <a:xfrm>
                <a:off x="6819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34" name="矩形 233"/>
              <p:cNvSpPr/>
              <p:nvPr/>
            </p:nvSpPr>
            <p:spPr>
              <a:xfrm>
                <a:off x="6972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35" name="矩形 234"/>
              <p:cNvSpPr/>
              <p:nvPr/>
            </p:nvSpPr>
            <p:spPr>
              <a:xfrm>
                <a:off x="71247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36" name="矩形 235"/>
              <p:cNvSpPr/>
              <p:nvPr/>
            </p:nvSpPr>
            <p:spPr>
              <a:xfrm>
                <a:off x="72771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37" name="矩形 236"/>
              <p:cNvSpPr/>
              <p:nvPr/>
            </p:nvSpPr>
            <p:spPr>
              <a:xfrm>
                <a:off x="74295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38" name="矩形 237"/>
              <p:cNvSpPr/>
              <p:nvPr/>
            </p:nvSpPr>
            <p:spPr>
              <a:xfrm>
                <a:off x="7581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39" name="矩形 238"/>
              <p:cNvSpPr/>
              <p:nvPr/>
            </p:nvSpPr>
            <p:spPr>
              <a:xfrm>
                <a:off x="7734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grpSp>
        <p:grpSp>
          <p:nvGrpSpPr>
            <p:cNvPr id="169" name="组合 168"/>
            <p:cNvGrpSpPr/>
            <p:nvPr/>
          </p:nvGrpSpPr>
          <p:grpSpPr>
            <a:xfrm>
              <a:off x="5295900" y="2908300"/>
              <a:ext cx="2552700" cy="114300"/>
              <a:chOff x="5295900" y="2146300"/>
              <a:chExt cx="2552700" cy="114300"/>
            </a:xfrm>
            <a:grpFill/>
          </p:grpSpPr>
          <p:sp>
            <p:nvSpPr>
              <p:cNvPr id="206" name="矩形 205"/>
              <p:cNvSpPr/>
              <p:nvPr/>
            </p:nvSpPr>
            <p:spPr>
              <a:xfrm>
                <a:off x="5295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07" name="矩形 206"/>
              <p:cNvSpPr/>
              <p:nvPr/>
            </p:nvSpPr>
            <p:spPr>
              <a:xfrm>
                <a:off x="5448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08" name="矩形 207"/>
              <p:cNvSpPr/>
              <p:nvPr/>
            </p:nvSpPr>
            <p:spPr>
              <a:xfrm>
                <a:off x="56007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09" name="矩形 208"/>
              <p:cNvSpPr/>
              <p:nvPr/>
            </p:nvSpPr>
            <p:spPr>
              <a:xfrm>
                <a:off x="57531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10" name="矩形 209"/>
              <p:cNvSpPr/>
              <p:nvPr/>
            </p:nvSpPr>
            <p:spPr>
              <a:xfrm>
                <a:off x="59055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11" name="矩形 210"/>
              <p:cNvSpPr/>
              <p:nvPr/>
            </p:nvSpPr>
            <p:spPr>
              <a:xfrm>
                <a:off x="6057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12" name="矩形 211"/>
              <p:cNvSpPr/>
              <p:nvPr/>
            </p:nvSpPr>
            <p:spPr>
              <a:xfrm>
                <a:off x="6210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13" name="矩形 212"/>
              <p:cNvSpPr/>
              <p:nvPr/>
            </p:nvSpPr>
            <p:spPr>
              <a:xfrm>
                <a:off x="63627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14" name="矩形 213"/>
              <p:cNvSpPr/>
              <p:nvPr/>
            </p:nvSpPr>
            <p:spPr>
              <a:xfrm>
                <a:off x="65151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15" name="矩形 214"/>
              <p:cNvSpPr/>
              <p:nvPr/>
            </p:nvSpPr>
            <p:spPr>
              <a:xfrm>
                <a:off x="66675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16" name="矩形 215"/>
              <p:cNvSpPr/>
              <p:nvPr/>
            </p:nvSpPr>
            <p:spPr>
              <a:xfrm>
                <a:off x="6819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17" name="矩形 216"/>
              <p:cNvSpPr/>
              <p:nvPr/>
            </p:nvSpPr>
            <p:spPr>
              <a:xfrm>
                <a:off x="6972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18" name="矩形 217"/>
              <p:cNvSpPr/>
              <p:nvPr/>
            </p:nvSpPr>
            <p:spPr>
              <a:xfrm>
                <a:off x="71247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19" name="矩形 218"/>
              <p:cNvSpPr/>
              <p:nvPr/>
            </p:nvSpPr>
            <p:spPr>
              <a:xfrm>
                <a:off x="72771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20" name="矩形 219"/>
              <p:cNvSpPr/>
              <p:nvPr/>
            </p:nvSpPr>
            <p:spPr>
              <a:xfrm>
                <a:off x="74295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21" name="矩形 220"/>
              <p:cNvSpPr/>
              <p:nvPr/>
            </p:nvSpPr>
            <p:spPr>
              <a:xfrm>
                <a:off x="7581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22" name="矩形 221"/>
              <p:cNvSpPr/>
              <p:nvPr/>
            </p:nvSpPr>
            <p:spPr>
              <a:xfrm>
                <a:off x="7734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grpSp>
        <p:grpSp>
          <p:nvGrpSpPr>
            <p:cNvPr id="170" name="组合 169"/>
            <p:cNvGrpSpPr/>
            <p:nvPr/>
          </p:nvGrpSpPr>
          <p:grpSpPr>
            <a:xfrm>
              <a:off x="5295900" y="3060700"/>
              <a:ext cx="2552700" cy="114300"/>
              <a:chOff x="5295900" y="2146300"/>
              <a:chExt cx="2552700" cy="114300"/>
            </a:xfrm>
            <a:grpFill/>
          </p:grpSpPr>
          <p:sp>
            <p:nvSpPr>
              <p:cNvPr id="189" name="矩形 188"/>
              <p:cNvSpPr/>
              <p:nvPr/>
            </p:nvSpPr>
            <p:spPr>
              <a:xfrm>
                <a:off x="5295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190" name="矩形 189"/>
              <p:cNvSpPr/>
              <p:nvPr/>
            </p:nvSpPr>
            <p:spPr>
              <a:xfrm>
                <a:off x="5448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191" name="矩形 190"/>
              <p:cNvSpPr/>
              <p:nvPr/>
            </p:nvSpPr>
            <p:spPr>
              <a:xfrm>
                <a:off x="56007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192" name="矩形 191"/>
              <p:cNvSpPr/>
              <p:nvPr/>
            </p:nvSpPr>
            <p:spPr>
              <a:xfrm>
                <a:off x="57531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193" name="矩形 192"/>
              <p:cNvSpPr/>
              <p:nvPr/>
            </p:nvSpPr>
            <p:spPr>
              <a:xfrm>
                <a:off x="59055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194" name="矩形 193"/>
              <p:cNvSpPr/>
              <p:nvPr/>
            </p:nvSpPr>
            <p:spPr>
              <a:xfrm>
                <a:off x="6057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195" name="矩形 194"/>
              <p:cNvSpPr/>
              <p:nvPr/>
            </p:nvSpPr>
            <p:spPr>
              <a:xfrm>
                <a:off x="6210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196" name="矩形 195"/>
              <p:cNvSpPr/>
              <p:nvPr/>
            </p:nvSpPr>
            <p:spPr>
              <a:xfrm>
                <a:off x="63627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197" name="矩形 196"/>
              <p:cNvSpPr/>
              <p:nvPr/>
            </p:nvSpPr>
            <p:spPr>
              <a:xfrm>
                <a:off x="65151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198" name="矩形 197"/>
              <p:cNvSpPr/>
              <p:nvPr/>
            </p:nvSpPr>
            <p:spPr>
              <a:xfrm>
                <a:off x="66675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199" name="矩形 198"/>
              <p:cNvSpPr/>
              <p:nvPr/>
            </p:nvSpPr>
            <p:spPr>
              <a:xfrm>
                <a:off x="6819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00" name="矩形 199"/>
              <p:cNvSpPr/>
              <p:nvPr/>
            </p:nvSpPr>
            <p:spPr>
              <a:xfrm>
                <a:off x="6972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01" name="矩形 200"/>
              <p:cNvSpPr/>
              <p:nvPr/>
            </p:nvSpPr>
            <p:spPr>
              <a:xfrm>
                <a:off x="71247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02" name="矩形 201"/>
              <p:cNvSpPr/>
              <p:nvPr/>
            </p:nvSpPr>
            <p:spPr>
              <a:xfrm>
                <a:off x="72771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03" name="矩形 202"/>
              <p:cNvSpPr/>
              <p:nvPr/>
            </p:nvSpPr>
            <p:spPr>
              <a:xfrm>
                <a:off x="74295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04" name="矩形 203"/>
              <p:cNvSpPr/>
              <p:nvPr/>
            </p:nvSpPr>
            <p:spPr>
              <a:xfrm>
                <a:off x="7581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205" name="矩形 204"/>
              <p:cNvSpPr/>
              <p:nvPr/>
            </p:nvSpPr>
            <p:spPr>
              <a:xfrm>
                <a:off x="7734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grpSp>
        <p:grpSp>
          <p:nvGrpSpPr>
            <p:cNvPr id="171" name="组合 170"/>
            <p:cNvGrpSpPr/>
            <p:nvPr/>
          </p:nvGrpSpPr>
          <p:grpSpPr>
            <a:xfrm>
              <a:off x="5295900" y="3213100"/>
              <a:ext cx="2552700" cy="114300"/>
              <a:chOff x="5295900" y="2146300"/>
              <a:chExt cx="2552700" cy="114300"/>
            </a:xfrm>
            <a:grpFill/>
          </p:grpSpPr>
          <p:sp>
            <p:nvSpPr>
              <p:cNvPr id="172" name="矩形 171"/>
              <p:cNvSpPr/>
              <p:nvPr/>
            </p:nvSpPr>
            <p:spPr>
              <a:xfrm>
                <a:off x="5295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173" name="矩形 172"/>
              <p:cNvSpPr/>
              <p:nvPr/>
            </p:nvSpPr>
            <p:spPr>
              <a:xfrm>
                <a:off x="5448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174" name="矩形 173"/>
              <p:cNvSpPr/>
              <p:nvPr/>
            </p:nvSpPr>
            <p:spPr>
              <a:xfrm>
                <a:off x="56007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175" name="矩形 174"/>
              <p:cNvSpPr/>
              <p:nvPr/>
            </p:nvSpPr>
            <p:spPr>
              <a:xfrm>
                <a:off x="57531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176" name="矩形 175"/>
              <p:cNvSpPr/>
              <p:nvPr/>
            </p:nvSpPr>
            <p:spPr>
              <a:xfrm>
                <a:off x="59055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177" name="矩形 176"/>
              <p:cNvSpPr/>
              <p:nvPr/>
            </p:nvSpPr>
            <p:spPr>
              <a:xfrm>
                <a:off x="6057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178" name="矩形 177"/>
              <p:cNvSpPr/>
              <p:nvPr/>
            </p:nvSpPr>
            <p:spPr>
              <a:xfrm>
                <a:off x="6210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179" name="矩形 178"/>
              <p:cNvSpPr/>
              <p:nvPr/>
            </p:nvSpPr>
            <p:spPr>
              <a:xfrm>
                <a:off x="63627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0" name="矩形 179"/>
              <p:cNvSpPr/>
              <p:nvPr/>
            </p:nvSpPr>
            <p:spPr>
              <a:xfrm>
                <a:off x="65151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1" name="矩形 180"/>
              <p:cNvSpPr/>
              <p:nvPr/>
            </p:nvSpPr>
            <p:spPr>
              <a:xfrm>
                <a:off x="66675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2" name="矩形 181"/>
              <p:cNvSpPr/>
              <p:nvPr/>
            </p:nvSpPr>
            <p:spPr>
              <a:xfrm>
                <a:off x="6819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3" name="矩形 182"/>
              <p:cNvSpPr/>
              <p:nvPr/>
            </p:nvSpPr>
            <p:spPr>
              <a:xfrm>
                <a:off x="6972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4" name="矩形 183"/>
              <p:cNvSpPr/>
              <p:nvPr/>
            </p:nvSpPr>
            <p:spPr>
              <a:xfrm>
                <a:off x="71247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5" name="矩形 184"/>
              <p:cNvSpPr/>
              <p:nvPr/>
            </p:nvSpPr>
            <p:spPr>
              <a:xfrm>
                <a:off x="72771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6" name="矩形 185"/>
              <p:cNvSpPr/>
              <p:nvPr/>
            </p:nvSpPr>
            <p:spPr>
              <a:xfrm>
                <a:off x="74295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7" name="矩形 186"/>
              <p:cNvSpPr/>
              <p:nvPr/>
            </p:nvSpPr>
            <p:spPr>
              <a:xfrm>
                <a:off x="75819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8" name="矩形 187"/>
              <p:cNvSpPr/>
              <p:nvPr/>
            </p:nvSpPr>
            <p:spPr>
              <a:xfrm>
                <a:off x="7734300" y="2146300"/>
                <a:ext cx="114300" cy="114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grpSp>
      </p:grpSp>
      <p:sp>
        <p:nvSpPr>
          <p:cNvPr id="158" name="矩形 157"/>
          <p:cNvSpPr/>
          <p:nvPr/>
        </p:nvSpPr>
        <p:spPr>
          <a:xfrm>
            <a:off x="47675" y="158637"/>
            <a:ext cx="3589020" cy="1498600"/>
          </a:xfrm>
          <a:prstGeom prst="rect">
            <a:avLst/>
          </a:prstGeom>
          <a:solidFill>
            <a:srgbClr val="00658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8000" b="1" dirty="0">
              <a:latin typeface="inpin heiti" panose="00000500000000000000" pitchFamily="2" charset="-122"/>
              <a:ea typeface="inpin heiti" panose="00000500000000000000" pitchFamily="2" charset="-122"/>
              <a:sym typeface="inpin heiti" panose="00000500000000000000" pitchFamily="2" charset="-122"/>
            </a:endParaRPr>
          </a:p>
        </p:txBody>
      </p:sp>
      <p:sp>
        <p:nvSpPr>
          <p:cNvPr id="159" name="文本框 333"/>
          <p:cNvSpPr txBox="1"/>
          <p:nvPr/>
        </p:nvSpPr>
        <p:spPr>
          <a:xfrm>
            <a:off x="-324000" y="2037653"/>
            <a:ext cx="6697184" cy="1382785"/>
          </a:xfrm>
          <a:prstGeom prst="rect">
            <a:avLst/>
          </a:prstGeom>
          <a:noFill/>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3200" b="1" dirty="0" err="1">
                <a:solidFill>
                  <a:srgbClr val="00658F"/>
                </a:solidFill>
                <a:latin typeface="微软雅黑" panose="020B0503020204020204" pitchFamily="34" charset="-122"/>
                <a:ea typeface="微软雅黑" panose="020B0503020204020204" pitchFamily="34" charset="-122"/>
                <a:cs typeface="MiSans" panose="02010600030101010101" charset="-122"/>
                <a:sym typeface="inpin heiti" panose="00000500000000000000" pitchFamily="2" charset="-122"/>
              </a:rPr>
              <a:t>BabyWalk</a:t>
            </a:r>
            <a:r>
              <a:rPr lang="en-US" altLang="zh-CN" sz="3200" b="1" dirty="0">
                <a:solidFill>
                  <a:srgbClr val="00658F"/>
                </a:solidFill>
                <a:latin typeface="微软雅黑" panose="020B0503020204020204" pitchFamily="34" charset="-122"/>
                <a:ea typeface="微软雅黑" panose="020B0503020204020204" pitchFamily="34" charset="-122"/>
                <a:cs typeface="MiSans" panose="02010600030101010101" charset="-122"/>
                <a:sym typeface="inpin heiti" panose="00000500000000000000" pitchFamily="2" charset="-122"/>
              </a:rPr>
              <a:t>: Going Farther in Vision-and-Language Navigation by Taking Baby Steps</a:t>
            </a:r>
            <a:endParaRPr lang="zh-CN" altLang="en-US" sz="3200" b="1" dirty="0">
              <a:solidFill>
                <a:srgbClr val="00658F"/>
              </a:solidFill>
              <a:latin typeface="微软雅黑" panose="020B0503020204020204" pitchFamily="34" charset="-122"/>
              <a:ea typeface="微软雅黑" panose="020B0503020204020204" pitchFamily="34" charset="-122"/>
              <a:cs typeface="MiSans" panose="02010600030101010101" charset="-122"/>
              <a:sym typeface="inpin heiti" panose="00000500000000000000" pitchFamily="2" charset="-122"/>
            </a:endParaRPr>
          </a:p>
        </p:txBody>
      </p:sp>
      <p:sp>
        <p:nvSpPr>
          <p:cNvPr id="162" name="矩形 161"/>
          <p:cNvSpPr/>
          <p:nvPr/>
        </p:nvSpPr>
        <p:spPr>
          <a:xfrm flipV="1">
            <a:off x="8036" y="3824349"/>
            <a:ext cx="5921375" cy="88900"/>
          </a:xfrm>
          <a:prstGeom prst="rect">
            <a:avLst/>
          </a:prstGeom>
          <a:solidFill>
            <a:srgbClr val="0065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pic>
        <p:nvPicPr>
          <p:cNvPr id="161" name="图片 160" descr="校徽-3"/>
          <p:cNvPicPr>
            <a:picLocks noChangeAspect="1"/>
          </p:cNvPicPr>
          <p:nvPr/>
        </p:nvPicPr>
        <p:blipFill>
          <a:blip r:embed="rId5"/>
          <a:stretch>
            <a:fillRect/>
          </a:stretch>
        </p:blipFill>
        <p:spPr>
          <a:xfrm>
            <a:off x="108000" y="303417"/>
            <a:ext cx="3467735" cy="1152525"/>
          </a:xfrm>
          <a:prstGeom prst="rect">
            <a:avLst/>
          </a:prstGeom>
        </p:spPr>
      </p:pic>
      <p:pic>
        <p:nvPicPr>
          <p:cNvPr id="308" name="图片 307"/>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5921574" y="0"/>
            <a:ext cx="3222425" cy="6858000"/>
          </a:xfrm>
          <a:prstGeom prst="rect">
            <a:avLst/>
          </a:prstGeom>
        </p:spPr>
      </p:pic>
      <p:graphicFrame>
        <p:nvGraphicFramePr>
          <p:cNvPr id="311" name="表格 310"/>
          <p:cNvGraphicFramePr>
            <a:graphicFrameLocks noGrp="1"/>
          </p:cNvGraphicFramePr>
          <p:nvPr>
            <p:custDataLst>
              <p:tags r:id="rId2"/>
            </p:custDataLst>
            <p:extLst>
              <p:ext uri="{D42A27DB-BD31-4B8C-83A1-F6EECF244321}">
                <p14:modId xmlns:p14="http://schemas.microsoft.com/office/powerpoint/2010/main" val="4063656748"/>
              </p:ext>
            </p:extLst>
          </p:nvPr>
        </p:nvGraphicFramePr>
        <p:xfrm>
          <a:off x="1259755" y="4494960"/>
          <a:ext cx="3417938" cy="1483360"/>
        </p:xfrm>
        <a:graphic>
          <a:graphicData uri="http://schemas.openxmlformats.org/drawingml/2006/table">
            <a:tbl>
              <a:tblPr firstRow="1" bandRow="1">
                <a:tableStyleId>{5C22544A-7EE6-4342-B048-85BDC9FD1C3A}</a:tableStyleId>
              </a:tblPr>
              <a:tblGrid>
                <a:gridCol w="1708785">
                  <a:extLst>
                    <a:ext uri="{9D8B030D-6E8A-4147-A177-3AD203B41FA5}">
                      <a16:colId xmlns:a16="http://schemas.microsoft.com/office/drawing/2014/main" val="20000"/>
                    </a:ext>
                  </a:extLst>
                </a:gridCol>
                <a:gridCol w="1709153">
                  <a:extLst>
                    <a:ext uri="{9D8B030D-6E8A-4147-A177-3AD203B41FA5}">
                      <a16:colId xmlns:a16="http://schemas.microsoft.com/office/drawing/2014/main" val="20001"/>
                    </a:ext>
                  </a:extLst>
                </a:gridCol>
              </a:tblGrid>
              <a:tr h="370840">
                <a:tc>
                  <a:txBody>
                    <a:bodyPr/>
                    <a:lstStyle/>
                    <a:p>
                      <a:pPr marL="0" algn="dist" defTabSz="914400" rtl="0" eaLnBrk="1" latinLnBrk="0" hangingPunct="1"/>
                      <a:r>
                        <a:rPr lang="zh-CN" altLang="en-US" sz="1800" b="1" kern="1200" dirty="0">
                          <a:solidFill>
                            <a:schemeClr val="tx1"/>
                          </a:solidFill>
                          <a:latin typeface="微软雅黑" panose="020B0503020204020204" pitchFamily="34" charset="-122"/>
                          <a:ea typeface="微软雅黑" panose="020B0503020204020204" pitchFamily="34" charset="-122"/>
                          <a:cs typeface="+mn-cs"/>
                        </a:rPr>
                        <a:t>报   告   人：</a:t>
                      </a:r>
                    </a:p>
                  </a:txBody>
                  <a:tcPr>
                    <a:noFill/>
                  </a:tcPr>
                </a:tc>
                <a:tc>
                  <a:txBody>
                    <a:bodyPr/>
                    <a:lstStyle/>
                    <a:p>
                      <a:pPr marL="0" algn="l" defTabSz="914400" rtl="0" eaLnBrk="1" latinLnBrk="0" hangingPunct="1"/>
                      <a:endParaRPr lang="zh-CN" altLang="en-US" sz="1800" b="1" kern="1200" dirty="0">
                        <a:solidFill>
                          <a:schemeClr val="tx1"/>
                        </a:solidFill>
                        <a:latin typeface="微软雅黑" panose="020B0503020204020204" pitchFamily="34" charset="-122"/>
                        <a:ea typeface="微软雅黑" panose="020B0503020204020204" pitchFamily="34" charset="-122"/>
                        <a:cs typeface="+mn-cs"/>
                      </a:endParaRPr>
                    </a:p>
                  </a:txBody>
                  <a:tcPr>
                    <a:noFill/>
                  </a:tcPr>
                </a:tc>
                <a:extLst>
                  <a:ext uri="{0D108BD9-81ED-4DB2-BD59-A6C34878D82A}">
                    <a16:rowId xmlns:a16="http://schemas.microsoft.com/office/drawing/2014/main" val="10000"/>
                  </a:ext>
                </a:extLst>
              </a:tr>
              <a:tr h="370840">
                <a:tc>
                  <a:txBody>
                    <a:bodyPr/>
                    <a:lstStyle/>
                    <a:p>
                      <a:pPr marL="0" algn="dist" defTabSz="914400" rtl="0" eaLnBrk="1" latinLnBrk="0" hangingPunct="1"/>
                      <a:r>
                        <a:rPr lang="zh-CN" altLang="en-US" sz="1800" b="1" kern="1200" dirty="0">
                          <a:solidFill>
                            <a:schemeClr val="tx1"/>
                          </a:solidFill>
                          <a:latin typeface="微软雅黑" panose="020B0503020204020204" pitchFamily="34" charset="-122"/>
                          <a:ea typeface="微软雅黑" panose="020B0503020204020204" pitchFamily="34" charset="-122"/>
                          <a:cs typeface="+mn-cs"/>
                        </a:rPr>
                        <a:t>学     号：</a:t>
                      </a:r>
                    </a:p>
                  </a:txBody>
                  <a:tcPr>
                    <a:noFill/>
                  </a:tcPr>
                </a:tc>
                <a:tc>
                  <a:txBody>
                    <a:bodyPr/>
                    <a:lstStyle/>
                    <a:p>
                      <a:pPr marL="0" algn="l" defTabSz="914400" rtl="0" eaLnBrk="1" latinLnBrk="0" hangingPunct="1"/>
                      <a:endParaRPr lang="zh-CN" altLang="en-US" sz="1800" b="1" kern="1200" dirty="0">
                        <a:solidFill>
                          <a:schemeClr val="tx1"/>
                        </a:solidFill>
                        <a:latin typeface="微软雅黑" panose="020B0503020204020204" pitchFamily="34" charset="-122"/>
                        <a:ea typeface="微软雅黑" panose="020B0503020204020204" pitchFamily="34" charset="-122"/>
                        <a:cs typeface="+mn-cs"/>
                      </a:endParaRPr>
                    </a:p>
                  </a:txBody>
                  <a:tcPr>
                    <a:noFill/>
                  </a:tcPr>
                </a:tc>
                <a:extLst>
                  <a:ext uri="{0D108BD9-81ED-4DB2-BD59-A6C34878D82A}">
                    <a16:rowId xmlns:a16="http://schemas.microsoft.com/office/drawing/2014/main" val="10001"/>
                  </a:ext>
                </a:extLst>
              </a:tr>
              <a:tr h="370840">
                <a:tc>
                  <a:txBody>
                    <a:bodyPr/>
                    <a:lstStyle/>
                    <a:p>
                      <a:pPr marL="0" algn="dist" defTabSz="914400" rtl="0" eaLnBrk="1" latinLnBrk="0" hangingPunct="1"/>
                      <a:r>
                        <a:rPr lang="zh-CN" altLang="en-US" sz="1800" b="1" kern="1200" dirty="0">
                          <a:solidFill>
                            <a:schemeClr val="tx1"/>
                          </a:solidFill>
                          <a:latin typeface="微软雅黑" panose="020B0503020204020204" pitchFamily="34" charset="-122"/>
                          <a:ea typeface="微软雅黑" panose="020B0503020204020204" pitchFamily="34" charset="-122"/>
                          <a:cs typeface="+mn-cs"/>
                        </a:rPr>
                        <a:t>指导教师：</a:t>
                      </a:r>
                    </a:p>
                  </a:txBody>
                  <a:tcPr>
                    <a:noFill/>
                  </a:tcPr>
                </a:tc>
                <a:tc>
                  <a:txBody>
                    <a:bodyPr/>
                    <a:lstStyle/>
                    <a:p>
                      <a:pPr marL="0" algn="l" defTabSz="914400" rtl="0" eaLnBrk="1" latinLnBrk="0" hangingPunct="1"/>
                      <a:endParaRPr lang="zh-CN" altLang="en-US" sz="1800" b="1" kern="1200" dirty="0">
                        <a:solidFill>
                          <a:schemeClr val="tx1"/>
                        </a:solidFill>
                        <a:latin typeface="微软雅黑" panose="020B0503020204020204" pitchFamily="34" charset="-122"/>
                        <a:ea typeface="微软雅黑" panose="020B0503020204020204" pitchFamily="34" charset="-122"/>
                        <a:cs typeface="+mn-cs"/>
                      </a:endParaRPr>
                    </a:p>
                  </a:txBody>
                  <a:tcPr>
                    <a:noFill/>
                  </a:tcPr>
                </a:tc>
                <a:extLst>
                  <a:ext uri="{0D108BD9-81ED-4DB2-BD59-A6C34878D82A}">
                    <a16:rowId xmlns:a16="http://schemas.microsoft.com/office/drawing/2014/main" val="10002"/>
                  </a:ext>
                </a:extLst>
              </a:tr>
              <a:tr h="370840">
                <a:tc>
                  <a:txBody>
                    <a:bodyPr/>
                    <a:lstStyle/>
                    <a:p>
                      <a:pPr marL="0" algn="dist" defTabSz="914400" rtl="0" eaLnBrk="1" latinLnBrk="0" hangingPunct="1"/>
                      <a:r>
                        <a:rPr lang="zh-CN" altLang="en-US" sz="1800" b="1" kern="1200" dirty="0">
                          <a:solidFill>
                            <a:schemeClr val="tx1"/>
                          </a:solidFill>
                          <a:latin typeface="微软雅黑" panose="020B0503020204020204" pitchFamily="34" charset="-122"/>
                          <a:ea typeface="微软雅黑" panose="020B0503020204020204" pitchFamily="34" charset="-122"/>
                          <a:cs typeface="+mn-cs"/>
                        </a:rPr>
                        <a:t>报告日期：</a:t>
                      </a:r>
                    </a:p>
                  </a:txBody>
                  <a:tcPr>
                    <a:noFill/>
                  </a:tcPr>
                </a:tc>
                <a:tc>
                  <a:txBody>
                    <a:bodyPr/>
                    <a:lstStyle/>
                    <a:p>
                      <a:pPr marL="0" algn="l" defTabSz="914400" rtl="0" eaLnBrk="1" latinLnBrk="0" hangingPunct="1"/>
                      <a:endParaRPr lang="zh-CN" altLang="en-US" sz="1800" b="1" kern="1200" dirty="0">
                        <a:solidFill>
                          <a:schemeClr val="tx1"/>
                        </a:solidFill>
                        <a:latin typeface="微软雅黑" panose="020B0503020204020204" pitchFamily="34" charset="-122"/>
                        <a:ea typeface="微软雅黑" panose="020B0503020204020204" pitchFamily="34" charset="-122"/>
                        <a:cs typeface="+mn-cs"/>
                      </a:endParaRPr>
                    </a:p>
                  </a:txBody>
                  <a:tcP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0" y="619125"/>
            <a:ext cx="9144000" cy="99649"/>
          </a:xfrm>
          <a:prstGeom prst="rect">
            <a:avLst/>
          </a:prstGeom>
          <a:solidFill>
            <a:srgbClr val="0065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11" name="文本框 10"/>
          <p:cNvSpPr txBox="1"/>
          <p:nvPr/>
        </p:nvSpPr>
        <p:spPr>
          <a:xfrm>
            <a:off x="250825" y="3678"/>
            <a:ext cx="5549899" cy="583565"/>
          </a:xfrm>
          <a:prstGeom prst="rect">
            <a:avLst/>
          </a:prstGeom>
        </p:spPr>
        <p:txBody>
          <a:bodyPr wrap="square" rtlCol="0" anchor="t">
            <a:spAutoFit/>
          </a:bodyPr>
          <a:lstStyle/>
          <a:p>
            <a:pPr marL="0" indent="0" algn="l">
              <a:lnSpc>
                <a:spcPct val="100000"/>
              </a:lnSpc>
              <a:buNone/>
            </a:pPr>
            <a:r>
              <a:rPr lang="zh-CN" altLang="en-US" sz="3200" b="1" dirty="0">
                <a:latin typeface="微软雅黑" panose="020B0503020204020204" pitchFamily="34" charset="-122"/>
                <a:ea typeface="微软雅黑" panose="020B0503020204020204" pitchFamily="34" charset="-122"/>
                <a:cs typeface="MiSans" panose="02010600030101010101" charset="-122"/>
              </a:rPr>
              <a:t>核心思想与总体架构</a:t>
            </a:r>
          </a:p>
        </p:txBody>
      </p:sp>
      <p:sp>
        <p:nvSpPr>
          <p:cNvPr id="6" name="Text 0">
            <a:extLst>
              <a:ext uri="{FF2B5EF4-FFF2-40B4-BE49-F238E27FC236}">
                <a16:creationId xmlns:a16="http://schemas.microsoft.com/office/drawing/2014/main" id="{B09C26A6-5764-4ED9-BC5F-50FCD2DB1C79}"/>
              </a:ext>
            </a:extLst>
          </p:cNvPr>
          <p:cNvSpPr/>
          <p:nvPr/>
        </p:nvSpPr>
        <p:spPr>
          <a:xfrm>
            <a:off x="935304" y="479263"/>
            <a:ext cx="3049055" cy="606887"/>
          </a:xfrm>
          <a:prstGeom prst="rect">
            <a:avLst/>
          </a:prstGeom>
          <a:noFill/>
          <a:ln/>
        </p:spPr>
        <p:txBody>
          <a:bodyPr wrap="square" lIns="91440" tIns="45720" rIns="91440" bIns="45720" rtlCol="0" anchor="ctr"/>
          <a:lstStyle/>
          <a:p>
            <a:pPr marL="0" indent="0" algn="l">
              <a:lnSpc>
                <a:spcPct val="90000"/>
              </a:lnSpc>
              <a:buNone/>
            </a:pPr>
            <a:r>
              <a:rPr lang="en-US" sz="4400" dirty="0">
                <a:solidFill>
                  <a:srgbClr val="000000"/>
                </a:solidFill>
                <a:latin typeface="微软雅黑" panose="020B0503020204020204" pitchFamily="34" charset="-122"/>
                <a:ea typeface="微软雅黑" panose="020B0503020204020204" pitchFamily="34" charset="-122"/>
                <a:cs typeface="MiSans" pitchFamily="34" charset="-120"/>
              </a:rPr>
              <a:t> </a:t>
            </a:r>
            <a:endParaRPr lang="en-US" sz="1600" dirty="0"/>
          </a:p>
        </p:txBody>
      </p:sp>
      <p:sp>
        <p:nvSpPr>
          <p:cNvPr id="18" name="Text 9">
            <a:extLst>
              <a:ext uri="{FF2B5EF4-FFF2-40B4-BE49-F238E27FC236}">
                <a16:creationId xmlns:a16="http://schemas.microsoft.com/office/drawing/2014/main" id="{FCB75F25-79FC-4CFD-BF6B-C337C57FD03D}"/>
              </a:ext>
            </a:extLst>
          </p:cNvPr>
          <p:cNvSpPr/>
          <p:nvPr/>
        </p:nvSpPr>
        <p:spPr>
          <a:xfrm>
            <a:off x="1082649" y="1201918"/>
            <a:ext cx="1126234" cy="307777"/>
          </a:xfrm>
          <a:prstGeom prst="rect">
            <a:avLst/>
          </a:prstGeom>
          <a:noFill/>
          <a:ln/>
        </p:spPr>
        <p:txBody>
          <a:bodyPr wrap="square" lIns="0" tIns="0" rIns="0" bIns="0" rtlCol="0" anchor="t">
            <a:spAutoFit/>
          </a:bodyPr>
          <a:lstStyle/>
          <a:p>
            <a:pPr marL="0" indent="0" algn="l">
              <a:lnSpc>
                <a:spcPct val="100000"/>
              </a:lnSpc>
              <a:buNone/>
            </a:pPr>
            <a:r>
              <a:rPr lang="zh-CN" altLang="en-US" sz="2000" b="1" dirty="0">
                <a:latin typeface="微软雅黑" panose="020B0503020204020204" pitchFamily="34" charset="-122"/>
                <a:ea typeface="微软雅黑" panose="020B0503020204020204" pitchFamily="34" charset="-122"/>
                <a:cs typeface="MiSans" panose="02010600030101010101" charset="-122"/>
              </a:rPr>
              <a:t>核心思想 </a:t>
            </a:r>
            <a:endParaRPr lang="en-US" sz="1600" dirty="0">
              <a:latin typeface="微软雅黑" panose="020B0503020204020204" pitchFamily="34" charset="-122"/>
              <a:ea typeface="微软雅黑" panose="020B0503020204020204" pitchFamily="34" charset="-122"/>
              <a:cs typeface="MiSans" panose="02010600030101010101" charset="-122"/>
            </a:endParaRPr>
          </a:p>
        </p:txBody>
      </p:sp>
      <p:sp>
        <p:nvSpPr>
          <p:cNvPr id="19" name="Text 10">
            <a:extLst>
              <a:ext uri="{FF2B5EF4-FFF2-40B4-BE49-F238E27FC236}">
                <a16:creationId xmlns:a16="http://schemas.microsoft.com/office/drawing/2014/main" id="{D62DC40A-6B53-4E5F-ADB3-7C16489055C2}"/>
              </a:ext>
            </a:extLst>
          </p:cNvPr>
          <p:cNvSpPr/>
          <p:nvPr/>
        </p:nvSpPr>
        <p:spPr>
          <a:xfrm>
            <a:off x="2556000" y="1155836"/>
            <a:ext cx="5976000" cy="1705403"/>
          </a:xfrm>
          <a:prstGeom prst="rect">
            <a:avLst/>
          </a:prstGeom>
          <a:noFill/>
          <a:ln/>
        </p:spPr>
        <p:txBody>
          <a:bodyPr wrap="square" lIns="91440" tIns="45720" rIns="91440" bIns="45720" rtlCol="0" anchor="t">
            <a:spAutoFit/>
          </a:bodyPr>
          <a:lstStyle/>
          <a:p>
            <a:pPr marL="0" indent="0" algn="just">
              <a:lnSpc>
                <a:spcPct val="150000"/>
              </a:lnSpc>
              <a:buNone/>
            </a:pPr>
            <a:r>
              <a:rPr lang="zh-CN" altLang="en-US" dirty="0">
                <a:latin typeface="微软雅黑" panose="020B0503020204020204" pitchFamily="34" charset="-122"/>
                <a:ea typeface="微软雅黑" panose="020B0503020204020204" pitchFamily="34" charset="-122"/>
                <a:cs typeface="MiSans" panose="02010600030101010101" charset="-122"/>
              </a:rPr>
              <a:t>将长指令分解：把一条复杂的导航指令切割成多个连续的、简单的微指令（</a:t>
            </a:r>
            <a:r>
              <a:rPr lang="en-US" altLang="zh-CN" dirty="0">
                <a:latin typeface="微软雅黑" panose="020B0503020204020204" pitchFamily="34" charset="-122"/>
                <a:ea typeface="微软雅黑" panose="020B0503020204020204" pitchFamily="34" charset="-122"/>
                <a:cs typeface="MiSans" panose="02010600030101010101" charset="-122"/>
              </a:rPr>
              <a:t>Baby-Step</a:t>
            </a:r>
            <a:r>
              <a:rPr lang="zh-CN" altLang="en-US" dirty="0">
                <a:latin typeface="微软雅黑" panose="020B0503020204020204" pitchFamily="34" charset="-122"/>
                <a:ea typeface="微软雅黑" panose="020B0503020204020204" pitchFamily="34" charset="-122"/>
                <a:cs typeface="MiSans" panose="02010600030101010101" charset="-122"/>
              </a:rPr>
              <a:t>）。</a:t>
            </a:r>
          </a:p>
          <a:p>
            <a:pPr marL="0" indent="0" algn="just">
              <a:lnSpc>
                <a:spcPct val="150000"/>
              </a:lnSpc>
              <a:buNone/>
            </a:pPr>
            <a:r>
              <a:rPr lang="zh-CN" altLang="en-US" dirty="0">
                <a:latin typeface="微软雅黑" panose="020B0503020204020204" pitchFamily="34" charset="-122"/>
                <a:ea typeface="微软雅黑" panose="020B0503020204020204" pitchFamily="34" charset="-122"/>
                <a:cs typeface="MiSans" panose="02010600030101010101" charset="-122"/>
              </a:rPr>
              <a:t>逐步执行：智能体只需专注于完成当前的微指令，而无需一开始就理解整个漫长任务。</a:t>
            </a:r>
            <a:endParaRPr lang="en-US" sz="2000" dirty="0">
              <a:latin typeface="微软雅黑" panose="020B0503020204020204" pitchFamily="34" charset="-122"/>
              <a:ea typeface="微软雅黑" panose="020B0503020204020204" pitchFamily="34" charset="-122"/>
              <a:cs typeface="MiSans" panose="02010600030101010101" charset="-122"/>
            </a:endParaRPr>
          </a:p>
        </p:txBody>
      </p:sp>
      <p:sp>
        <p:nvSpPr>
          <p:cNvPr id="20" name="Text 11">
            <a:extLst>
              <a:ext uri="{FF2B5EF4-FFF2-40B4-BE49-F238E27FC236}">
                <a16:creationId xmlns:a16="http://schemas.microsoft.com/office/drawing/2014/main" id="{E04B2474-CDEB-421D-B5CC-5439D51F95C6}"/>
              </a:ext>
            </a:extLst>
          </p:cNvPr>
          <p:cNvSpPr/>
          <p:nvPr/>
        </p:nvSpPr>
        <p:spPr>
          <a:xfrm>
            <a:off x="1118717" y="3842873"/>
            <a:ext cx="1536257" cy="307777"/>
          </a:xfrm>
          <a:prstGeom prst="rect">
            <a:avLst/>
          </a:prstGeom>
          <a:noFill/>
          <a:ln/>
        </p:spPr>
        <p:txBody>
          <a:bodyPr wrap="square" lIns="0" tIns="0" rIns="0" bIns="0" rtlCol="0" anchor="t">
            <a:spAutoFit/>
          </a:bodyPr>
          <a:lstStyle/>
          <a:p>
            <a:pPr marL="0" indent="0" algn="l">
              <a:lnSpc>
                <a:spcPct val="100000"/>
              </a:lnSpc>
              <a:buNone/>
            </a:pPr>
            <a:r>
              <a:rPr lang="zh-CN" altLang="en-US" sz="2000" b="1" dirty="0">
                <a:latin typeface="微软雅黑" panose="020B0503020204020204" pitchFamily="34" charset="-122"/>
                <a:ea typeface="微软雅黑" panose="020B0503020204020204" pitchFamily="34" charset="-122"/>
                <a:cs typeface="MiSans" panose="02010600030101010101" charset="-122"/>
              </a:rPr>
              <a:t>三大组件</a:t>
            </a:r>
          </a:p>
        </p:txBody>
      </p:sp>
      <p:sp>
        <p:nvSpPr>
          <p:cNvPr id="21" name="Text 12">
            <a:extLst>
              <a:ext uri="{FF2B5EF4-FFF2-40B4-BE49-F238E27FC236}">
                <a16:creationId xmlns:a16="http://schemas.microsoft.com/office/drawing/2014/main" id="{FAD13C5B-6AE0-45EA-9C66-FD9FB6476420}"/>
              </a:ext>
            </a:extLst>
          </p:cNvPr>
          <p:cNvSpPr/>
          <p:nvPr/>
        </p:nvSpPr>
        <p:spPr>
          <a:xfrm>
            <a:off x="2556000" y="3298301"/>
            <a:ext cx="6192000" cy="4613892"/>
          </a:xfrm>
          <a:prstGeom prst="rect">
            <a:avLst/>
          </a:prstGeom>
          <a:noFill/>
          <a:ln/>
        </p:spPr>
        <p:txBody>
          <a:bodyPr wrap="square" lIns="91440" tIns="45720" rIns="91440" bIns="45720" rtlCol="0" anchor="t">
            <a:spAutoFit/>
          </a:bodyPr>
          <a:lstStyle/>
          <a:p>
            <a:pPr marL="0" indent="0" algn="just">
              <a:lnSpc>
                <a:spcPct val="150000"/>
              </a:lnSpc>
              <a:buNone/>
            </a:pPr>
            <a:r>
              <a:rPr lang="en-US" altLang="zh-CN" dirty="0">
                <a:latin typeface="微软雅黑" panose="020B0503020204020204" pitchFamily="34" charset="-122"/>
                <a:ea typeface="微软雅黑" panose="020B0503020204020204" pitchFamily="34" charset="-122"/>
                <a:cs typeface="MiSans" panose="02010600030101010101" charset="-122"/>
              </a:rPr>
              <a:t>1</a:t>
            </a:r>
            <a:r>
              <a:rPr lang="zh-CN" altLang="en-US" dirty="0">
                <a:latin typeface="微软雅黑" panose="020B0503020204020204" pitchFamily="34" charset="-122"/>
                <a:ea typeface="微软雅黑" panose="020B0503020204020204" pitchFamily="34" charset="-122"/>
                <a:cs typeface="MiSans" panose="02010600030101010101" charset="-122"/>
              </a:rPr>
              <a:t>、记忆缓冲区：存储并总结之前所有已完成的</a:t>
            </a:r>
            <a:r>
              <a:rPr lang="en-US" altLang="zh-CN" dirty="0">
                <a:latin typeface="微软雅黑" panose="020B0503020204020204" pitchFamily="34" charset="-122"/>
                <a:ea typeface="微软雅黑" panose="020B0503020204020204" pitchFamily="34" charset="-122"/>
                <a:cs typeface="MiSans" panose="02010600030101010101" charset="-122"/>
              </a:rPr>
              <a:t>(</a:t>
            </a:r>
            <a:r>
              <a:rPr lang="zh-CN" altLang="en-US" dirty="0">
                <a:latin typeface="微软雅黑" panose="020B0503020204020204" pitchFamily="34" charset="-122"/>
                <a:ea typeface="微软雅黑" panose="020B0503020204020204" pitchFamily="34" charset="-122"/>
                <a:cs typeface="MiSans" panose="02010600030101010101" charset="-122"/>
              </a:rPr>
              <a:t>微指令，执行轨迹</a:t>
            </a:r>
            <a:r>
              <a:rPr lang="en-US" altLang="zh-CN" dirty="0">
                <a:latin typeface="微软雅黑" panose="020B0503020204020204" pitchFamily="34" charset="-122"/>
                <a:ea typeface="微软雅黑" panose="020B0503020204020204" pitchFamily="34" charset="-122"/>
                <a:cs typeface="MiSans" panose="02010600030101010101" charset="-122"/>
              </a:rPr>
              <a:t>)</a:t>
            </a:r>
            <a:r>
              <a:rPr lang="zh-CN" altLang="en-US" dirty="0">
                <a:latin typeface="微软雅黑" panose="020B0503020204020204" pitchFamily="34" charset="-122"/>
                <a:ea typeface="微软雅黑" panose="020B0503020204020204" pitchFamily="34" charset="-122"/>
                <a:cs typeface="MiSans" panose="02010600030101010101" charset="-122"/>
              </a:rPr>
              <a:t>对，为执行当前微指令提供宝贵的上下文，避免遗忘历史。</a:t>
            </a:r>
          </a:p>
          <a:p>
            <a:pPr marL="0" indent="0" algn="just">
              <a:lnSpc>
                <a:spcPct val="150000"/>
              </a:lnSpc>
              <a:buNone/>
            </a:pPr>
            <a:r>
              <a:rPr lang="en-US" altLang="zh-CN" dirty="0">
                <a:latin typeface="微软雅黑" panose="020B0503020204020204" pitchFamily="34" charset="-122"/>
                <a:ea typeface="微软雅黑" panose="020B0503020204020204" pitchFamily="34" charset="-122"/>
                <a:cs typeface="MiSans" panose="02010600030101010101" charset="-122"/>
              </a:rPr>
              <a:t>2</a:t>
            </a:r>
            <a:r>
              <a:rPr lang="zh-CN" altLang="en-US" dirty="0">
                <a:latin typeface="微软雅黑" panose="020B0503020204020204" pitchFamily="34" charset="-122"/>
                <a:ea typeface="微软雅黑" panose="020B0503020204020204" pitchFamily="34" charset="-122"/>
                <a:cs typeface="MiSans" panose="02010600030101010101" charset="-122"/>
              </a:rPr>
              <a:t>、模仿学习：让智能体在专家演示（人类轨迹）的指导下，专门学习如何完美地执行一个单一的微指令。</a:t>
            </a:r>
          </a:p>
          <a:p>
            <a:pPr marL="0" indent="0" algn="just">
              <a:lnSpc>
                <a:spcPct val="150000"/>
              </a:lnSpc>
              <a:buNone/>
            </a:pPr>
            <a:r>
              <a:rPr lang="en-US" altLang="zh-CN" dirty="0">
                <a:latin typeface="微软雅黑" panose="020B0503020204020204" pitchFamily="34" charset="-122"/>
                <a:ea typeface="微软雅黑" panose="020B0503020204020204" pitchFamily="34" charset="-122"/>
                <a:cs typeface="MiSans" panose="02010600030101010101" charset="-122"/>
              </a:rPr>
              <a:t>3</a:t>
            </a:r>
            <a:r>
              <a:rPr lang="zh-CN" altLang="en-US" dirty="0">
                <a:latin typeface="微软雅黑" panose="020B0503020204020204" pitchFamily="34" charset="-122"/>
                <a:ea typeface="微软雅黑" panose="020B0503020204020204" pitchFamily="34" charset="-122"/>
                <a:cs typeface="MiSans" panose="02010600030101010101" charset="-122"/>
              </a:rPr>
              <a:t>、课程强化学习：让智能体开始连续执行多个微指令，并通过奖励反馈优化策略。从执行最后</a:t>
            </a:r>
            <a:r>
              <a:rPr lang="en-US" altLang="zh-CN" dirty="0">
                <a:latin typeface="微软雅黑" panose="020B0503020204020204" pitchFamily="34" charset="-122"/>
                <a:ea typeface="微软雅黑" panose="020B0503020204020204" pitchFamily="34" charset="-122"/>
                <a:cs typeface="MiSans" panose="02010600030101010101" charset="-122"/>
              </a:rPr>
              <a:t>1</a:t>
            </a:r>
            <a:r>
              <a:rPr lang="zh-CN" altLang="en-US" dirty="0">
                <a:latin typeface="微软雅黑" panose="020B0503020204020204" pitchFamily="34" charset="-122"/>
                <a:ea typeface="微软雅黑" panose="020B0503020204020204" pitchFamily="34" charset="-122"/>
                <a:cs typeface="MiSans" panose="02010600030101010101" charset="-122"/>
              </a:rPr>
              <a:t>个微指令开始，逐步增加到执行最后</a:t>
            </a:r>
            <a:r>
              <a:rPr lang="en-US" altLang="zh-CN" dirty="0">
                <a:latin typeface="微软雅黑" panose="020B0503020204020204" pitchFamily="34" charset="-122"/>
                <a:ea typeface="微软雅黑" panose="020B0503020204020204" pitchFamily="34" charset="-122"/>
                <a:cs typeface="MiSans" panose="02010600030101010101" charset="-122"/>
              </a:rPr>
              <a:t>2</a:t>
            </a:r>
            <a:r>
              <a:rPr lang="zh-CN" altLang="en-US" dirty="0">
                <a:latin typeface="微软雅黑" panose="020B0503020204020204" pitchFamily="34" charset="-122"/>
                <a:ea typeface="微软雅黑" panose="020B0503020204020204" pitchFamily="34" charset="-122"/>
                <a:cs typeface="MiSans" panose="02010600030101010101" charset="-122"/>
              </a:rPr>
              <a:t>个、</a:t>
            </a:r>
            <a:r>
              <a:rPr lang="en-US" altLang="zh-CN" dirty="0">
                <a:latin typeface="微软雅黑" panose="020B0503020204020204" pitchFamily="34" charset="-122"/>
                <a:ea typeface="微软雅黑" panose="020B0503020204020204" pitchFamily="34" charset="-122"/>
                <a:cs typeface="MiSans" panose="02010600030101010101" charset="-122"/>
              </a:rPr>
              <a:t>3</a:t>
            </a:r>
            <a:r>
              <a:rPr lang="zh-CN" altLang="en-US" dirty="0">
                <a:latin typeface="微软雅黑" panose="020B0503020204020204" pitchFamily="34" charset="-122"/>
                <a:ea typeface="微软雅黑" panose="020B0503020204020204" pitchFamily="34" charset="-122"/>
                <a:cs typeface="MiSans" panose="02010600030101010101" charset="-122"/>
              </a:rPr>
              <a:t>个</a:t>
            </a:r>
            <a:r>
              <a:rPr lang="en-US" altLang="zh-CN" dirty="0">
                <a:latin typeface="微软雅黑" panose="020B0503020204020204" pitchFamily="34" charset="-122"/>
                <a:ea typeface="微软雅黑" panose="020B0503020204020204" pitchFamily="34" charset="-122"/>
                <a:cs typeface="MiSans" panose="02010600030101010101" charset="-122"/>
              </a:rPr>
              <a:t>...</a:t>
            </a:r>
            <a:r>
              <a:rPr lang="zh-CN" altLang="en-US" dirty="0">
                <a:latin typeface="微软雅黑" panose="020B0503020204020204" pitchFamily="34" charset="-122"/>
                <a:ea typeface="微软雅黑" panose="020B0503020204020204" pitchFamily="34" charset="-122"/>
                <a:cs typeface="MiSans" panose="02010600030101010101" charset="-122"/>
              </a:rPr>
              <a:t>直到能执行全部微指令。</a:t>
            </a:r>
          </a:p>
          <a:p>
            <a:pPr marL="0" indent="0" algn="just">
              <a:lnSpc>
                <a:spcPct val="150000"/>
              </a:lnSpc>
              <a:buNone/>
            </a:pPr>
            <a:endParaRPr lang="zh-CN" altLang="en-US" dirty="0">
              <a:latin typeface="微软雅黑" panose="020B0503020204020204" pitchFamily="34" charset="-122"/>
              <a:ea typeface="微软雅黑" panose="020B0503020204020204" pitchFamily="34" charset="-122"/>
              <a:cs typeface="MiSans" panose="02010600030101010101" charset="-122"/>
            </a:endParaRPr>
          </a:p>
          <a:p>
            <a:pPr marL="0" indent="0" algn="just">
              <a:lnSpc>
                <a:spcPct val="150000"/>
              </a:lnSpc>
              <a:buNone/>
            </a:pPr>
            <a:r>
              <a:rPr lang="zh-CN" altLang="en-US" dirty="0">
                <a:latin typeface="微软雅黑" panose="020B0503020204020204" pitchFamily="34" charset="-122"/>
                <a:ea typeface="微软雅黑" panose="020B0503020204020204" pitchFamily="34" charset="-122"/>
                <a:cs typeface="MiSans" panose="02010600030101010101" charset="-122"/>
              </a:rPr>
              <a:t>目的：像上学一样，从易到难，平滑地提升智能体处理长指令的能力。</a:t>
            </a:r>
            <a:endParaRPr lang="en-US" sz="2000" dirty="0">
              <a:latin typeface="微软雅黑" panose="020B0503020204020204" pitchFamily="34" charset="-122"/>
              <a:ea typeface="微软雅黑" panose="020B0503020204020204" pitchFamily="34" charset="-122"/>
              <a:cs typeface="MiSans" panose="02010600030101010101" charset="-122"/>
            </a:endParaRPr>
          </a:p>
        </p:txBody>
      </p:sp>
      <p:sp>
        <p:nvSpPr>
          <p:cNvPr id="23" name="Shape 14">
            <a:extLst>
              <a:ext uri="{FF2B5EF4-FFF2-40B4-BE49-F238E27FC236}">
                <a16:creationId xmlns:a16="http://schemas.microsoft.com/office/drawing/2014/main" id="{1B2EDC2D-5D1D-4D07-8A75-A10AC8B2459A}"/>
              </a:ext>
            </a:extLst>
          </p:cNvPr>
          <p:cNvSpPr/>
          <p:nvPr/>
        </p:nvSpPr>
        <p:spPr>
          <a:xfrm>
            <a:off x="766292" y="5506816"/>
            <a:ext cx="0" cy="125730"/>
          </a:xfrm>
          <a:prstGeom prst="line">
            <a:avLst/>
          </a:prstGeom>
          <a:noFill/>
          <a:ln w="12700">
            <a:solidFill>
              <a:srgbClr val="FFFFFF"/>
            </a:solidFill>
            <a:prstDash val="solid"/>
            <a:headEnd type="none"/>
            <a:tailEnd type="none"/>
          </a:ln>
        </p:spPr>
      </p:sp>
      <p:sp>
        <p:nvSpPr>
          <p:cNvPr id="24" name="Shape 15">
            <a:extLst>
              <a:ext uri="{FF2B5EF4-FFF2-40B4-BE49-F238E27FC236}">
                <a16:creationId xmlns:a16="http://schemas.microsoft.com/office/drawing/2014/main" id="{A88B6F5E-9EDD-496F-8CA6-7656210A36A2}"/>
              </a:ext>
            </a:extLst>
          </p:cNvPr>
          <p:cNvSpPr/>
          <p:nvPr/>
        </p:nvSpPr>
        <p:spPr>
          <a:xfrm>
            <a:off x="854557" y="5506816"/>
            <a:ext cx="0" cy="125730"/>
          </a:xfrm>
          <a:prstGeom prst="line">
            <a:avLst/>
          </a:prstGeom>
          <a:noFill/>
          <a:ln w="12700">
            <a:solidFill>
              <a:srgbClr val="FFFFFF"/>
            </a:solidFill>
            <a:prstDash val="solid"/>
            <a:headEnd type="none"/>
            <a:tailEnd type="none"/>
          </a:ln>
        </p:spPr>
      </p:sp>
      <p:sp>
        <p:nvSpPr>
          <p:cNvPr id="25" name="Shape 16">
            <a:extLst>
              <a:ext uri="{FF2B5EF4-FFF2-40B4-BE49-F238E27FC236}">
                <a16:creationId xmlns:a16="http://schemas.microsoft.com/office/drawing/2014/main" id="{0DE4BA1A-908A-40F5-93A9-654C9C734A89}"/>
              </a:ext>
            </a:extLst>
          </p:cNvPr>
          <p:cNvSpPr/>
          <p:nvPr/>
        </p:nvSpPr>
        <p:spPr>
          <a:xfrm>
            <a:off x="942187" y="5459826"/>
            <a:ext cx="0" cy="220345"/>
          </a:xfrm>
          <a:prstGeom prst="line">
            <a:avLst/>
          </a:prstGeom>
          <a:noFill/>
          <a:ln w="12700">
            <a:solidFill>
              <a:srgbClr val="FFFFFF"/>
            </a:solidFill>
            <a:prstDash val="solid"/>
            <a:headEnd type="none"/>
            <a:tailEnd type="none"/>
          </a:ln>
        </p:spPr>
      </p:sp>
      <p:sp>
        <p:nvSpPr>
          <p:cNvPr id="26" name="Shape 17">
            <a:extLst>
              <a:ext uri="{FF2B5EF4-FFF2-40B4-BE49-F238E27FC236}">
                <a16:creationId xmlns:a16="http://schemas.microsoft.com/office/drawing/2014/main" id="{B3984D35-6DFF-468A-9075-F08E66CD52CC}"/>
              </a:ext>
            </a:extLst>
          </p:cNvPr>
          <p:cNvSpPr/>
          <p:nvPr/>
        </p:nvSpPr>
        <p:spPr>
          <a:xfrm>
            <a:off x="1030452" y="5506816"/>
            <a:ext cx="0" cy="125730"/>
          </a:xfrm>
          <a:prstGeom prst="line">
            <a:avLst/>
          </a:prstGeom>
          <a:noFill/>
          <a:ln w="12700">
            <a:solidFill>
              <a:srgbClr val="FFFFFF"/>
            </a:solidFill>
            <a:prstDash val="solid"/>
            <a:headEnd type="none"/>
            <a:tailEnd type="none"/>
          </a:ln>
        </p:spPr>
      </p:sp>
      <p:sp>
        <p:nvSpPr>
          <p:cNvPr id="27" name="Shape 18">
            <a:extLst>
              <a:ext uri="{FF2B5EF4-FFF2-40B4-BE49-F238E27FC236}">
                <a16:creationId xmlns:a16="http://schemas.microsoft.com/office/drawing/2014/main" id="{51AB1E00-9E86-4ADA-8832-FDAFA4D0F865}"/>
              </a:ext>
            </a:extLst>
          </p:cNvPr>
          <p:cNvSpPr/>
          <p:nvPr/>
        </p:nvSpPr>
        <p:spPr>
          <a:xfrm>
            <a:off x="1118717" y="5506816"/>
            <a:ext cx="0" cy="125730"/>
          </a:xfrm>
          <a:prstGeom prst="line">
            <a:avLst/>
          </a:prstGeom>
          <a:noFill/>
          <a:ln w="12700">
            <a:solidFill>
              <a:srgbClr val="FFFFFF"/>
            </a:solidFill>
            <a:prstDash val="solid"/>
            <a:headEnd type="none"/>
            <a:tailEnd type="none"/>
          </a:ln>
        </p:spPr>
      </p:sp>
      <p:pic>
        <p:nvPicPr>
          <p:cNvPr id="28" name="Image 1" descr="https://kimi-img.moonshot.cn/pub/slides/slides_tmpl/image/25-06-01-00:16:39-d0timps75iks2gau4gjg.png">
            <a:extLst>
              <a:ext uri="{FF2B5EF4-FFF2-40B4-BE49-F238E27FC236}">
                <a16:creationId xmlns:a16="http://schemas.microsoft.com/office/drawing/2014/main" id="{367CC5A2-6CDC-467C-BDFB-9FCFAEEB7A97}"/>
              </a:ext>
            </a:extLst>
          </p:cNvPr>
          <p:cNvPicPr>
            <a:picLocks noChangeAspect="1"/>
          </p:cNvPicPr>
          <p:nvPr/>
        </p:nvPicPr>
        <p:blipFill>
          <a:blip r:embed="rId3"/>
          <a:stretch>
            <a:fillRect/>
          </a:stretch>
        </p:blipFill>
        <p:spPr>
          <a:xfrm>
            <a:off x="248893" y="1090158"/>
            <a:ext cx="748030" cy="748030"/>
          </a:xfrm>
          <a:prstGeom prst="rect">
            <a:avLst/>
          </a:prstGeom>
        </p:spPr>
      </p:pic>
      <p:sp>
        <p:nvSpPr>
          <p:cNvPr id="29" name="Shape 19">
            <a:extLst>
              <a:ext uri="{FF2B5EF4-FFF2-40B4-BE49-F238E27FC236}">
                <a16:creationId xmlns:a16="http://schemas.microsoft.com/office/drawing/2014/main" id="{F3372AD1-E8CA-494B-A436-37AF9C830BF3}"/>
              </a:ext>
            </a:extLst>
          </p:cNvPr>
          <p:cNvSpPr/>
          <p:nvPr/>
        </p:nvSpPr>
        <p:spPr>
          <a:xfrm>
            <a:off x="358700" y="1194586"/>
            <a:ext cx="528865" cy="540966"/>
          </a:xfrm>
          <a:prstGeom prst="rect">
            <a:avLst/>
          </a:prstGeom>
          <a:solidFill>
            <a:srgbClr val="000000">
              <a:alpha val="0"/>
            </a:srgbClr>
          </a:solidFill>
          <a:ln/>
        </p:spPr>
      </p:sp>
      <p:sp>
        <p:nvSpPr>
          <p:cNvPr id="30" name="Text 20">
            <a:extLst>
              <a:ext uri="{FF2B5EF4-FFF2-40B4-BE49-F238E27FC236}">
                <a16:creationId xmlns:a16="http://schemas.microsoft.com/office/drawing/2014/main" id="{25F617E4-FFD4-4392-BCE5-014D6BE72360}"/>
              </a:ext>
            </a:extLst>
          </p:cNvPr>
          <p:cNvSpPr/>
          <p:nvPr/>
        </p:nvSpPr>
        <p:spPr>
          <a:xfrm>
            <a:off x="358700" y="1194586"/>
            <a:ext cx="528865" cy="540966"/>
          </a:xfrm>
          <a:prstGeom prst="rect">
            <a:avLst/>
          </a:prstGeom>
          <a:noFill/>
          <a:ln/>
        </p:spPr>
        <p:txBody>
          <a:bodyPr wrap="square" lIns="0" tIns="0" rIns="0" bIns="0" rtlCol="0" anchor="t"/>
          <a:lstStyle/>
          <a:p>
            <a:pPr marL="0" indent="0" algn="ctr">
              <a:lnSpc>
                <a:spcPct val="110000"/>
              </a:lnSpc>
              <a:buNone/>
            </a:pPr>
            <a:r>
              <a:rPr lang="en-US" sz="3200" dirty="0">
                <a:latin typeface="微软雅黑" panose="020B0503020204020204" pitchFamily="34" charset="-122"/>
                <a:ea typeface="微软雅黑" panose="020B0503020204020204" pitchFamily="34" charset="-122"/>
                <a:cs typeface="MiSans" pitchFamily="34" charset="-120"/>
              </a:rPr>
              <a:t>01</a:t>
            </a:r>
            <a:endParaRPr lang="en-US" sz="1600" dirty="0"/>
          </a:p>
        </p:txBody>
      </p:sp>
      <p:pic>
        <p:nvPicPr>
          <p:cNvPr id="31" name="Image 2" descr="https://kimi-img.moonshot.cn/pub/slides/slides_tmpl/image/25-06-01-00:16:39-d0timps75iks2gau4gjg.png">
            <a:extLst>
              <a:ext uri="{FF2B5EF4-FFF2-40B4-BE49-F238E27FC236}">
                <a16:creationId xmlns:a16="http://schemas.microsoft.com/office/drawing/2014/main" id="{5D20C72F-8FB8-4E60-990D-F7FC0D43F40A}"/>
              </a:ext>
            </a:extLst>
          </p:cNvPr>
          <p:cNvPicPr>
            <a:picLocks noChangeAspect="1"/>
          </p:cNvPicPr>
          <p:nvPr/>
        </p:nvPicPr>
        <p:blipFill>
          <a:blip r:embed="rId3"/>
          <a:stretch>
            <a:fillRect/>
          </a:stretch>
        </p:blipFill>
        <p:spPr>
          <a:xfrm>
            <a:off x="245592" y="3738445"/>
            <a:ext cx="748030" cy="748030"/>
          </a:xfrm>
          <a:prstGeom prst="rect">
            <a:avLst/>
          </a:prstGeom>
        </p:spPr>
      </p:pic>
      <p:sp>
        <p:nvSpPr>
          <p:cNvPr id="32" name="Shape 21">
            <a:extLst>
              <a:ext uri="{FF2B5EF4-FFF2-40B4-BE49-F238E27FC236}">
                <a16:creationId xmlns:a16="http://schemas.microsoft.com/office/drawing/2014/main" id="{1351CB76-B6DD-409B-A668-4D8A60F2D654}"/>
              </a:ext>
            </a:extLst>
          </p:cNvPr>
          <p:cNvSpPr/>
          <p:nvPr/>
        </p:nvSpPr>
        <p:spPr>
          <a:xfrm>
            <a:off x="354950" y="3842873"/>
            <a:ext cx="528865" cy="540966"/>
          </a:xfrm>
          <a:prstGeom prst="rect">
            <a:avLst/>
          </a:prstGeom>
          <a:solidFill>
            <a:srgbClr val="000000">
              <a:alpha val="0"/>
            </a:srgbClr>
          </a:solidFill>
          <a:ln/>
        </p:spPr>
      </p:sp>
      <p:sp>
        <p:nvSpPr>
          <p:cNvPr id="33" name="Text 22">
            <a:extLst>
              <a:ext uri="{FF2B5EF4-FFF2-40B4-BE49-F238E27FC236}">
                <a16:creationId xmlns:a16="http://schemas.microsoft.com/office/drawing/2014/main" id="{E8D1E024-C0E2-4836-AC56-1D561DFE9027}"/>
              </a:ext>
            </a:extLst>
          </p:cNvPr>
          <p:cNvSpPr/>
          <p:nvPr/>
        </p:nvSpPr>
        <p:spPr>
          <a:xfrm>
            <a:off x="354950" y="3842873"/>
            <a:ext cx="528865" cy="540966"/>
          </a:xfrm>
          <a:prstGeom prst="rect">
            <a:avLst/>
          </a:prstGeom>
          <a:noFill/>
          <a:ln/>
        </p:spPr>
        <p:txBody>
          <a:bodyPr wrap="square" lIns="0" tIns="0" rIns="0" bIns="0" rtlCol="0" anchor="t"/>
          <a:lstStyle/>
          <a:p>
            <a:pPr marL="0" indent="0" algn="ctr">
              <a:lnSpc>
                <a:spcPct val="110000"/>
              </a:lnSpc>
              <a:buNone/>
            </a:pPr>
            <a:r>
              <a:rPr lang="en-US" sz="3200" dirty="0">
                <a:latin typeface="微软雅黑" panose="020B0503020204020204" pitchFamily="34" charset="-122"/>
                <a:ea typeface="微软雅黑" panose="020B0503020204020204" pitchFamily="34" charset="-122"/>
                <a:cs typeface="MiSans" pitchFamily="34" charset="-120"/>
              </a:rPr>
              <a:t>02</a:t>
            </a:r>
            <a:endParaRPr lang="en-US" sz="1600" dirty="0"/>
          </a:p>
        </p:txBody>
      </p:sp>
      <p:sp>
        <p:nvSpPr>
          <p:cNvPr id="35" name="Shape 23">
            <a:extLst>
              <a:ext uri="{FF2B5EF4-FFF2-40B4-BE49-F238E27FC236}">
                <a16:creationId xmlns:a16="http://schemas.microsoft.com/office/drawing/2014/main" id="{B1EE494E-2DCC-4846-A36F-B2EA0039506E}"/>
              </a:ext>
            </a:extLst>
          </p:cNvPr>
          <p:cNvSpPr/>
          <p:nvPr/>
        </p:nvSpPr>
        <p:spPr>
          <a:xfrm flipH="1">
            <a:off x="1570761" y="766445"/>
            <a:ext cx="78105" cy="71755"/>
          </a:xfrm>
          <a:prstGeom prst="ellipse">
            <a:avLst/>
          </a:prstGeom>
          <a:solidFill>
            <a:srgbClr val="FFFFFF"/>
          </a:solidFill>
          <a:ln/>
        </p:spPr>
      </p:sp>
      <p:sp>
        <p:nvSpPr>
          <p:cNvPr id="36" name="Text 24">
            <a:extLst>
              <a:ext uri="{FF2B5EF4-FFF2-40B4-BE49-F238E27FC236}">
                <a16:creationId xmlns:a16="http://schemas.microsoft.com/office/drawing/2014/main" id="{134F8298-0241-4E7D-8B76-FD29D2EC8613}"/>
              </a:ext>
            </a:extLst>
          </p:cNvPr>
          <p:cNvSpPr/>
          <p:nvPr/>
        </p:nvSpPr>
        <p:spPr>
          <a:xfrm>
            <a:off x="1570761" y="766445"/>
            <a:ext cx="78105" cy="7175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37" name="Shape 25">
            <a:extLst>
              <a:ext uri="{FF2B5EF4-FFF2-40B4-BE49-F238E27FC236}">
                <a16:creationId xmlns:a16="http://schemas.microsoft.com/office/drawing/2014/main" id="{579A7F2D-A6B3-4FE2-B3D4-F3F92229F43F}"/>
              </a:ext>
            </a:extLst>
          </p:cNvPr>
          <p:cNvSpPr/>
          <p:nvPr/>
        </p:nvSpPr>
        <p:spPr>
          <a:xfrm flipH="1">
            <a:off x="1442491" y="766445"/>
            <a:ext cx="78105" cy="71755"/>
          </a:xfrm>
          <a:prstGeom prst="ellipse">
            <a:avLst/>
          </a:prstGeom>
          <a:solidFill>
            <a:srgbClr val="FFFFFF">
              <a:alpha val="56471"/>
            </a:srgbClr>
          </a:solidFill>
          <a:ln/>
        </p:spPr>
      </p:sp>
      <p:sp>
        <p:nvSpPr>
          <p:cNvPr id="38" name="Text 26">
            <a:extLst>
              <a:ext uri="{FF2B5EF4-FFF2-40B4-BE49-F238E27FC236}">
                <a16:creationId xmlns:a16="http://schemas.microsoft.com/office/drawing/2014/main" id="{25DC90CF-8099-448F-ADCF-1BDEFA3989DB}"/>
              </a:ext>
            </a:extLst>
          </p:cNvPr>
          <p:cNvSpPr/>
          <p:nvPr/>
        </p:nvSpPr>
        <p:spPr>
          <a:xfrm>
            <a:off x="1442491" y="766445"/>
            <a:ext cx="78105" cy="7175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39" name="Shape 27">
            <a:extLst>
              <a:ext uri="{FF2B5EF4-FFF2-40B4-BE49-F238E27FC236}">
                <a16:creationId xmlns:a16="http://schemas.microsoft.com/office/drawing/2014/main" id="{6FCEDE1C-3CCD-413A-BE56-57CAD81874ED}"/>
              </a:ext>
            </a:extLst>
          </p:cNvPr>
          <p:cNvSpPr/>
          <p:nvPr/>
        </p:nvSpPr>
        <p:spPr>
          <a:xfrm flipH="1">
            <a:off x="1311046" y="766445"/>
            <a:ext cx="78105" cy="71755"/>
          </a:xfrm>
          <a:prstGeom prst="ellipse">
            <a:avLst/>
          </a:prstGeom>
          <a:solidFill>
            <a:srgbClr val="FFFFFF"/>
          </a:solidFill>
          <a:ln/>
        </p:spPr>
      </p:sp>
      <p:sp>
        <p:nvSpPr>
          <p:cNvPr id="40" name="Text 28">
            <a:extLst>
              <a:ext uri="{FF2B5EF4-FFF2-40B4-BE49-F238E27FC236}">
                <a16:creationId xmlns:a16="http://schemas.microsoft.com/office/drawing/2014/main" id="{41A651EE-745B-485D-9790-1CBFD0B57855}"/>
              </a:ext>
            </a:extLst>
          </p:cNvPr>
          <p:cNvSpPr/>
          <p:nvPr/>
        </p:nvSpPr>
        <p:spPr>
          <a:xfrm>
            <a:off x="1311046" y="766445"/>
            <a:ext cx="78105" cy="7175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1" name="Shape 29">
            <a:extLst>
              <a:ext uri="{FF2B5EF4-FFF2-40B4-BE49-F238E27FC236}">
                <a16:creationId xmlns:a16="http://schemas.microsoft.com/office/drawing/2014/main" id="{383C3621-93D3-4FDC-9FC7-4B19B68FC500}"/>
              </a:ext>
            </a:extLst>
          </p:cNvPr>
          <p:cNvSpPr/>
          <p:nvPr/>
        </p:nvSpPr>
        <p:spPr>
          <a:xfrm flipH="1">
            <a:off x="1180236" y="766445"/>
            <a:ext cx="78105" cy="71755"/>
          </a:xfrm>
          <a:prstGeom prst="ellipse">
            <a:avLst/>
          </a:prstGeom>
          <a:solidFill>
            <a:srgbClr val="FFFFFF">
              <a:alpha val="56471"/>
            </a:srgbClr>
          </a:solidFill>
          <a:ln/>
        </p:spPr>
      </p:sp>
      <p:sp>
        <p:nvSpPr>
          <p:cNvPr id="42" name="Text 30">
            <a:extLst>
              <a:ext uri="{FF2B5EF4-FFF2-40B4-BE49-F238E27FC236}">
                <a16:creationId xmlns:a16="http://schemas.microsoft.com/office/drawing/2014/main" id="{C02DC9A6-BB67-4627-83DE-C1B8E29647AF}"/>
              </a:ext>
            </a:extLst>
          </p:cNvPr>
          <p:cNvSpPr/>
          <p:nvPr/>
        </p:nvSpPr>
        <p:spPr>
          <a:xfrm>
            <a:off x="1180236" y="766445"/>
            <a:ext cx="78105" cy="71755"/>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43" name="Image 4" descr="https://kimi-img.moonshot.cn/pub/slides/slides_tmpl/image/25-06-01-00:16:09-d0timic75iks2gau4g90.png">
            <a:extLst>
              <a:ext uri="{FF2B5EF4-FFF2-40B4-BE49-F238E27FC236}">
                <a16:creationId xmlns:a16="http://schemas.microsoft.com/office/drawing/2014/main" id="{E7EF7B51-B987-40A1-BAAA-6383844284F2}"/>
              </a:ext>
            </a:extLst>
          </p:cNvPr>
          <p:cNvPicPr>
            <a:picLocks noChangeAspect="1"/>
          </p:cNvPicPr>
          <p:nvPr/>
        </p:nvPicPr>
        <p:blipFill>
          <a:blip r:embed="rId4"/>
          <a:srcRect t="1969" b="1969"/>
          <a:stretch/>
        </p:blipFill>
        <p:spPr>
          <a:xfrm>
            <a:off x="11920066" y="5704464"/>
            <a:ext cx="186055" cy="207010"/>
          </a:xfrm>
          <a:prstGeom prst="rect">
            <a:avLst/>
          </a:prstGeom>
        </p:spPr>
      </p:pic>
    </p:spTree>
    <p:extLst>
      <p:ext uri="{BB962C8B-B14F-4D97-AF65-F5344CB8AC3E}">
        <p14:creationId xmlns:p14="http://schemas.microsoft.com/office/powerpoint/2010/main" val="3721096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Image 4" descr="https://kimi-img.moonshot.cn/pub/slides/slides_tmpl/image/25-06-01-00:16:09-d0timic75iks2gau4g90.png">
            <a:extLst>
              <a:ext uri="{FF2B5EF4-FFF2-40B4-BE49-F238E27FC236}">
                <a16:creationId xmlns:a16="http://schemas.microsoft.com/office/drawing/2014/main" id="{E7EF7B51-B987-40A1-BAAA-6383844284F2}"/>
              </a:ext>
            </a:extLst>
          </p:cNvPr>
          <p:cNvPicPr>
            <a:picLocks noChangeAspect="1"/>
          </p:cNvPicPr>
          <p:nvPr/>
        </p:nvPicPr>
        <p:blipFill>
          <a:blip r:embed="rId3"/>
          <a:srcRect t="1969" b="1969"/>
          <a:stretch/>
        </p:blipFill>
        <p:spPr>
          <a:xfrm>
            <a:off x="11548683" y="5734839"/>
            <a:ext cx="186055" cy="207010"/>
          </a:xfrm>
          <a:prstGeom prst="rect">
            <a:avLst/>
          </a:prstGeom>
        </p:spPr>
      </p:pic>
      <p:pic>
        <p:nvPicPr>
          <p:cNvPr id="45" name="Image 1" descr="https://kimi-img.moonshot.cn/pub/slides/slides_tmpl/image/25-06-01-00:17:16-d0tin3475iks2gau4h10.png">
            <a:extLst>
              <a:ext uri="{FF2B5EF4-FFF2-40B4-BE49-F238E27FC236}">
                <a16:creationId xmlns:a16="http://schemas.microsoft.com/office/drawing/2014/main" id="{8941B61F-202A-4042-82F4-FA71A46263CB}"/>
              </a:ext>
            </a:extLst>
          </p:cNvPr>
          <p:cNvPicPr>
            <a:picLocks noChangeAspect="1"/>
          </p:cNvPicPr>
          <p:nvPr/>
        </p:nvPicPr>
        <p:blipFill>
          <a:blip r:embed="rId4"/>
          <a:srcRect/>
          <a:stretch/>
        </p:blipFill>
        <p:spPr>
          <a:xfrm>
            <a:off x="-540000" y="3716962"/>
            <a:ext cx="16658526" cy="49455"/>
          </a:xfrm>
          <a:prstGeom prst="rect">
            <a:avLst/>
          </a:prstGeom>
        </p:spPr>
      </p:pic>
      <p:pic>
        <p:nvPicPr>
          <p:cNvPr id="46" name="Image 2" descr="https://kimi-img.moonshot.cn/pub/slides/slides_tmpl/image/25-06-01-00:17:16-d0tin3475iks2gau4h1g.png">
            <a:extLst>
              <a:ext uri="{FF2B5EF4-FFF2-40B4-BE49-F238E27FC236}">
                <a16:creationId xmlns:a16="http://schemas.microsoft.com/office/drawing/2014/main" id="{25DBF3A4-5A28-4294-8C19-EBBCD887EFF7}"/>
              </a:ext>
            </a:extLst>
          </p:cNvPr>
          <p:cNvPicPr>
            <a:picLocks noChangeAspect="1"/>
          </p:cNvPicPr>
          <p:nvPr/>
        </p:nvPicPr>
        <p:blipFill>
          <a:blip r:embed="rId5"/>
          <a:srcRect l="134" r="134"/>
          <a:stretch/>
        </p:blipFill>
        <p:spPr>
          <a:xfrm flipV="1">
            <a:off x="3438259" y="2228808"/>
            <a:ext cx="1092200" cy="1892300"/>
          </a:xfrm>
          <a:prstGeom prst="rect">
            <a:avLst/>
          </a:prstGeom>
        </p:spPr>
      </p:pic>
      <p:sp>
        <p:nvSpPr>
          <p:cNvPr id="55" name="Shape 8">
            <a:extLst>
              <a:ext uri="{FF2B5EF4-FFF2-40B4-BE49-F238E27FC236}">
                <a16:creationId xmlns:a16="http://schemas.microsoft.com/office/drawing/2014/main" id="{FB42A1D9-F927-4BE4-B3B3-B5383E7E90DA}"/>
              </a:ext>
            </a:extLst>
          </p:cNvPr>
          <p:cNvSpPr/>
          <p:nvPr/>
        </p:nvSpPr>
        <p:spPr>
          <a:xfrm>
            <a:off x="3440392" y="2560829"/>
            <a:ext cx="652471" cy="328680"/>
          </a:xfrm>
          <a:prstGeom prst="rect">
            <a:avLst/>
          </a:prstGeom>
          <a:solidFill>
            <a:srgbClr val="000000">
              <a:alpha val="0"/>
            </a:srgbClr>
          </a:solidFill>
          <a:ln/>
        </p:spPr>
      </p:sp>
      <p:sp>
        <p:nvSpPr>
          <p:cNvPr id="56" name="Text 9">
            <a:extLst>
              <a:ext uri="{FF2B5EF4-FFF2-40B4-BE49-F238E27FC236}">
                <a16:creationId xmlns:a16="http://schemas.microsoft.com/office/drawing/2014/main" id="{CBB27FAB-BCF0-43F0-BFC7-A5AB77CD2318}"/>
              </a:ext>
            </a:extLst>
          </p:cNvPr>
          <p:cNvSpPr/>
          <p:nvPr/>
        </p:nvSpPr>
        <p:spPr>
          <a:xfrm>
            <a:off x="3607602" y="2577559"/>
            <a:ext cx="652471" cy="331155"/>
          </a:xfrm>
          <a:prstGeom prst="rect">
            <a:avLst/>
          </a:prstGeom>
          <a:noFill/>
          <a:ln/>
        </p:spPr>
        <p:txBody>
          <a:bodyPr wrap="square" lIns="0" tIns="0" rIns="0" bIns="0" rtlCol="0" anchor="t"/>
          <a:lstStyle/>
          <a:p>
            <a:pPr marL="0" indent="0" algn="ctr">
              <a:lnSpc>
                <a:spcPct val="110000"/>
              </a:lnSpc>
              <a:buNone/>
            </a:pPr>
            <a:r>
              <a:rPr lang="en-US" sz="2000" dirty="0">
                <a:solidFill>
                  <a:srgbClr val="1D2026"/>
                </a:solidFill>
                <a:latin typeface="微软雅黑" panose="020B0503020204020204" pitchFamily="34" charset="-122"/>
                <a:ea typeface="微软雅黑" panose="020B0503020204020204" pitchFamily="34" charset="-122"/>
                <a:cs typeface="MiSans" pitchFamily="34" charset="-120"/>
              </a:rPr>
              <a:t>02</a:t>
            </a:r>
            <a:endParaRPr lang="en-US" sz="1600" dirty="0"/>
          </a:p>
        </p:txBody>
      </p:sp>
      <p:pic>
        <p:nvPicPr>
          <p:cNvPr id="57" name="Image 3" descr="https://kimi-img.moonshot.cn/pub/slides/slides_tmpl/image/25-06-01-00:17:16-d0tin3475iks2gau4h1g.png">
            <a:extLst>
              <a:ext uri="{FF2B5EF4-FFF2-40B4-BE49-F238E27FC236}">
                <a16:creationId xmlns:a16="http://schemas.microsoft.com/office/drawing/2014/main" id="{10761BBD-A229-40C9-B9A5-A413DB3EB6A4}"/>
              </a:ext>
            </a:extLst>
          </p:cNvPr>
          <p:cNvPicPr>
            <a:picLocks noChangeAspect="1"/>
          </p:cNvPicPr>
          <p:nvPr/>
        </p:nvPicPr>
        <p:blipFill>
          <a:blip r:embed="rId5"/>
          <a:srcRect l="134" r="134"/>
          <a:stretch/>
        </p:blipFill>
        <p:spPr>
          <a:xfrm rot="10800000" flipV="1">
            <a:off x="496132" y="3340397"/>
            <a:ext cx="1092200" cy="1892301"/>
          </a:xfrm>
          <a:prstGeom prst="rect">
            <a:avLst/>
          </a:prstGeom>
        </p:spPr>
      </p:pic>
      <p:sp>
        <p:nvSpPr>
          <p:cNvPr id="58" name="Shape 10">
            <a:extLst>
              <a:ext uri="{FF2B5EF4-FFF2-40B4-BE49-F238E27FC236}">
                <a16:creationId xmlns:a16="http://schemas.microsoft.com/office/drawing/2014/main" id="{1914B936-1F4C-42C0-B040-DF12888B41EA}"/>
              </a:ext>
            </a:extLst>
          </p:cNvPr>
          <p:cNvSpPr/>
          <p:nvPr/>
        </p:nvSpPr>
        <p:spPr>
          <a:xfrm>
            <a:off x="1298938" y="4371893"/>
            <a:ext cx="652471" cy="373446"/>
          </a:xfrm>
          <a:prstGeom prst="rect">
            <a:avLst/>
          </a:prstGeom>
          <a:solidFill>
            <a:srgbClr val="000000">
              <a:alpha val="0"/>
            </a:srgbClr>
          </a:solidFill>
          <a:ln/>
        </p:spPr>
      </p:sp>
      <p:sp>
        <p:nvSpPr>
          <p:cNvPr id="59" name="Text 11">
            <a:extLst>
              <a:ext uri="{FF2B5EF4-FFF2-40B4-BE49-F238E27FC236}">
                <a16:creationId xmlns:a16="http://schemas.microsoft.com/office/drawing/2014/main" id="{2900A8A4-F708-42DF-BDA3-AF73A41F7089}"/>
              </a:ext>
            </a:extLst>
          </p:cNvPr>
          <p:cNvSpPr/>
          <p:nvPr/>
        </p:nvSpPr>
        <p:spPr>
          <a:xfrm>
            <a:off x="703949" y="4505081"/>
            <a:ext cx="652471" cy="365384"/>
          </a:xfrm>
          <a:prstGeom prst="rect">
            <a:avLst/>
          </a:prstGeom>
          <a:noFill/>
          <a:ln/>
        </p:spPr>
        <p:txBody>
          <a:bodyPr wrap="square" lIns="0" tIns="0" rIns="0" bIns="0" rtlCol="0" anchor="t"/>
          <a:lstStyle/>
          <a:p>
            <a:pPr marL="0" indent="0" algn="ctr">
              <a:lnSpc>
                <a:spcPct val="110000"/>
              </a:lnSpc>
              <a:buNone/>
            </a:pPr>
            <a:r>
              <a:rPr lang="en-US" sz="2000" dirty="0">
                <a:solidFill>
                  <a:srgbClr val="1D2026"/>
                </a:solidFill>
                <a:latin typeface="微软雅黑" panose="020B0503020204020204" pitchFamily="34" charset="-122"/>
                <a:ea typeface="微软雅黑" panose="020B0503020204020204" pitchFamily="34" charset="-122"/>
                <a:cs typeface="MiSans" pitchFamily="34" charset="-120"/>
              </a:rPr>
              <a:t>01</a:t>
            </a:r>
            <a:endParaRPr lang="en-US" sz="1600" dirty="0"/>
          </a:p>
        </p:txBody>
      </p:sp>
      <p:pic>
        <p:nvPicPr>
          <p:cNvPr id="60" name="Image 4" descr="https://kimi-img.moonshot.cn/pub/slides/slides_tmpl/image/25-06-01-00:17:16-d0tin3475iks2gau4h1g.png">
            <a:extLst>
              <a:ext uri="{FF2B5EF4-FFF2-40B4-BE49-F238E27FC236}">
                <a16:creationId xmlns:a16="http://schemas.microsoft.com/office/drawing/2014/main" id="{A615CE80-980D-4F90-95AD-F5EC15C44C7A}"/>
              </a:ext>
            </a:extLst>
          </p:cNvPr>
          <p:cNvPicPr>
            <a:picLocks noChangeAspect="1"/>
          </p:cNvPicPr>
          <p:nvPr/>
        </p:nvPicPr>
        <p:blipFill>
          <a:blip r:embed="rId5"/>
          <a:srcRect l="134" r="134"/>
          <a:stretch/>
        </p:blipFill>
        <p:spPr>
          <a:xfrm rot="10800000" flipV="1">
            <a:off x="6974866" y="3355945"/>
            <a:ext cx="1092200" cy="1892300"/>
          </a:xfrm>
          <a:prstGeom prst="rect">
            <a:avLst/>
          </a:prstGeom>
        </p:spPr>
      </p:pic>
      <p:sp>
        <p:nvSpPr>
          <p:cNvPr id="62" name="Shape 12">
            <a:extLst>
              <a:ext uri="{FF2B5EF4-FFF2-40B4-BE49-F238E27FC236}">
                <a16:creationId xmlns:a16="http://schemas.microsoft.com/office/drawing/2014/main" id="{227FE4A7-23CC-40E0-A2ED-A01A3C06BF94}"/>
              </a:ext>
            </a:extLst>
          </p:cNvPr>
          <p:cNvSpPr/>
          <p:nvPr/>
        </p:nvSpPr>
        <p:spPr>
          <a:xfrm>
            <a:off x="4097211" y="4538414"/>
            <a:ext cx="652471" cy="328680"/>
          </a:xfrm>
          <a:prstGeom prst="rect">
            <a:avLst/>
          </a:prstGeom>
          <a:solidFill>
            <a:srgbClr val="000000">
              <a:alpha val="0"/>
            </a:srgbClr>
          </a:solidFill>
          <a:ln/>
        </p:spPr>
      </p:sp>
      <p:sp>
        <p:nvSpPr>
          <p:cNvPr id="63" name="Text 13">
            <a:extLst>
              <a:ext uri="{FF2B5EF4-FFF2-40B4-BE49-F238E27FC236}">
                <a16:creationId xmlns:a16="http://schemas.microsoft.com/office/drawing/2014/main" id="{C1917D35-1C85-49D4-BBF3-226DC5161FD7}"/>
              </a:ext>
            </a:extLst>
          </p:cNvPr>
          <p:cNvSpPr/>
          <p:nvPr/>
        </p:nvSpPr>
        <p:spPr>
          <a:xfrm>
            <a:off x="7194731" y="4584017"/>
            <a:ext cx="652471" cy="334562"/>
          </a:xfrm>
          <a:prstGeom prst="rect">
            <a:avLst/>
          </a:prstGeom>
          <a:noFill/>
          <a:ln/>
        </p:spPr>
        <p:txBody>
          <a:bodyPr wrap="square" lIns="0" tIns="0" rIns="0" bIns="0" rtlCol="0" anchor="t"/>
          <a:lstStyle/>
          <a:p>
            <a:pPr marL="0" indent="0" algn="ctr">
              <a:lnSpc>
                <a:spcPct val="110000"/>
              </a:lnSpc>
              <a:buNone/>
            </a:pPr>
            <a:r>
              <a:rPr lang="en-US" sz="2000" dirty="0">
                <a:solidFill>
                  <a:srgbClr val="1D2026"/>
                </a:solidFill>
                <a:latin typeface="微软雅黑" panose="020B0503020204020204" pitchFamily="34" charset="-122"/>
                <a:ea typeface="微软雅黑" panose="020B0503020204020204" pitchFamily="34" charset="-122"/>
                <a:cs typeface="MiSans" pitchFamily="34" charset="-120"/>
              </a:rPr>
              <a:t>03</a:t>
            </a:r>
            <a:endParaRPr lang="en-US" sz="1600" dirty="0"/>
          </a:p>
        </p:txBody>
      </p:sp>
      <p:sp>
        <p:nvSpPr>
          <p:cNvPr id="64" name="Shape 14">
            <a:extLst>
              <a:ext uri="{FF2B5EF4-FFF2-40B4-BE49-F238E27FC236}">
                <a16:creationId xmlns:a16="http://schemas.microsoft.com/office/drawing/2014/main" id="{2DF5A4F6-E6BF-4797-8745-643A4952FBA6}"/>
              </a:ext>
            </a:extLst>
          </p:cNvPr>
          <p:cNvSpPr/>
          <p:nvPr/>
        </p:nvSpPr>
        <p:spPr>
          <a:xfrm>
            <a:off x="7492411" y="2695481"/>
            <a:ext cx="652471" cy="328680"/>
          </a:xfrm>
          <a:prstGeom prst="rect">
            <a:avLst/>
          </a:prstGeom>
          <a:solidFill>
            <a:srgbClr val="000000">
              <a:alpha val="0"/>
            </a:srgbClr>
          </a:solidFill>
          <a:ln/>
        </p:spPr>
      </p:sp>
      <p:sp>
        <p:nvSpPr>
          <p:cNvPr id="66" name="Text 16">
            <a:extLst>
              <a:ext uri="{FF2B5EF4-FFF2-40B4-BE49-F238E27FC236}">
                <a16:creationId xmlns:a16="http://schemas.microsoft.com/office/drawing/2014/main" id="{A33C215B-41D8-48DA-B851-7A1915402D3C}"/>
              </a:ext>
            </a:extLst>
          </p:cNvPr>
          <p:cNvSpPr/>
          <p:nvPr/>
        </p:nvSpPr>
        <p:spPr>
          <a:xfrm>
            <a:off x="3727707" y="3906936"/>
            <a:ext cx="685210" cy="276999"/>
          </a:xfrm>
          <a:prstGeom prst="rect">
            <a:avLst/>
          </a:prstGeom>
          <a:noFill/>
          <a:ln/>
        </p:spPr>
        <p:txBody>
          <a:bodyPr wrap="square" lIns="0" tIns="0" rIns="0" bIns="0" rtlCol="0" anchor="t">
            <a:spAutoFit/>
          </a:bodyPr>
          <a:lstStyle/>
          <a:p>
            <a:pPr marL="0" indent="0" algn="l">
              <a:lnSpc>
                <a:spcPct val="100000"/>
              </a:lnSpc>
              <a:buNone/>
            </a:pPr>
            <a:r>
              <a:rPr lang="zh-CN" altLang="en-US" sz="1800" b="1" dirty="0">
                <a:solidFill>
                  <a:srgbClr val="002060"/>
                </a:solidFill>
                <a:latin typeface="微软雅黑" panose="020B0503020204020204" pitchFamily="34" charset="-122"/>
                <a:ea typeface="微软雅黑" panose="020B0503020204020204" pitchFamily="34" charset="-122"/>
                <a:cs typeface="MiSans" pitchFamily="34" charset="-120"/>
              </a:rPr>
              <a:t>决策</a:t>
            </a:r>
            <a:endParaRPr lang="en-US" sz="1600" dirty="0">
              <a:solidFill>
                <a:srgbClr val="002060"/>
              </a:solidFill>
            </a:endParaRPr>
          </a:p>
        </p:txBody>
      </p:sp>
      <p:sp>
        <p:nvSpPr>
          <p:cNvPr id="67" name="Text 17">
            <a:extLst>
              <a:ext uri="{FF2B5EF4-FFF2-40B4-BE49-F238E27FC236}">
                <a16:creationId xmlns:a16="http://schemas.microsoft.com/office/drawing/2014/main" id="{15558C92-B03B-412F-8A56-39FBE7248659}"/>
              </a:ext>
            </a:extLst>
          </p:cNvPr>
          <p:cNvSpPr/>
          <p:nvPr/>
        </p:nvSpPr>
        <p:spPr>
          <a:xfrm>
            <a:off x="3058080" y="4220383"/>
            <a:ext cx="2804194" cy="2638286"/>
          </a:xfrm>
          <a:prstGeom prst="rect">
            <a:avLst/>
          </a:prstGeom>
          <a:noFill/>
          <a:ln/>
        </p:spPr>
        <p:txBody>
          <a:bodyPr wrap="square" lIns="91440" tIns="45720" rIns="91440" bIns="45720" rtlCol="0" anchor="t">
            <a:spAutoFit/>
          </a:bodyPr>
          <a:lstStyle/>
          <a:p>
            <a:pPr marL="0" indent="0" algn="just">
              <a:lnSpc>
                <a:spcPct val="150000"/>
              </a:lnSpc>
              <a:buNone/>
            </a:pPr>
            <a:r>
              <a:rPr lang="zh-CN" altLang="en-US" sz="1600" dirty="0">
                <a:latin typeface="微软雅黑" panose="020B0503020204020204" pitchFamily="34" charset="-122"/>
                <a:ea typeface="微软雅黑" panose="020B0503020204020204" pitchFamily="34" charset="-122"/>
                <a:cs typeface="MiSans" pitchFamily="34" charset="-120"/>
              </a:rPr>
              <a:t>策略网络同时关注：</a:t>
            </a:r>
          </a:p>
          <a:p>
            <a:pPr marL="0" indent="0" algn="just">
              <a:lnSpc>
                <a:spcPct val="150000"/>
              </a:lnSpc>
              <a:buNone/>
            </a:pPr>
            <a:r>
              <a:rPr lang="en-US" altLang="zh-CN" sz="1600" dirty="0">
                <a:latin typeface="微软雅黑" panose="020B0503020204020204" pitchFamily="34" charset="-122"/>
                <a:ea typeface="微软雅黑" panose="020B0503020204020204" pitchFamily="34" charset="-122"/>
                <a:cs typeface="MiSans" pitchFamily="34" charset="-120"/>
              </a:rPr>
              <a:t>1</a:t>
            </a:r>
            <a:r>
              <a:rPr lang="zh-CN" altLang="en-US" sz="1600" dirty="0">
                <a:latin typeface="微软雅黑" panose="020B0503020204020204" pitchFamily="34" charset="-122"/>
                <a:ea typeface="微软雅黑" panose="020B0503020204020204" pitchFamily="34" charset="-122"/>
                <a:cs typeface="MiSans" pitchFamily="34" charset="-120"/>
              </a:rPr>
              <a:t>、当前环境观测 </a:t>
            </a:r>
            <a:r>
              <a:rPr lang="en-US" altLang="zh-CN" sz="1600" dirty="0" err="1">
                <a:latin typeface="微软雅黑" panose="020B0503020204020204" pitchFamily="34" charset="-122"/>
                <a:ea typeface="微软雅黑" panose="020B0503020204020204" pitchFamily="34" charset="-122"/>
                <a:cs typeface="MiSans" pitchFamily="34" charset="-120"/>
              </a:rPr>
              <a:t>s_t</a:t>
            </a:r>
            <a:endParaRPr lang="en-US" altLang="zh-CN" sz="1600" dirty="0">
              <a:latin typeface="微软雅黑" panose="020B0503020204020204" pitchFamily="34" charset="-122"/>
              <a:ea typeface="微软雅黑" panose="020B0503020204020204" pitchFamily="34" charset="-122"/>
              <a:cs typeface="MiSans" pitchFamily="34" charset="-120"/>
            </a:endParaRPr>
          </a:p>
          <a:p>
            <a:pPr marL="0" indent="0" algn="just">
              <a:lnSpc>
                <a:spcPct val="150000"/>
              </a:lnSpc>
              <a:buNone/>
            </a:pPr>
            <a:r>
              <a:rPr lang="en-US" altLang="zh-CN" sz="1600" dirty="0">
                <a:latin typeface="微软雅黑" panose="020B0503020204020204" pitchFamily="34" charset="-122"/>
                <a:ea typeface="微软雅黑" panose="020B0503020204020204" pitchFamily="34" charset="-122"/>
                <a:cs typeface="MiSans" pitchFamily="34" charset="-120"/>
              </a:rPr>
              <a:t>2</a:t>
            </a:r>
            <a:r>
              <a:rPr lang="zh-CN" altLang="en-US" sz="1600" dirty="0">
                <a:latin typeface="微软雅黑" panose="020B0503020204020204" pitchFamily="34" charset="-122"/>
                <a:ea typeface="微软雅黑" panose="020B0503020204020204" pitchFamily="34" charset="-122"/>
                <a:cs typeface="MiSans" pitchFamily="34" charset="-120"/>
              </a:rPr>
              <a:t>、上一个动作 </a:t>
            </a:r>
            <a:r>
              <a:rPr lang="en-US" altLang="zh-CN" sz="1600" dirty="0">
                <a:latin typeface="微软雅黑" panose="020B0503020204020204" pitchFamily="34" charset="-122"/>
                <a:ea typeface="微软雅黑" panose="020B0503020204020204" pitchFamily="34" charset="-122"/>
                <a:cs typeface="MiSans" pitchFamily="34" charset="-120"/>
              </a:rPr>
              <a:t>a_{t-1}</a:t>
            </a:r>
          </a:p>
          <a:p>
            <a:pPr marL="0" indent="0" algn="just">
              <a:lnSpc>
                <a:spcPct val="150000"/>
              </a:lnSpc>
              <a:buNone/>
            </a:pPr>
            <a:r>
              <a:rPr lang="en-US" altLang="zh-CN" sz="1600" dirty="0">
                <a:latin typeface="微软雅黑" panose="020B0503020204020204" pitchFamily="34" charset="-122"/>
                <a:ea typeface="微软雅黑" panose="020B0503020204020204" pitchFamily="34" charset="-122"/>
                <a:cs typeface="MiSans" pitchFamily="34" charset="-120"/>
              </a:rPr>
              <a:t>3</a:t>
            </a:r>
            <a:r>
              <a:rPr lang="zh-CN" altLang="en-US" sz="1600" dirty="0">
                <a:latin typeface="微软雅黑" panose="020B0503020204020204" pitchFamily="34" charset="-122"/>
                <a:ea typeface="微软雅黑" panose="020B0503020204020204" pitchFamily="34" charset="-122"/>
                <a:cs typeface="MiSans" pitchFamily="34" charset="-120"/>
              </a:rPr>
              <a:t>、当前微指令的编码 </a:t>
            </a:r>
            <a:r>
              <a:rPr lang="en-US" altLang="zh-CN" sz="1600" dirty="0">
                <a:latin typeface="微软雅黑" panose="020B0503020204020204" pitchFamily="34" charset="-122"/>
                <a:ea typeface="微软雅黑" panose="020B0503020204020204" pitchFamily="34" charset="-122"/>
                <a:cs typeface="MiSans" pitchFamily="34" charset="-120"/>
              </a:rPr>
              <a:t>u(</a:t>
            </a:r>
            <a:r>
              <a:rPr lang="en-US" altLang="zh-CN" sz="1600" dirty="0" err="1">
                <a:latin typeface="微软雅黑" panose="020B0503020204020204" pitchFamily="34" charset="-122"/>
                <a:ea typeface="微软雅黑" panose="020B0503020204020204" pitchFamily="34" charset="-122"/>
                <a:cs typeface="MiSans" pitchFamily="34" charset="-120"/>
              </a:rPr>
              <a:t>x_m</a:t>
            </a:r>
            <a:r>
              <a:rPr lang="en-US" altLang="zh-CN" sz="1600" dirty="0">
                <a:latin typeface="微软雅黑" panose="020B0503020204020204" pitchFamily="34" charset="-122"/>
                <a:ea typeface="微软雅黑" panose="020B0503020204020204" pitchFamily="34" charset="-122"/>
                <a:cs typeface="MiSans" pitchFamily="34" charset="-120"/>
              </a:rPr>
              <a:t>)</a:t>
            </a:r>
          </a:p>
          <a:p>
            <a:pPr marL="0" indent="0" algn="just">
              <a:lnSpc>
                <a:spcPct val="150000"/>
              </a:lnSpc>
              <a:buNone/>
            </a:pPr>
            <a:r>
              <a:rPr lang="en-US" altLang="zh-CN" sz="1600" dirty="0">
                <a:latin typeface="微软雅黑" panose="020B0503020204020204" pitchFamily="34" charset="-122"/>
                <a:ea typeface="微软雅黑" panose="020B0503020204020204" pitchFamily="34" charset="-122"/>
                <a:cs typeface="MiSans" pitchFamily="34" charset="-120"/>
              </a:rPr>
              <a:t>4</a:t>
            </a:r>
            <a:r>
              <a:rPr lang="zh-CN" altLang="en-US" sz="1600" dirty="0">
                <a:latin typeface="微软雅黑" panose="020B0503020204020204" pitchFamily="34" charset="-122"/>
                <a:ea typeface="微软雅黑" panose="020B0503020204020204" pitchFamily="34" charset="-122"/>
                <a:cs typeface="MiSans" pitchFamily="34" charset="-120"/>
              </a:rPr>
              <a:t>、历史上下文 </a:t>
            </a:r>
            <a:r>
              <a:rPr lang="en-US" altLang="zh-CN" sz="1600" dirty="0" err="1">
                <a:latin typeface="微软雅黑" panose="020B0503020204020204" pitchFamily="34" charset="-122"/>
                <a:ea typeface="微软雅黑" panose="020B0503020204020204" pitchFamily="34" charset="-122"/>
                <a:cs typeface="MiSans" pitchFamily="34" charset="-120"/>
              </a:rPr>
              <a:t>z_m</a:t>
            </a:r>
            <a:endParaRPr lang="en-US" altLang="zh-CN" sz="1600" dirty="0">
              <a:latin typeface="微软雅黑" panose="020B0503020204020204" pitchFamily="34" charset="-122"/>
              <a:ea typeface="微软雅黑" panose="020B0503020204020204" pitchFamily="34" charset="-122"/>
              <a:cs typeface="MiSans" pitchFamily="34" charset="-120"/>
            </a:endParaRPr>
          </a:p>
          <a:p>
            <a:pPr marL="0" indent="0" algn="just">
              <a:lnSpc>
                <a:spcPct val="150000"/>
              </a:lnSpc>
              <a:buNone/>
            </a:pPr>
            <a:r>
              <a:rPr lang="zh-CN" altLang="en-US" sz="1600" dirty="0">
                <a:latin typeface="微软雅黑" panose="020B0503020204020204" pitchFamily="34" charset="-122"/>
                <a:ea typeface="微软雅黑" panose="020B0503020204020204" pitchFamily="34" charset="-122"/>
                <a:cs typeface="MiSans" pitchFamily="34" charset="-120"/>
              </a:rPr>
              <a:t>综合以上信息，预测并执行当前动作 </a:t>
            </a:r>
            <a:r>
              <a:rPr lang="en-US" altLang="zh-CN" sz="1600" dirty="0" err="1">
                <a:latin typeface="微软雅黑" panose="020B0503020204020204" pitchFamily="34" charset="-122"/>
                <a:ea typeface="微软雅黑" panose="020B0503020204020204" pitchFamily="34" charset="-122"/>
                <a:cs typeface="MiSans" pitchFamily="34" charset="-120"/>
              </a:rPr>
              <a:t>a_t</a:t>
            </a:r>
            <a:r>
              <a:rPr lang="zh-CN" altLang="en-US" sz="1600" dirty="0">
                <a:latin typeface="微软雅黑" panose="020B0503020204020204" pitchFamily="34" charset="-122"/>
                <a:ea typeface="微软雅黑" panose="020B0503020204020204" pitchFamily="34" charset="-122"/>
                <a:cs typeface="MiSans" pitchFamily="34" charset="-120"/>
              </a:rPr>
              <a:t>。</a:t>
            </a:r>
            <a:endParaRPr lang="en-US" dirty="0"/>
          </a:p>
        </p:txBody>
      </p:sp>
      <p:sp>
        <p:nvSpPr>
          <p:cNvPr id="68" name="Text 18">
            <a:extLst>
              <a:ext uri="{FF2B5EF4-FFF2-40B4-BE49-F238E27FC236}">
                <a16:creationId xmlns:a16="http://schemas.microsoft.com/office/drawing/2014/main" id="{598730F9-EF26-4AE4-AD47-C04E979C12E1}"/>
              </a:ext>
            </a:extLst>
          </p:cNvPr>
          <p:cNvSpPr/>
          <p:nvPr/>
        </p:nvSpPr>
        <p:spPr>
          <a:xfrm>
            <a:off x="7050722" y="1316446"/>
            <a:ext cx="3505796" cy="276225"/>
          </a:xfrm>
          <a:prstGeom prst="rect">
            <a:avLst/>
          </a:prstGeom>
          <a:noFill/>
          <a:ln/>
        </p:spPr>
        <p:txBody>
          <a:bodyPr wrap="square" lIns="0" tIns="0" rIns="0" bIns="0" rtlCol="0" anchor="t">
            <a:spAutoFit/>
          </a:bodyPr>
          <a:lstStyle/>
          <a:p>
            <a:pPr marL="0" indent="0" algn="l">
              <a:lnSpc>
                <a:spcPct val="100000"/>
              </a:lnSpc>
              <a:buNone/>
            </a:pPr>
            <a:r>
              <a:rPr lang="zh-CN" altLang="en-US" sz="1800" b="1" dirty="0">
                <a:solidFill>
                  <a:srgbClr val="002060"/>
                </a:solidFill>
                <a:latin typeface="微软雅黑" panose="020B0503020204020204" pitchFamily="34" charset="-122"/>
                <a:ea typeface="微软雅黑" panose="020B0503020204020204" pitchFamily="34" charset="-122"/>
                <a:cs typeface="MiSans" pitchFamily="34" charset="-120"/>
              </a:rPr>
              <a:t>记忆更新 </a:t>
            </a:r>
            <a:endParaRPr lang="en-US" sz="1600" dirty="0">
              <a:solidFill>
                <a:srgbClr val="002060"/>
              </a:solidFill>
            </a:endParaRPr>
          </a:p>
        </p:txBody>
      </p:sp>
      <p:sp>
        <p:nvSpPr>
          <p:cNvPr id="69" name="Text 19">
            <a:extLst>
              <a:ext uri="{FF2B5EF4-FFF2-40B4-BE49-F238E27FC236}">
                <a16:creationId xmlns:a16="http://schemas.microsoft.com/office/drawing/2014/main" id="{CAAF8FC5-C3C7-46A1-95FD-DD64669152A0}"/>
              </a:ext>
            </a:extLst>
          </p:cNvPr>
          <p:cNvSpPr/>
          <p:nvPr/>
        </p:nvSpPr>
        <p:spPr>
          <a:xfrm>
            <a:off x="5962992" y="1789470"/>
            <a:ext cx="2920900" cy="1899623"/>
          </a:xfrm>
          <a:prstGeom prst="rect">
            <a:avLst/>
          </a:prstGeom>
          <a:noFill/>
          <a:ln/>
        </p:spPr>
        <p:txBody>
          <a:bodyPr wrap="square" lIns="91440" tIns="45720" rIns="91440" bIns="45720" rtlCol="0" anchor="t">
            <a:spAutoFit/>
          </a:bodyPr>
          <a:lstStyle/>
          <a:p>
            <a:pPr marL="0" indent="0" algn="just">
              <a:lnSpc>
                <a:spcPct val="150000"/>
              </a:lnSpc>
              <a:buNone/>
            </a:pPr>
            <a:r>
              <a:rPr lang="zh-CN" altLang="en-US" sz="1600" dirty="0">
                <a:latin typeface="微软雅黑" panose="020B0503020204020204" pitchFamily="34" charset="-122"/>
                <a:ea typeface="微软雅黑" panose="020B0503020204020204" pitchFamily="34" charset="-122"/>
                <a:cs typeface="MiSans" pitchFamily="34" charset="-120"/>
              </a:rPr>
              <a:t>完成当前微指令 </a:t>
            </a:r>
            <a:r>
              <a:rPr lang="en-US" altLang="zh-CN" sz="1600" dirty="0" err="1">
                <a:latin typeface="微软雅黑" panose="020B0503020204020204" pitchFamily="34" charset="-122"/>
                <a:ea typeface="微软雅黑" panose="020B0503020204020204" pitchFamily="34" charset="-122"/>
                <a:cs typeface="MiSans" pitchFamily="34" charset="-120"/>
              </a:rPr>
              <a:t>x_m</a:t>
            </a:r>
            <a:r>
              <a:rPr lang="en-US" altLang="zh-CN" sz="1600" dirty="0">
                <a:latin typeface="微软雅黑" panose="020B0503020204020204" pitchFamily="34" charset="-122"/>
                <a:ea typeface="微软雅黑" panose="020B0503020204020204" pitchFamily="34" charset="-122"/>
                <a:cs typeface="MiSans" pitchFamily="34" charset="-120"/>
              </a:rPr>
              <a:t> </a:t>
            </a:r>
            <a:r>
              <a:rPr lang="zh-CN" altLang="en-US" sz="1600" dirty="0">
                <a:latin typeface="微软雅黑" panose="020B0503020204020204" pitchFamily="34" charset="-122"/>
                <a:ea typeface="微软雅黑" panose="020B0503020204020204" pitchFamily="34" charset="-122"/>
                <a:cs typeface="MiSans" pitchFamily="34" charset="-120"/>
              </a:rPr>
              <a:t>后，将其对应的执行轨迹 </a:t>
            </a:r>
            <a:r>
              <a:rPr lang="en-US" altLang="zh-CN" sz="1600" dirty="0" err="1">
                <a:latin typeface="微软雅黑" panose="020B0503020204020204" pitchFamily="34" charset="-122"/>
                <a:ea typeface="微软雅黑" panose="020B0503020204020204" pitchFamily="34" charset="-122"/>
                <a:cs typeface="MiSans" pitchFamily="34" charset="-120"/>
              </a:rPr>
              <a:t>y_m</a:t>
            </a:r>
            <a:r>
              <a:rPr lang="en-US" altLang="zh-CN" sz="1600" dirty="0">
                <a:latin typeface="微软雅黑" panose="020B0503020204020204" pitchFamily="34" charset="-122"/>
                <a:ea typeface="微软雅黑" panose="020B0503020204020204" pitchFamily="34" charset="-122"/>
                <a:cs typeface="MiSans" pitchFamily="34" charset="-120"/>
              </a:rPr>
              <a:t> </a:t>
            </a:r>
            <a:r>
              <a:rPr lang="zh-CN" altLang="en-US" sz="1600" dirty="0">
                <a:latin typeface="微软雅黑" panose="020B0503020204020204" pitchFamily="34" charset="-122"/>
                <a:ea typeface="微软雅黑" panose="020B0503020204020204" pitchFamily="34" charset="-122"/>
                <a:cs typeface="MiSans" pitchFamily="34" charset="-120"/>
              </a:rPr>
              <a:t>进行编码。</a:t>
            </a:r>
          </a:p>
          <a:p>
            <a:pPr marL="0" indent="0" algn="just">
              <a:lnSpc>
                <a:spcPct val="150000"/>
              </a:lnSpc>
              <a:buNone/>
            </a:pPr>
            <a:r>
              <a:rPr lang="zh-CN" altLang="en-US" sz="1600" dirty="0">
                <a:latin typeface="微软雅黑" panose="020B0503020204020204" pitchFamily="34" charset="-122"/>
                <a:ea typeface="微软雅黑" panose="020B0503020204020204" pitchFamily="34" charset="-122"/>
                <a:cs typeface="MiSans" pitchFamily="34" charset="-120"/>
              </a:rPr>
              <a:t>将新的</a:t>
            </a:r>
            <a:r>
              <a:rPr lang="en-US" altLang="zh-CN" sz="1600" dirty="0">
                <a:latin typeface="微软雅黑" panose="020B0503020204020204" pitchFamily="34" charset="-122"/>
                <a:ea typeface="微软雅黑" panose="020B0503020204020204" pitchFamily="34" charset="-122"/>
                <a:cs typeface="MiSans" pitchFamily="34" charset="-120"/>
              </a:rPr>
              <a:t>(</a:t>
            </a:r>
            <a:r>
              <a:rPr lang="en-US" altLang="zh-CN" sz="1600" dirty="0" err="1">
                <a:latin typeface="微软雅黑" panose="020B0503020204020204" pitchFamily="34" charset="-122"/>
                <a:ea typeface="微软雅黑" panose="020B0503020204020204" pitchFamily="34" charset="-122"/>
                <a:cs typeface="MiSans" pitchFamily="34" charset="-120"/>
              </a:rPr>
              <a:t>x_m</a:t>
            </a:r>
            <a:r>
              <a:rPr lang="en-US" altLang="zh-CN" sz="1600" dirty="0">
                <a:latin typeface="微软雅黑" panose="020B0503020204020204" pitchFamily="34" charset="-122"/>
                <a:ea typeface="微软雅黑" panose="020B0503020204020204" pitchFamily="34" charset="-122"/>
                <a:cs typeface="MiSans" pitchFamily="34" charset="-120"/>
              </a:rPr>
              <a:t>, </a:t>
            </a:r>
            <a:r>
              <a:rPr lang="en-US" altLang="zh-CN" sz="1600" dirty="0" err="1">
                <a:latin typeface="微软雅黑" panose="020B0503020204020204" pitchFamily="34" charset="-122"/>
                <a:ea typeface="微软雅黑" panose="020B0503020204020204" pitchFamily="34" charset="-122"/>
                <a:cs typeface="MiSans" pitchFamily="34" charset="-120"/>
              </a:rPr>
              <a:t>y_m</a:t>
            </a:r>
            <a:r>
              <a:rPr lang="en-US" altLang="zh-CN" sz="1600" dirty="0">
                <a:latin typeface="微软雅黑" panose="020B0503020204020204" pitchFamily="34" charset="-122"/>
                <a:ea typeface="微软雅黑" panose="020B0503020204020204" pitchFamily="34" charset="-122"/>
                <a:cs typeface="MiSans" pitchFamily="34" charset="-120"/>
              </a:rPr>
              <a:t>)</a:t>
            </a:r>
            <a:r>
              <a:rPr lang="zh-CN" altLang="en-US" sz="1600" dirty="0">
                <a:latin typeface="微软雅黑" panose="020B0503020204020204" pitchFamily="34" charset="-122"/>
                <a:ea typeface="微软雅黑" panose="020B0503020204020204" pitchFamily="34" charset="-122"/>
                <a:cs typeface="MiSans" pitchFamily="34" charset="-120"/>
              </a:rPr>
              <a:t>对存入记忆缓冲区，以备后续步骤使用。</a:t>
            </a:r>
            <a:endParaRPr lang="en-US" dirty="0"/>
          </a:p>
        </p:txBody>
      </p:sp>
      <p:sp>
        <p:nvSpPr>
          <p:cNvPr id="70" name="Text 20">
            <a:extLst>
              <a:ext uri="{FF2B5EF4-FFF2-40B4-BE49-F238E27FC236}">
                <a16:creationId xmlns:a16="http://schemas.microsoft.com/office/drawing/2014/main" id="{3488C116-B206-4CAB-858D-468A06AD1674}"/>
              </a:ext>
            </a:extLst>
          </p:cNvPr>
          <p:cNvSpPr/>
          <p:nvPr/>
        </p:nvSpPr>
        <p:spPr>
          <a:xfrm>
            <a:off x="721766" y="1387389"/>
            <a:ext cx="1441450" cy="276225"/>
          </a:xfrm>
          <a:prstGeom prst="rect">
            <a:avLst/>
          </a:prstGeom>
          <a:noFill/>
          <a:ln/>
        </p:spPr>
        <p:txBody>
          <a:bodyPr wrap="square" lIns="0" tIns="0" rIns="0" bIns="0" rtlCol="0" anchor="t">
            <a:spAutoFit/>
          </a:bodyPr>
          <a:lstStyle/>
          <a:p>
            <a:pPr marL="0" indent="0" algn="l">
              <a:lnSpc>
                <a:spcPct val="100000"/>
              </a:lnSpc>
              <a:buNone/>
            </a:pPr>
            <a:r>
              <a:rPr lang="zh-CN" altLang="en-US" sz="1800" b="1" dirty="0">
                <a:solidFill>
                  <a:srgbClr val="002060"/>
                </a:solidFill>
                <a:latin typeface="微软雅黑" panose="020B0503020204020204" pitchFamily="34" charset="-122"/>
                <a:ea typeface="微软雅黑" panose="020B0503020204020204" pitchFamily="34" charset="-122"/>
                <a:cs typeface="MiSans" pitchFamily="34" charset="-120"/>
              </a:rPr>
              <a:t>记忆检索</a:t>
            </a:r>
            <a:endParaRPr lang="en-US" sz="1600" dirty="0">
              <a:solidFill>
                <a:srgbClr val="002060"/>
              </a:solidFill>
            </a:endParaRPr>
          </a:p>
        </p:txBody>
      </p:sp>
      <p:sp>
        <p:nvSpPr>
          <p:cNvPr id="71" name="Text 21">
            <a:extLst>
              <a:ext uri="{FF2B5EF4-FFF2-40B4-BE49-F238E27FC236}">
                <a16:creationId xmlns:a16="http://schemas.microsoft.com/office/drawing/2014/main" id="{2CE380B6-7D82-4C1E-900D-B34D756254A3}"/>
              </a:ext>
            </a:extLst>
          </p:cNvPr>
          <p:cNvSpPr/>
          <p:nvPr/>
        </p:nvSpPr>
        <p:spPr>
          <a:xfrm>
            <a:off x="236986" y="1810106"/>
            <a:ext cx="2141267" cy="1530291"/>
          </a:xfrm>
          <a:prstGeom prst="rect">
            <a:avLst/>
          </a:prstGeom>
          <a:noFill/>
          <a:ln/>
        </p:spPr>
        <p:txBody>
          <a:bodyPr wrap="square" lIns="91440" tIns="45720" rIns="91440" bIns="45720" rtlCol="0" anchor="t">
            <a:spAutoFit/>
          </a:bodyPr>
          <a:lstStyle/>
          <a:p>
            <a:pPr marL="0" indent="0" algn="just">
              <a:lnSpc>
                <a:spcPct val="150000"/>
              </a:lnSpc>
              <a:buNone/>
            </a:pPr>
            <a:r>
              <a:rPr lang="zh-CN" altLang="en-US" sz="1600" dirty="0">
                <a:latin typeface="微软雅黑" panose="020B0503020204020204" pitchFamily="34" charset="-122"/>
                <a:ea typeface="微软雅黑" panose="020B0503020204020204" pitchFamily="34" charset="-122"/>
                <a:cs typeface="MiSans" pitchFamily="34" charset="-120"/>
              </a:rPr>
              <a:t>接收到新微指令 </a:t>
            </a:r>
            <a:r>
              <a:rPr lang="en-US" altLang="zh-CN" sz="1600" dirty="0" err="1">
                <a:latin typeface="微软雅黑" panose="020B0503020204020204" pitchFamily="34" charset="-122"/>
                <a:ea typeface="微软雅黑" panose="020B0503020204020204" pitchFamily="34" charset="-122"/>
                <a:cs typeface="MiSans" pitchFamily="34" charset="-120"/>
              </a:rPr>
              <a:t>x_m</a:t>
            </a:r>
            <a:r>
              <a:rPr lang="zh-CN" altLang="en-US" sz="1600" dirty="0">
                <a:latin typeface="微软雅黑" panose="020B0503020204020204" pitchFamily="34" charset="-122"/>
                <a:ea typeface="微软雅黑" panose="020B0503020204020204" pitchFamily="34" charset="-122"/>
                <a:cs typeface="MiSans" pitchFamily="34" charset="-120"/>
              </a:rPr>
              <a:t>。</a:t>
            </a:r>
          </a:p>
          <a:p>
            <a:pPr marL="0" indent="0" algn="just">
              <a:lnSpc>
                <a:spcPct val="150000"/>
              </a:lnSpc>
              <a:buNone/>
            </a:pPr>
            <a:r>
              <a:rPr lang="zh-CN" altLang="en-US" sz="1600" dirty="0">
                <a:latin typeface="微软雅黑" panose="020B0503020204020204" pitchFamily="34" charset="-122"/>
                <a:ea typeface="微软雅黑" panose="020B0503020204020204" pitchFamily="34" charset="-122"/>
                <a:cs typeface="MiSans" pitchFamily="34" charset="-120"/>
              </a:rPr>
              <a:t>从记忆缓冲区中检索之前所有步骤的摘要，生成上下文向量 </a:t>
            </a:r>
            <a:r>
              <a:rPr lang="en-US" altLang="zh-CN" sz="1600" dirty="0" err="1">
                <a:latin typeface="微软雅黑" panose="020B0503020204020204" pitchFamily="34" charset="-122"/>
                <a:ea typeface="微软雅黑" panose="020B0503020204020204" pitchFamily="34" charset="-122"/>
                <a:cs typeface="MiSans" pitchFamily="34" charset="-120"/>
              </a:rPr>
              <a:t>z_m</a:t>
            </a:r>
            <a:endParaRPr lang="en-US" dirty="0"/>
          </a:p>
        </p:txBody>
      </p:sp>
      <p:sp>
        <p:nvSpPr>
          <p:cNvPr id="74" name="矩形 73">
            <a:extLst>
              <a:ext uri="{FF2B5EF4-FFF2-40B4-BE49-F238E27FC236}">
                <a16:creationId xmlns:a16="http://schemas.microsoft.com/office/drawing/2014/main" id="{D460E3A3-7FC3-4C24-B381-1ADAB2EE4A0A}"/>
              </a:ext>
            </a:extLst>
          </p:cNvPr>
          <p:cNvSpPr/>
          <p:nvPr/>
        </p:nvSpPr>
        <p:spPr>
          <a:xfrm flipV="1">
            <a:off x="0" y="619125"/>
            <a:ext cx="9144000" cy="99649"/>
          </a:xfrm>
          <a:prstGeom prst="rect">
            <a:avLst/>
          </a:prstGeom>
          <a:solidFill>
            <a:srgbClr val="0065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84" name="文本框 83">
            <a:extLst>
              <a:ext uri="{FF2B5EF4-FFF2-40B4-BE49-F238E27FC236}">
                <a16:creationId xmlns:a16="http://schemas.microsoft.com/office/drawing/2014/main" id="{54E53E5F-E8EE-4B39-AF40-81287574E72D}"/>
              </a:ext>
            </a:extLst>
          </p:cNvPr>
          <p:cNvSpPr txBox="1"/>
          <p:nvPr/>
        </p:nvSpPr>
        <p:spPr>
          <a:xfrm>
            <a:off x="250825" y="3678"/>
            <a:ext cx="5549899" cy="584775"/>
          </a:xfrm>
          <a:prstGeom prst="rect">
            <a:avLst/>
          </a:prstGeom>
        </p:spPr>
        <p:txBody>
          <a:bodyPr wrap="square" rtlCol="0" anchor="t">
            <a:spAutoFit/>
          </a:bodyPr>
          <a:lstStyle/>
          <a:p>
            <a:pPr defTabSz="723265"/>
            <a:r>
              <a:rPr lang="zh-CN" altLang="en-US" sz="3200" b="1" kern="0" dirty="0">
                <a:latin typeface="微软雅黑" panose="020B0503020204020204" pitchFamily="34" charset="-122"/>
                <a:ea typeface="微软雅黑" panose="020B0503020204020204" pitchFamily="34" charset="-122"/>
                <a:cs typeface="MiSans" panose="02010600030101010101" charset="-122"/>
                <a:sym typeface="Arial" panose="020B0604020202020204" pitchFamily="34" charset="0"/>
              </a:rPr>
              <a:t>工作流程与模型架构</a:t>
            </a:r>
          </a:p>
        </p:txBody>
      </p:sp>
      <p:sp>
        <p:nvSpPr>
          <p:cNvPr id="85" name="Text 0">
            <a:extLst>
              <a:ext uri="{FF2B5EF4-FFF2-40B4-BE49-F238E27FC236}">
                <a16:creationId xmlns:a16="http://schemas.microsoft.com/office/drawing/2014/main" id="{25D1071E-9537-4564-B6E1-DA1C77085D35}"/>
              </a:ext>
            </a:extLst>
          </p:cNvPr>
          <p:cNvSpPr/>
          <p:nvPr/>
        </p:nvSpPr>
        <p:spPr>
          <a:xfrm>
            <a:off x="935304" y="479263"/>
            <a:ext cx="3049055" cy="606887"/>
          </a:xfrm>
          <a:prstGeom prst="rect">
            <a:avLst/>
          </a:prstGeom>
          <a:noFill/>
          <a:ln/>
        </p:spPr>
        <p:txBody>
          <a:bodyPr wrap="square" lIns="91440" tIns="45720" rIns="91440" bIns="45720" rtlCol="0" anchor="ctr"/>
          <a:lstStyle/>
          <a:p>
            <a:pPr marL="0" indent="0" algn="l">
              <a:lnSpc>
                <a:spcPct val="90000"/>
              </a:lnSpc>
              <a:buNone/>
            </a:pPr>
            <a:r>
              <a:rPr lang="en-US" sz="4400" dirty="0">
                <a:solidFill>
                  <a:srgbClr val="000000"/>
                </a:solidFill>
                <a:latin typeface="微软雅黑" panose="020B0503020204020204" pitchFamily="34" charset="-122"/>
                <a:ea typeface="微软雅黑" panose="020B0503020204020204" pitchFamily="34" charset="-122"/>
                <a:cs typeface="MiSans" pitchFamily="34" charset="-120"/>
              </a:rPr>
              <a:t> </a:t>
            </a:r>
            <a:endParaRPr lang="en-US" sz="1600" dirty="0"/>
          </a:p>
        </p:txBody>
      </p:sp>
      <p:sp>
        <p:nvSpPr>
          <p:cNvPr id="86" name="Shape 23">
            <a:extLst>
              <a:ext uri="{FF2B5EF4-FFF2-40B4-BE49-F238E27FC236}">
                <a16:creationId xmlns:a16="http://schemas.microsoft.com/office/drawing/2014/main" id="{F54DEF6E-8018-481D-A6E5-BEC5C5FEA2A2}"/>
              </a:ext>
            </a:extLst>
          </p:cNvPr>
          <p:cNvSpPr/>
          <p:nvPr/>
        </p:nvSpPr>
        <p:spPr>
          <a:xfrm flipH="1">
            <a:off x="1570761" y="766445"/>
            <a:ext cx="78105" cy="71755"/>
          </a:xfrm>
          <a:prstGeom prst="ellipse">
            <a:avLst/>
          </a:prstGeom>
          <a:solidFill>
            <a:srgbClr val="FFFFFF"/>
          </a:solidFill>
          <a:ln/>
        </p:spPr>
      </p:sp>
      <p:sp>
        <p:nvSpPr>
          <p:cNvPr id="87" name="Text 24">
            <a:extLst>
              <a:ext uri="{FF2B5EF4-FFF2-40B4-BE49-F238E27FC236}">
                <a16:creationId xmlns:a16="http://schemas.microsoft.com/office/drawing/2014/main" id="{07CDC2D4-CF5E-4040-8827-6284D4B2721B}"/>
              </a:ext>
            </a:extLst>
          </p:cNvPr>
          <p:cNvSpPr/>
          <p:nvPr/>
        </p:nvSpPr>
        <p:spPr>
          <a:xfrm>
            <a:off x="1570761" y="766445"/>
            <a:ext cx="78105" cy="7175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88" name="Shape 25">
            <a:extLst>
              <a:ext uri="{FF2B5EF4-FFF2-40B4-BE49-F238E27FC236}">
                <a16:creationId xmlns:a16="http://schemas.microsoft.com/office/drawing/2014/main" id="{7CDD3F91-AA2D-4071-B25F-71E0C6DAE891}"/>
              </a:ext>
            </a:extLst>
          </p:cNvPr>
          <p:cNvSpPr/>
          <p:nvPr/>
        </p:nvSpPr>
        <p:spPr>
          <a:xfrm flipH="1">
            <a:off x="1442491" y="766445"/>
            <a:ext cx="78105" cy="71755"/>
          </a:xfrm>
          <a:prstGeom prst="ellipse">
            <a:avLst/>
          </a:prstGeom>
          <a:solidFill>
            <a:srgbClr val="FFFFFF">
              <a:alpha val="56471"/>
            </a:srgbClr>
          </a:solidFill>
          <a:ln/>
        </p:spPr>
      </p:sp>
      <p:sp>
        <p:nvSpPr>
          <p:cNvPr id="89" name="Text 26">
            <a:extLst>
              <a:ext uri="{FF2B5EF4-FFF2-40B4-BE49-F238E27FC236}">
                <a16:creationId xmlns:a16="http://schemas.microsoft.com/office/drawing/2014/main" id="{87919F42-5851-4717-8F64-776ADB720DE3}"/>
              </a:ext>
            </a:extLst>
          </p:cNvPr>
          <p:cNvSpPr/>
          <p:nvPr/>
        </p:nvSpPr>
        <p:spPr>
          <a:xfrm>
            <a:off x="1442491" y="766445"/>
            <a:ext cx="78105" cy="7175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90" name="Shape 27">
            <a:extLst>
              <a:ext uri="{FF2B5EF4-FFF2-40B4-BE49-F238E27FC236}">
                <a16:creationId xmlns:a16="http://schemas.microsoft.com/office/drawing/2014/main" id="{8AEF772D-5152-4785-97C6-3AAEE714C259}"/>
              </a:ext>
            </a:extLst>
          </p:cNvPr>
          <p:cNvSpPr/>
          <p:nvPr/>
        </p:nvSpPr>
        <p:spPr>
          <a:xfrm flipH="1">
            <a:off x="1311046" y="766445"/>
            <a:ext cx="78105" cy="71755"/>
          </a:xfrm>
          <a:prstGeom prst="ellipse">
            <a:avLst/>
          </a:prstGeom>
          <a:solidFill>
            <a:srgbClr val="FFFFFF"/>
          </a:solidFill>
          <a:ln/>
        </p:spPr>
      </p:sp>
      <p:sp>
        <p:nvSpPr>
          <p:cNvPr id="91" name="Text 28">
            <a:extLst>
              <a:ext uri="{FF2B5EF4-FFF2-40B4-BE49-F238E27FC236}">
                <a16:creationId xmlns:a16="http://schemas.microsoft.com/office/drawing/2014/main" id="{D3CEFFED-A8F6-4EDF-A240-820BC4813F3A}"/>
              </a:ext>
            </a:extLst>
          </p:cNvPr>
          <p:cNvSpPr/>
          <p:nvPr/>
        </p:nvSpPr>
        <p:spPr>
          <a:xfrm>
            <a:off x="1311046" y="766445"/>
            <a:ext cx="78105" cy="7175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92" name="Shape 29">
            <a:extLst>
              <a:ext uri="{FF2B5EF4-FFF2-40B4-BE49-F238E27FC236}">
                <a16:creationId xmlns:a16="http://schemas.microsoft.com/office/drawing/2014/main" id="{D9A406ED-AF19-40FF-AAB4-FF14D6848656}"/>
              </a:ext>
            </a:extLst>
          </p:cNvPr>
          <p:cNvSpPr/>
          <p:nvPr/>
        </p:nvSpPr>
        <p:spPr>
          <a:xfrm flipH="1">
            <a:off x="1180236" y="766445"/>
            <a:ext cx="78105" cy="71755"/>
          </a:xfrm>
          <a:prstGeom prst="ellipse">
            <a:avLst/>
          </a:prstGeom>
          <a:solidFill>
            <a:srgbClr val="FFFFFF">
              <a:alpha val="56471"/>
            </a:srgbClr>
          </a:solidFill>
          <a:ln/>
        </p:spPr>
      </p:sp>
      <p:sp>
        <p:nvSpPr>
          <p:cNvPr id="93" name="Text 30">
            <a:extLst>
              <a:ext uri="{FF2B5EF4-FFF2-40B4-BE49-F238E27FC236}">
                <a16:creationId xmlns:a16="http://schemas.microsoft.com/office/drawing/2014/main" id="{A2F47415-A536-4D86-969A-DED4731D0C90}"/>
              </a:ext>
            </a:extLst>
          </p:cNvPr>
          <p:cNvSpPr/>
          <p:nvPr/>
        </p:nvSpPr>
        <p:spPr>
          <a:xfrm>
            <a:off x="1180236" y="766445"/>
            <a:ext cx="78105" cy="71755"/>
          </a:xfrm>
          <a:prstGeom prst="rect">
            <a:avLst/>
          </a:prstGeom>
          <a:noFill/>
          <a:ln/>
        </p:spPr>
        <p:txBody>
          <a:bodyPr wrap="square" lIns="45720" tIns="91440" rIns="91440" bIns="45720" rtlCol="0" anchor="ctr"/>
          <a:lstStyle/>
          <a:p>
            <a:pPr marL="0" indent="0">
              <a:lnSpc>
                <a:spcPct val="100000"/>
              </a:lnSpc>
              <a:buNone/>
            </a:pPr>
            <a:endParaRPr lang="en-US" sz="1600" dirty="0"/>
          </a:p>
        </p:txBody>
      </p:sp>
    </p:spTree>
    <p:extLst>
      <p:ext uri="{BB962C8B-B14F-4D97-AF65-F5344CB8AC3E}">
        <p14:creationId xmlns:p14="http://schemas.microsoft.com/office/powerpoint/2010/main" val="649813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Image 4" descr="https://kimi-img.moonshot.cn/pub/slides/slides_tmpl/image/25-06-01-00:16:09-d0timic75iks2gau4g90.png">
            <a:extLst>
              <a:ext uri="{FF2B5EF4-FFF2-40B4-BE49-F238E27FC236}">
                <a16:creationId xmlns:a16="http://schemas.microsoft.com/office/drawing/2014/main" id="{E7EF7B51-B987-40A1-BAAA-6383844284F2}"/>
              </a:ext>
            </a:extLst>
          </p:cNvPr>
          <p:cNvPicPr>
            <a:picLocks noChangeAspect="1"/>
          </p:cNvPicPr>
          <p:nvPr/>
        </p:nvPicPr>
        <p:blipFill>
          <a:blip r:embed="rId3"/>
          <a:srcRect t="1969" b="1969"/>
          <a:stretch/>
        </p:blipFill>
        <p:spPr>
          <a:xfrm>
            <a:off x="11548683" y="5734839"/>
            <a:ext cx="186055" cy="207010"/>
          </a:xfrm>
          <a:prstGeom prst="rect">
            <a:avLst/>
          </a:prstGeom>
        </p:spPr>
      </p:pic>
      <p:pic>
        <p:nvPicPr>
          <p:cNvPr id="45" name="Image 1" descr="https://kimi-img.moonshot.cn/pub/slides/slides_tmpl/image/25-06-01-00:17:16-d0tin3475iks2gau4h10.png">
            <a:extLst>
              <a:ext uri="{FF2B5EF4-FFF2-40B4-BE49-F238E27FC236}">
                <a16:creationId xmlns:a16="http://schemas.microsoft.com/office/drawing/2014/main" id="{8941B61F-202A-4042-82F4-FA71A46263CB}"/>
              </a:ext>
            </a:extLst>
          </p:cNvPr>
          <p:cNvPicPr>
            <a:picLocks noChangeAspect="1"/>
          </p:cNvPicPr>
          <p:nvPr/>
        </p:nvPicPr>
        <p:blipFill>
          <a:blip r:embed="rId4"/>
          <a:srcRect/>
          <a:stretch/>
        </p:blipFill>
        <p:spPr>
          <a:xfrm>
            <a:off x="-540000" y="3716962"/>
            <a:ext cx="16658526" cy="49455"/>
          </a:xfrm>
          <a:prstGeom prst="rect">
            <a:avLst/>
          </a:prstGeom>
        </p:spPr>
      </p:pic>
      <p:pic>
        <p:nvPicPr>
          <p:cNvPr id="46" name="Image 2" descr="https://kimi-img.moonshot.cn/pub/slides/slides_tmpl/image/25-06-01-00:17:16-d0tin3475iks2gau4h1g.png">
            <a:extLst>
              <a:ext uri="{FF2B5EF4-FFF2-40B4-BE49-F238E27FC236}">
                <a16:creationId xmlns:a16="http://schemas.microsoft.com/office/drawing/2014/main" id="{25DBF3A4-5A28-4294-8C19-EBBCD887EFF7}"/>
              </a:ext>
            </a:extLst>
          </p:cNvPr>
          <p:cNvPicPr>
            <a:picLocks noChangeAspect="1"/>
          </p:cNvPicPr>
          <p:nvPr/>
        </p:nvPicPr>
        <p:blipFill>
          <a:blip r:embed="rId5"/>
          <a:srcRect l="134" r="134"/>
          <a:stretch/>
        </p:blipFill>
        <p:spPr>
          <a:xfrm flipV="1">
            <a:off x="2319346" y="2242921"/>
            <a:ext cx="1092200" cy="1892300"/>
          </a:xfrm>
          <a:prstGeom prst="rect">
            <a:avLst/>
          </a:prstGeom>
        </p:spPr>
      </p:pic>
      <p:sp>
        <p:nvSpPr>
          <p:cNvPr id="55" name="Shape 8">
            <a:extLst>
              <a:ext uri="{FF2B5EF4-FFF2-40B4-BE49-F238E27FC236}">
                <a16:creationId xmlns:a16="http://schemas.microsoft.com/office/drawing/2014/main" id="{FB42A1D9-F927-4BE4-B3B3-B5383E7E90DA}"/>
              </a:ext>
            </a:extLst>
          </p:cNvPr>
          <p:cNvSpPr/>
          <p:nvPr/>
        </p:nvSpPr>
        <p:spPr>
          <a:xfrm>
            <a:off x="2321479" y="2574942"/>
            <a:ext cx="652471" cy="328680"/>
          </a:xfrm>
          <a:prstGeom prst="rect">
            <a:avLst/>
          </a:prstGeom>
          <a:solidFill>
            <a:srgbClr val="000000">
              <a:alpha val="0"/>
            </a:srgbClr>
          </a:solidFill>
          <a:ln/>
        </p:spPr>
      </p:sp>
      <p:sp>
        <p:nvSpPr>
          <p:cNvPr id="56" name="Text 9">
            <a:extLst>
              <a:ext uri="{FF2B5EF4-FFF2-40B4-BE49-F238E27FC236}">
                <a16:creationId xmlns:a16="http://schemas.microsoft.com/office/drawing/2014/main" id="{CBB27FAB-BCF0-43F0-BFC7-A5AB77CD2318}"/>
              </a:ext>
            </a:extLst>
          </p:cNvPr>
          <p:cNvSpPr/>
          <p:nvPr/>
        </p:nvSpPr>
        <p:spPr>
          <a:xfrm>
            <a:off x="2488689" y="2591672"/>
            <a:ext cx="652471" cy="331155"/>
          </a:xfrm>
          <a:prstGeom prst="rect">
            <a:avLst/>
          </a:prstGeom>
          <a:noFill/>
          <a:ln/>
        </p:spPr>
        <p:txBody>
          <a:bodyPr wrap="square" lIns="0" tIns="0" rIns="0" bIns="0" rtlCol="0" anchor="t"/>
          <a:lstStyle/>
          <a:p>
            <a:pPr marL="0" indent="0" algn="ctr">
              <a:lnSpc>
                <a:spcPct val="110000"/>
              </a:lnSpc>
              <a:buNone/>
            </a:pPr>
            <a:r>
              <a:rPr lang="en-US" sz="2000" dirty="0">
                <a:solidFill>
                  <a:srgbClr val="1D2026"/>
                </a:solidFill>
                <a:latin typeface="微软雅黑" panose="020B0503020204020204" pitchFamily="34" charset="-122"/>
                <a:ea typeface="微软雅黑" panose="020B0503020204020204" pitchFamily="34" charset="-122"/>
                <a:cs typeface="MiSans" pitchFamily="34" charset="-120"/>
              </a:rPr>
              <a:t>02</a:t>
            </a:r>
            <a:endParaRPr lang="en-US" sz="1600" dirty="0"/>
          </a:p>
        </p:txBody>
      </p:sp>
      <p:pic>
        <p:nvPicPr>
          <p:cNvPr id="57" name="Image 3" descr="https://kimi-img.moonshot.cn/pub/slides/slides_tmpl/image/25-06-01-00:17:16-d0tin3475iks2gau4h1g.png">
            <a:extLst>
              <a:ext uri="{FF2B5EF4-FFF2-40B4-BE49-F238E27FC236}">
                <a16:creationId xmlns:a16="http://schemas.microsoft.com/office/drawing/2014/main" id="{10761BBD-A229-40C9-B9A5-A413DB3EB6A4}"/>
              </a:ext>
            </a:extLst>
          </p:cNvPr>
          <p:cNvPicPr>
            <a:picLocks noChangeAspect="1"/>
          </p:cNvPicPr>
          <p:nvPr/>
        </p:nvPicPr>
        <p:blipFill>
          <a:blip r:embed="rId5"/>
          <a:srcRect l="134" r="134"/>
          <a:stretch/>
        </p:blipFill>
        <p:spPr>
          <a:xfrm rot="10800000" flipV="1">
            <a:off x="260109" y="3345686"/>
            <a:ext cx="1092200" cy="1892301"/>
          </a:xfrm>
          <a:prstGeom prst="rect">
            <a:avLst/>
          </a:prstGeom>
        </p:spPr>
      </p:pic>
      <p:sp>
        <p:nvSpPr>
          <p:cNvPr id="58" name="Shape 10">
            <a:extLst>
              <a:ext uri="{FF2B5EF4-FFF2-40B4-BE49-F238E27FC236}">
                <a16:creationId xmlns:a16="http://schemas.microsoft.com/office/drawing/2014/main" id="{1914B936-1F4C-42C0-B040-DF12888B41EA}"/>
              </a:ext>
            </a:extLst>
          </p:cNvPr>
          <p:cNvSpPr/>
          <p:nvPr/>
        </p:nvSpPr>
        <p:spPr>
          <a:xfrm>
            <a:off x="1061105" y="4413317"/>
            <a:ext cx="652471" cy="373446"/>
          </a:xfrm>
          <a:prstGeom prst="rect">
            <a:avLst/>
          </a:prstGeom>
          <a:solidFill>
            <a:srgbClr val="000000">
              <a:alpha val="0"/>
            </a:srgbClr>
          </a:solidFill>
          <a:ln/>
        </p:spPr>
      </p:sp>
      <p:sp>
        <p:nvSpPr>
          <p:cNvPr id="59" name="Text 11">
            <a:extLst>
              <a:ext uri="{FF2B5EF4-FFF2-40B4-BE49-F238E27FC236}">
                <a16:creationId xmlns:a16="http://schemas.microsoft.com/office/drawing/2014/main" id="{2900A8A4-F708-42DF-BDA3-AF73A41F7089}"/>
              </a:ext>
            </a:extLst>
          </p:cNvPr>
          <p:cNvSpPr/>
          <p:nvPr/>
        </p:nvSpPr>
        <p:spPr>
          <a:xfrm>
            <a:off x="467926" y="4510370"/>
            <a:ext cx="652471" cy="365384"/>
          </a:xfrm>
          <a:prstGeom prst="rect">
            <a:avLst/>
          </a:prstGeom>
          <a:noFill/>
          <a:ln/>
        </p:spPr>
        <p:txBody>
          <a:bodyPr wrap="square" lIns="0" tIns="0" rIns="0" bIns="0" rtlCol="0" anchor="t"/>
          <a:lstStyle/>
          <a:p>
            <a:pPr marL="0" indent="0" algn="ctr">
              <a:lnSpc>
                <a:spcPct val="110000"/>
              </a:lnSpc>
              <a:buNone/>
            </a:pPr>
            <a:r>
              <a:rPr lang="en-US" sz="2000" dirty="0">
                <a:solidFill>
                  <a:srgbClr val="1D2026"/>
                </a:solidFill>
                <a:latin typeface="微软雅黑" panose="020B0503020204020204" pitchFamily="34" charset="-122"/>
                <a:ea typeface="微软雅黑" panose="020B0503020204020204" pitchFamily="34" charset="-122"/>
                <a:cs typeface="MiSans" pitchFamily="34" charset="-120"/>
              </a:rPr>
              <a:t>01</a:t>
            </a:r>
            <a:endParaRPr lang="en-US" sz="1600" dirty="0"/>
          </a:p>
        </p:txBody>
      </p:sp>
      <p:pic>
        <p:nvPicPr>
          <p:cNvPr id="60" name="Image 4" descr="https://kimi-img.moonshot.cn/pub/slides/slides_tmpl/image/25-06-01-00:17:16-d0tin3475iks2gau4h1g.png">
            <a:extLst>
              <a:ext uri="{FF2B5EF4-FFF2-40B4-BE49-F238E27FC236}">
                <a16:creationId xmlns:a16="http://schemas.microsoft.com/office/drawing/2014/main" id="{A615CE80-980D-4F90-95AD-F5EC15C44C7A}"/>
              </a:ext>
            </a:extLst>
          </p:cNvPr>
          <p:cNvPicPr>
            <a:picLocks noChangeAspect="1"/>
          </p:cNvPicPr>
          <p:nvPr/>
        </p:nvPicPr>
        <p:blipFill>
          <a:blip r:embed="rId5"/>
          <a:srcRect l="134" r="134"/>
          <a:stretch/>
        </p:blipFill>
        <p:spPr>
          <a:xfrm rot="10800000" flipV="1">
            <a:off x="4851404" y="3345687"/>
            <a:ext cx="1092200" cy="1892300"/>
          </a:xfrm>
          <a:prstGeom prst="rect">
            <a:avLst/>
          </a:prstGeom>
        </p:spPr>
      </p:pic>
      <p:pic>
        <p:nvPicPr>
          <p:cNvPr id="61" name="Image 5" descr="https://kimi-img.moonshot.cn/pub/slides/slides_tmpl/image/25-06-01-00:17:16-d0tin3475iks2gau4h1g.png">
            <a:extLst>
              <a:ext uri="{FF2B5EF4-FFF2-40B4-BE49-F238E27FC236}">
                <a16:creationId xmlns:a16="http://schemas.microsoft.com/office/drawing/2014/main" id="{39DCD16A-14E6-41D6-A9DC-CF5CBCBF4878}"/>
              </a:ext>
            </a:extLst>
          </p:cNvPr>
          <p:cNvPicPr>
            <a:picLocks noChangeAspect="1"/>
          </p:cNvPicPr>
          <p:nvPr/>
        </p:nvPicPr>
        <p:blipFill>
          <a:blip r:embed="rId5"/>
          <a:srcRect l="134" r="134"/>
          <a:stretch/>
        </p:blipFill>
        <p:spPr>
          <a:xfrm flipV="1">
            <a:off x="7278561" y="2337693"/>
            <a:ext cx="1092200" cy="1809542"/>
          </a:xfrm>
          <a:prstGeom prst="rect">
            <a:avLst/>
          </a:prstGeom>
        </p:spPr>
      </p:pic>
      <p:sp>
        <p:nvSpPr>
          <p:cNvPr id="62" name="Shape 12">
            <a:extLst>
              <a:ext uri="{FF2B5EF4-FFF2-40B4-BE49-F238E27FC236}">
                <a16:creationId xmlns:a16="http://schemas.microsoft.com/office/drawing/2014/main" id="{227FE4A7-23CC-40E0-A2ED-A01A3C06BF94}"/>
              </a:ext>
            </a:extLst>
          </p:cNvPr>
          <p:cNvSpPr/>
          <p:nvPr/>
        </p:nvSpPr>
        <p:spPr>
          <a:xfrm>
            <a:off x="4097211" y="4538414"/>
            <a:ext cx="652471" cy="328680"/>
          </a:xfrm>
          <a:prstGeom prst="rect">
            <a:avLst/>
          </a:prstGeom>
          <a:solidFill>
            <a:srgbClr val="000000">
              <a:alpha val="0"/>
            </a:srgbClr>
          </a:solidFill>
          <a:ln/>
        </p:spPr>
      </p:sp>
      <p:sp>
        <p:nvSpPr>
          <p:cNvPr id="63" name="Text 13">
            <a:extLst>
              <a:ext uri="{FF2B5EF4-FFF2-40B4-BE49-F238E27FC236}">
                <a16:creationId xmlns:a16="http://schemas.microsoft.com/office/drawing/2014/main" id="{C1917D35-1C85-49D4-BBF3-226DC5161FD7}"/>
              </a:ext>
            </a:extLst>
          </p:cNvPr>
          <p:cNvSpPr/>
          <p:nvPr/>
        </p:nvSpPr>
        <p:spPr>
          <a:xfrm>
            <a:off x="5071267" y="4542901"/>
            <a:ext cx="652471" cy="334562"/>
          </a:xfrm>
          <a:prstGeom prst="rect">
            <a:avLst/>
          </a:prstGeom>
          <a:noFill/>
          <a:ln/>
        </p:spPr>
        <p:txBody>
          <a:bodyPr wrap="square" lIns="0" tIns="0" rIns="0" bIns="0" rtlCol="0" anchor="t"/>
          <a:lstStyle/>
          <a:p>
            <a:pPr marL="0" indent="0" algn="ctr">
              <a:lnSpc>
                <a:spcPct val="110000"/>
              </a:lnSpc>
              <a:buNone/>
            </a:pPr>
            <a:r>
              <a:rPr lang="en-US" sz="2000" dirty="0">
                <a:solidFill>
                  <a:srgbClr val="1D2026"/>
                </a:solidFill>
                <a:latin typeface="微软雅黑" panose="020B0503020204020204" pitchFamily="34" charset="-122"/>
                <a:ea typeface="微软雅黑" panose="020B0503020204020204" pitchFamily="34" charset="-122"/>
                <a:cs typeface="MiSans" pitchFamily="34" charset="-120"/>
              </a:rPr>
              <a:t>03</a:t>
            </a:r>
            <a:endParaRPr lang="en-US" sz="1600" dirty="0"/>
          </a:p>
        </p:txBody>
      </p:sp>
      <p:sp>
        <p:nvSpPr>
          <p:cNvPr id="64" name="Shape 14">
            <a:extLst>
              <a:ext uri="{FF2B5EF4-FFF2-40B4-BE49-F238E27FC236}">
                <a16:creationId xmlns:a16="http://schemas.microsoft.com/office/drawing/2014/main" id="{2DF5A4F6-E6BF-4797-8745-643A4952FBA6}"/>
              </a:ext>
            </a:extLst>
          </p:cNvPr>
          <p:cNvSpPr/>
          <p:nvPr/>
        </p:nvSpPr>
        <p:spPr>
          <a:xfrm>
            <a:off x="7492411" y="2695481"/>
            <a:ext cx="652471" cy="328680"/>
          </a:xfrm>
          <a:prstGeom prst="rect">
            <a:avLst/>
          </a:prstGeom>
          <a:solidFill>
            <a:srgbClr val="000000">
              <a:alpha val="0"/>
            </a:srgbClr>
          </a:solidFill>
          <a:ln/>
        </p:spPr>
      </p:sp>
      <p:sp>
        <p:nvSpPr>
          <p:cNvPr id="65" name="Text 15">
            <a:extLst>
              <a:ext uri="{FF2B5EF4-FFF2-40B4-BE49-F238E27FC236}">
                <a16:creationId xmlns:a16="http://schemas.microsoft.com/office/drawing/2014/main" id="{671AF0CC-359C-48EE-92F6-D448F64600E6}"/>
              </a:ext>
            </a:extLst>
          </p:cNvPr>
          <p:cNvSpPr/>
          <p:nvPr/>
        </p:nvSpPr>
        <p:spPr>
          <a:xfrm>
            <a:off x="7513953" y="2675652"/>
            <a:ext cx="652471" cy="328680"/>
          </a:xfrm>
          <a:prstGeom prst="rect">
            <a:avLst/>
          </a:prstGeom>
          <a:noFill/>
          <a:ln/>
        </p:spPr>
        <p:txBody>
          <a:bodyPr wrap="square" lIns="0" tIns="0" rIns="0" bIns="0" rtlCol="0" anchor="t"/>
          <a:lstStyle/>
          <a:p>
            <a:pPr marL="0" indent="0" algn="ctr">
              <a:lnSpc>
                <a:spcPct val="110000"/>
              </a:lnSpc>
              <a:buNone/>
            </a:pPr>
            <a:r>
              <a:rPr lang="en-US" sz="2000" dirty="0">
                <a:solidFill>
                  <a:srgbClr val="1D2026"/>
                </a:solidFill>
                <a:latin typeface="微软雅黑" panose="020B0503020204020204" pitchFamily="34" charset="-122"/>
                <a:ea typeface="微软雅黑" panose="020B0503020204020204" pitchFamily="34" charset="-122"/>
                <a:cs typeface="MiSans" pitchFamily="34" charset="-120"/>
              </a:rPr>
              <a:t>04</a:t>
            </a:r>
            <a:endParaRPr lang="en-US" sz="1600" dirty="0"/>
          </a:p>
        </p:txBody>
      </p:sp>
      <p:sp>
        <p:nvSpPr>
          <p:cNvPr id="66" name="Text 16">
            <a:extLst>
              <a:ext uri="{FF2B5EF4-FFF2-40B4-BE49-F238E27FC236}">
                <a16:creationId xmlns:a16="http://schemas.microsoft.com/office/drawing/2014/main" id="{A33C215B-41D8-48DA-B851-7A1915402D3C}"/>
              </a:ext>
            </a:extLst>
          </p:cNvPr>
          <p:cNvSpPr/>
          <p:nvPr/>
        </p:nvSpPr>
        <p:spPr>
          <a:xfrm>
            <a:off x="2375398" y="3999569"/>
            <a:ext cx="1505643" cy="276999"/>
          </a:xfrm>
          <a:prstGeom prst="rect">
            <a:avLst/>
          </a:prstGeom>
          <a:noFill/>
          <a:ln/>
        </p:spPr>
        <p:txBody>
          <a:bodyPr wrap="square" lIns="0" tIns="0" rIns="0" bIns="0" rtlCol="0" anchor="t">
            <a:spAutoFit/>
          </a:bodyPr>
          <a:lstStyle/>
          <a:p>
            <a:pPr marL="0" indent="0" algn="l">
              <a:lnSpc>
                <a:spcPct val="100000"/>
              </a:lnSpc>
              <a:buNone/>
            </a:pPr>
            <a:r>
              <a:rPr lang="zh-CN" altLang="en-US" sz="1800" b="1" dirty="0">
                <a:solidFill>
                  <a:srgbClr val="002060"/>
                </a:solidFill>
                <a:latin typeface="微软雅黑" panose="020B0503020204020204" pitchFamily="34" charset="-122"/>
                <a:ea typeface="微软雅黑" panose="020B0503020204020204" pitchFamily="34" charset="-122"/>
                <a:cs typeface="MiSans" pitchFamily="34" charset="-120"/>
              </a:rPr>
              <a:t>词性标注</a:t>
            </a:r>
            <a:endParaRPr lang="en-US" sz="1600" dirty="0">
              <a:solidFill>
                <a:srgbClr val="002060"/>
              </a:solidFill>
            </a:endParaRPr>
          </a:p>
        </p:txBody>
      </p:sp>
      <p:sp>
        <p:nvSpPr>
          <p:cNvPr id="67" name="Text 17">
            <a:extLst>
              <a:ext uri="{FF2B5EF4-FFF2-40B4-BE49-F238E27FC236}">
                <a16:creationId xmlns:a16="http://schemas.microsoft.com/office/drawing/2014/main" id="{15558C92-B03B-412F-8A56-39FBE7248659}"/>
              </a:ext>
            </a:extLst>
          </p:cNvPr>
          <p:cNvSpPr/>
          <p:nvPr/>
        </p:nvSpPr>
        <p:spPr>
          <a:xfrm>
            <a:off x="2064885" y="4300858"/>
            <a:ext cx="2240621" cy="1530291"/>
          </a:xfrm>
          <a:prstGeom prst="rect">
            <a:avLst/>
          </a:prstGeom>
          <a:noFill/>
          <a:ln/>
        </p:spPr>
        <p:txBody>
          <a:bodyPr wrap="square" lIns="91440" tIns="45720" rIns="91440" bIns="45720" rtlCol="0" anchor="t">
            <a:spAutoFit/>
          </a:bodyPr>
          <a:lstStyle/>
          <a:p>
            <a:pPr marL="0" indent="0" algn="just">
              <a:lnSpc>
                <a:spcPct val="150000"/>
              </a:lnSpc>
              <a:buNone/>
            </a:pPr>
            <a:r>
              <a:rPr lang="zh-CN" altLang="en-US" sz="1600" dirty="0">
                <a:latin typeface="微软雅黑" panose="020B0503020204020204" pitchFamily="34" charset="-122"/>
                <a:ea typeface="微软雅黑" panose="020B0503020204020204" pitchFamily="34" charset="-122"/>
                <a:cs typeface="MiSans" pitchFamily="34" charset="-120"/>
              </a:rPr>
              <a:t>使用</a:t>
            </a:r>
            <a:r>
              <a:rPr lang="en-US" altLang="zh-CN" sz="1600" dirty="0" err="1">
                <a:latin typeface="微软雅黑" panose="020B0503020204020204" pitchFamily="34" charset="-122"/>
                <a:ea typeface="微软雅黑" panose="020B0503020204020204" pitchFamily="34" charset="-122"/>
                <a:cs typeface="MiSans" pitchFamily="34" charset="-120"/>
              </a:rPr>
              <a:t>SpaCy</a:t>
            </a:r>
            <a:r>
              <a:rPr lang="zh-CN" altLang="en-US" sz="1600" dirty="0">
                <a:latin typeface="微软雅黑" panose="020B0503020204020204" pitchFamily="34" charset="-122"/>
                <a:ea typeface="微软雅黑" panose="020B0503020204020204" pitchFamily="34" charset="-122"/>
                <a:cs typeface="MiSans" pitchFamily="34" charset="-120"/>
              </a:rPr>
              <a:t>进行词性标注，识别名词短语（潜在视觉地标）和动词短语（动作）。</a:t>
            </a:r>
            <a:endParaRPr lang="en-US" dirty="0"/>
          </a:p>
        </p:txBody>
      </p:sp>
      <p:sp>
        <p:nvSpPr>
          <p:cNvPr id="68" name="Text 18">
            <a:extLst>
              <a:ext uri="{FF2B5EF4-FFF2-40B4-BE49-F238E27FC236}">
                <a16:creationId xmlns:a16="http://schemas.microsoft.com/office/drawing/2014/main" id="{598730F9-EF26-4AE4-AD47-C04E979C12E1}"/>
              </a:ext>
            </a:extLst>
          </p:cNvPr>
          <p:cNvSpPr/>
          <p:nvPr/>
        </p:nvSpPr>
        <p:spPr>
          <a:xfrm>
            <a:off x="4638648" y="1390121"/>
            <a:ext cx="3505796" cy="276225"/>
          </a:xfrm>
          <a:prstGeom prst="rect">
            <a:avLst/>
          </a:prstGeom>
          <a:noFill/>
          <a:ln/>
        </p:spPr>
        <p:txBody>
          <a:bodyPr wrap="square" lIns="0" tIns="0" rIns="0" bIns="0" rtlCol="0" anchor="t">
            <a:spAutoFit/>
          </a:bodyPr>
          <a:lstStyle/>
          <a:p>
            <a:pPr marL="0" indent="0" algn="l">
              <a:lnSpc>
                <a:spcPct val="100000"/>
              </a:lnSpc>
              <a:buNone/>
            </a:pPr>
            <a:r>
              <a:rPr lang="zh-CN" altLang="en-US" sz="1800" b="1" dirty="0">
                <a:solidFill>
                  <a:srgbClr val="002060"/>
                </a:solidFill>
                <a:latin typeface="微软雅黑" panose="020B0503020204020204" pitchFamily="34" charset="-122"/>
                <a:ea typeface="微软雅黑" panose="020B0503020204020204" pitchFamily="34" charset="-122"/>
                <a:cs typeface="MiSans" pitchFamily="34" charset="-120"/>
              </a:rPr>
              <a:t>过滤清洗</a:t>
            </a:r>
            <a:endParaRPr lang="en-US" sz="1600" dirty="0">
              <a:solidFill>
                <a:srgbClr val="002060"/>
              </a:solidFill>
            </a:endParaRPr>
          </a:p>
        </p:txBody>
      </p:sp>
      <p:sp>
        <p:nvSpPr>
          <p:cNvPr id="69" name="Text 19">
            <a:extLst>
              <a:ext uri="{FF2B5EF4-FFF2-40B4-BE49-F238E27FC236}">
                <a16:creationId xmlns:a16="http://schemas.microsoft.com/office/drawing/2014/main" id="{CAAF8FC5-C3C7-46A1-95FD-DD64669152A0}"/>
              </a:ext>
            </a:extLst>
          </p:cNvPr>
          <p:cNvSpPr/>
          <p:nvPr/>
        </p:nvSpPr>
        <p:spPr>
          <a:xfrm>
            <a:off x="3984359" y="1810106"/>
            <a:ext cx="3002216" cy="1899623"/>
          </a:xfrm>
          <a:prstGeom prst="rect">
            <a:avLst/>
          </a:prstGeom>
          <a:noFill/>
          <a:ln/>
        </p:spPr>
        <p:txBody>
          <a:bodyPr wrap="square" lIns="91440" tIns="45720" rIns="91440" bIns="45720" rtlCol="0" anchor="t">
            <a:spAutoFit/>
          </a:bodyPr>
          <a:lstStyle/>
          <a:p>
            <a:pPr marL="0" indent="0" algn="just">
              <a:lnSpc>
                <a:spcPct val="150000"/>
              </a:lnSpc>
              <a:buNone/>
            </a:pPr>
            <a:r>
              <a:rPr lang="zh-CN" altLang="en-US" sz="1600" dirty="0">
                <a:latin typeface="微软雅黑" panose="020B0503020204020204" pitchFamily="34" charset="-122"/>
                <a:ea typeface="微软雅黑" panose="020B0503020204020204" pitchFamily="34" charset="-122"/>
                <a:cs typeface="MiSans" pitchFamily="34" charset="-120"/>
              </a:rPr>
              <a:t>剔除“</a:t>
            </a:r>
            <a:r>
              <a:rPr lang="en-US" sz="1600" dirty="0">
                <a:latin typeface="微软雅黑" panose="020B0503020204020204" pitchFamily="34" charset="-122"/>
                <a:ea typeface="微软雅黑" panose="020B0503020204020204" pitchFamily="34" charset="-122"/>
                <a:cs typeface="MiSans" pitchFamily="34" charset="-120"/>
              </a:rPr>
              <a:t>stop words”（</a:t>
            </a:r>
            <a:r>
              <a:rPr lang="zh-CN" altLang="en-US" sz="1600" dirty="0">
                <a:latin typeface="微软雅黑" panose="020B0503020204020204" pitchFamily="34" charset="-122"/>
                <a:ea typeface="微软雅黑" panose="020B0503020204020204" pitchFamily="34" charset="-122"/>
                <a:cs typeface="MiSans" pitchFamily="34" charset="-120"/>
              </a:rPr>
              <a:t>如 </a:t>
            </a:r>
            <a:r>
              <a:rPr lang="en-US" sz="1600" dirty="0">
                <a:latin typeface="微软雅黑" panose="020B0503020204020204" pitchFamily="34" charset="-122"/>
                <a:ea typeface="微软雅黑" panose="020B0503020204020204" pitchFamily="34" charset="-122"/>
                <a:cs typeface="MiSans" pitchFamily="34" charset="-120"/>
              </a:rPr>
              <a:t>the, for）</a:t>
            </a:r>
            <a:r>
              <a:rPr lang="zh-CN" altLang="en-US" sz="1600" dirty="0">
                <a:latin typeface="微软雅黑" panose="020B0503020204020204" pitchFamily="34" charset="-122"/>
                <a:ea typeface="微软雅黑" panose="020B0503020204020204" pitchFamily="34" charset="-122"/>
                <a:cs typeface="MiSans" pitchFamily="34" charset="-120"/>
              </a:rPr>
              <a:t>和非视觉地标词（如 </a:t>
            </a:r>
            <a:r>
              <a:rPr lang="en-US" altLang="zh-CN" sz="1600" dirty="0">
                <a:latin typeface="微软雅黑" panose="020B0503020204020204" pitchFamily="34" charset="-122"/>
                <a:ea typeface="微软雅黑" panose="020B0503020204020204" pitchFamily="34" charset="-122"/>
                <a:cs typeface="MiSans" pitchFamily="34" charset="-120"/>
              </a:rPr>
              <a:t>"</a:t>
            </a:r>
            <a:r>
              <a:rPr lang="en-US" sz="1600" dirty="0">
                <a:latin typeface="微软雅黑" panose="020B0503020204020204" pitchFamily="34" charset="-122"/>
                <a:ea typeface="微软雅黑" panose="020B0503020204020204" pitchFamily="34" charset="-122"/>
                <a:cs typeface="MiSans" pitchFamily="34" charset="-120"/>
              </a:rPr>
              <a:t>way", "direction", "left"）。</a:t>
            </a:r>
          </a:p>
          <a:p>
            <a:pPr marL="0" indent="0" algn="just">
              <a:lnSpc>
                <a:spcPct val="150000"/>
              </a:lnSpc>
              <a:buNone/>
            </a:pPr>
            <a:r>
              <a:rPr lang="zh-CN" altLang="en-US" sz="1600" dirty="0">
                <a:latin typeface="微软雅黑" panose="020B0503020204020204" pitchFamily="34" charset="-122"/>
                <a:ea typeface="微软雅黑" panose="020B0503020204020204" pitchFamily="34" charset="-122"/>
                <a:cs typeface="MiSans" pitchFamily="34" charset="-120"/>
              </a:rPr>
              <a:t>剔除非导航动词（如 </a:t>
            </a:r>
            <a:r>
              <a:rPr lang="en-US" altLang="zh-CN" sz="1600" dirty="0">
                <a:latin typeface="微软雅黑" panose="020B0503020204020204" pitchFamily="34" charset="-122"/>
                <a:ea typeface="微软雅黑" panose="020B0503020204020204" pitchFamily="34" charset="-122"/>
                <a:cs typeface="MiSans" pitchFamily="34" charset="-120"/>
              </a:rPr>
              <a:t>"</a:t>
            </a:r>
            <a:r>
              <a:rPr lang="en-US" sz="1600" dirty="0">
                <a:latin typeface="微软雅黑" panose="020B0503020204020204" pitchFamily="34" charset="-122"/>
                <a:ea typeface="微软雅黑" panose="020B0503020204020204" pitchFamily="34" charset="-122"/>
                <a:cs typeface="MiSans" pitchFamily="34" charset="-120"/>
              </a:rPr>
              <a:t>make", "face"）。</a:t>
            </a:r>
            <a:endParaRPr lang="en-US" dirty="0"/>
          </a:p>
        </p:txBody>
      </p:sp>
      <p:sp>
        <p:nvSpPr>
          <p:cNvPr id="70" name="Text 20">
            <a:extLst>
              <a:ext uri="{FF2B5EF4-FFF2-40B4-BE49-F238E27FC236}">
                <a16:creationId xmlns:a16="http://schemas.microsoft.com/office/drawing/2014/main" id="{3488C116-B206-4CAB-858D-468A06AD1674}"/>
              </a:ext>
            </a:extLst>
          </p:cNvPr>
          <p:cNvSpPr/>
          <p:nvPr/>
        </p:nvSpPr>
        <p:spPr>
          <a:xfrm>
            <a:off x="459511" y="1403560"/>
            <a:ext cx="1441450" cy="276225"/>
          </a:xfrm>
          <a:prstGeom prst="rect">
            <a:avLst/>
          </a:prstGeom>
          <a:noFill/>
          <a:ln/>
        </p:spPr>
        <p:txBody>
          <a:bodyPr wrap="square" lIns="0" tIns="0" rIns="0" bIns="0" rtlCol="0" anchor="t">
            <a:spAutoFit/>
          </a:bodyPr>
          <a:lstStyle/>
          <a:p>
            <a:pPr marL="0" indent="0" algn="l">
              <a:lnSpc>
                <a:spcPct val="100000"/>
              </a:lnSpc>
              <a:buNone/>
            </a:pPr>
            <a:r>
              <a:rPr lang="zh-CN" altLang="en-US" sz="1800" b="1" dirty="0">
                <a:solidFill>
                  <a:srgbClr val="002060"/>
                </a:solidFill>
                <a:latin typeface="微软雅黑" panose="020B0503020204020204" pitchFamily="34" charset="-122"/>
                <a:ea typeface="微软雅黑" panose="020B0503020204020204" pitchFamily="34" charset="-122"/>
                <a:cs typeface="MiSans" pitchFamily="34" charset="-120"/>
              </a:rPr>
              <a:t>分句</a:t>
            </a:r>
            <a:endParaRPr lang="en-US" sz="1600" dirty="0">
              <a:solidFill>
                <a:srgbClr val="002060"/>
              </a:solidFill>
            </a:endParaRPr>
          </a:p>
        </p:txBody>
      </p:sp>
      <p:sp>
        <p:nvSpPr>
          <p:cNvPr id="71" name="Text 21">
            <a:extLst>
              <a:ext uri="{FF2B5EF4-FFF2-40B4-BE49-F238E27FC236}">
                <a16:creationId xmlns:a16="http://schemas.microsoft.com/office/drawing/2014/main" id="{2CE380B6-7D82-4C1E-900D-B34D756254A3}"/>
              </a:ext>
            </a:extLst>
          </p:cNvPr>
          <p:cNvSpPr/>
          <p:nvPr/>
        </p:nvSpPr>
        <p:spPr>
          <a:xfrm>
            <a:off x="236986" y="1810106"/>
            <a:ext cx="2141267" cy="422295"/>
          </a:xfrm>
          <a:prstGeom prst="rect">
            <a:avLst/>
          </a:prstGeom>
          <a:noFill/>
          <a:ln/>
        </p:spPr>
        <p:txBody>
          <a:bodyPr wrap="square" lIns="91440" tIns="45720" rIns="91440" bIns="45720" rtlCol="0" anchor="t">
            <a:spAutoFit/>
          </a:bodyPr>
          <a:lstStyle/>
          <a:p>
            <a:pPr marL="0" indent="0" algn="just">
              <a:lnSpc>
                <a:spcPct val="150000"/>
              </a:lnSpc>
              <a:buNone/>
            </a:pPr>
            <a:r>
              <a:rPr lang="zh-CN" altLang="en-US" sz="1600" dirty="0">
                <a:latin typeface="微软雅黑" panose="020B0503020204020204" pitchFamily="34" charset="-122"/>
                <a:ea typeface="微软雅黑" panose="020B0503020204020204" pitchFamily="34" charset="-122"/>
                <a:cs typeface="MiSans" pitchFamily="34" charset="-120"/>
              </a:rPr>
              <a:t>按句号分割</a:t>
            </a:r>
            <a:endParaRPr lang="en-US" dirty="0"/>
          </a:p>
        </p:txBody>
      </p:sp>
      <p:sp>
        <p:nvSpPr>
          <p:cNvPr id="72" name="Text 22">
            <a:extLst>
              <a:ext uri="{FF2B5EF4-FFF2-40B4-BE49-F238E27FC236}">
                <a16:creationId xmlns:a16="http://schemas.microsoft.com/office/drawing/2014/main" id="{D8359D09-049C-4220-BFB2-2B9E4289116B}"/>
              </a:ext>
            </a:extLst>
          </p:cNvPr>
          <p:cNvSpPr/>
          <p:nvPr/>
        </p:nvSpPr>
        <p:spPr>
          <a:xfrm>
            <a:off x="7130994" y="3987577"/>
            <a:ext cx="3505796" cy="276225"/>
          </a:xfrm>
          <a:prstGeom prst="rect">
            <a:avLst/>
          </a:prstGeom>
          <a:noFill/>
          <a:ln/>
        </p:spPr>
        <p:txBody>
          <a:bodyPr wrap="square" lIns="0" tIns="0" rIns="0" bIns="0" rtlCol="0" anchor="t">
            <a:spAutoFit/>
          </a:bodyPr>
          <a:lstStyle/>
          <a:p>
            <a:pPr marL="0" indent="0" algn="l">
              <a:lnSpc>
                <a:spcPct val="100000"/>
              </a:lnSpc>
              <a:buNone/>
            </a:pPr>
            <a:r>
              <a:rPr lang="zh-CN" altLang="en-US" sz="1800" b="1" dirty="0">
                <a:solidFill>
                  <a:srgbClr val="002060"/>
                </a:solidFill>
                <a:latin typeface="微软雅黑" panose="020B0503020204020204" pitchFamily="34" charset="-122"/>
                <a:ea typeface="微软雅黑" panose="020B0503020204020204" pitchFamily="34" charset="-122"/>
                <a:cs typeface="MiSans" pitchFamily="34" charset="-120"/>
              </a:rPr>
              <a:t>合并规则</a:t>
            </a:r>
            <a:endParaRPr lang="en-US" sz="1600" dirty="0">
              <a:solidFill>
                <a:srgbClr val="002060"/>
              </a:solidFill>
            </a:endParaRPr>
          </a:p>
        </p:txBody>
      </p:sp>
      <p:sp>
        <p:nvSpPr>
          <p:cNvPr id="73" name="Text 23">
            <a:extLst>
              <a:ext uri="{FF2B5EF4-FFF2-40B4-BE49-F238E27FC236}">
                <a16:creationId xmlns:a16="http://schemas.microsoft.com/office/drawing/2014/main" id="{36D67B5C-5495-4385-BEE2-149693BE47EE}"/>
              </a:ext>
            </a:extLst>
          </p:cNvPr>
          <p:cNvSpPr/>
          <p:nvPr/>
        </p:nvSpPr>
        <p:spPr>
          <a:xfrm>
            <a:off x="6588000" y="4275794"/>
            <a:ext cx="2447999" cy="2264851"/>
          </a:xfrm>
          <a:prstGeom prst="rect">
            <a:avLst/>
          </a:prstGeom>
          <a:noFill/>
          <a:ln/>
        </p:spPr>
        <p:txBody>
          <a:bodyPr wrap="square" lIns="91440" tIns="45720" rIns="91440" bIns="45720" rtlCol="0" anchor="t">
            <a:spAutoFit/>
          </a:bodyPr>
          <a:lstStyle/>
          <a:p>
            <a:pPr marL="0" indent="0" algn="just">
              <a:lnSpc>
                <a:spcPct val="150000"/>
              </a:lnSpc>
              <a:buNone/>
            </a:pPr>
            <a:r>
              <a:rPr lang="en-US" altLang="zh-CN" sz="1600" dirty="0">
                <a:latin typeface="微软雅黑" panose="020B0503020204020204" pitchFamily="34" charset="-122"/>
                <a:ea typeface="微软雅黑" panose="020B0503020204020204" pitchFamily="34" charset="-122"/>
                <a:cs typeface="MiSans" pitchFamily="34" charset="-120"/>
              </a:rPr>
              <a:t>1</a:t>
            </a:r>
            <a:r>
              <a:rPr lang="zh-CN" altLang="en-US" sz="1600" dirty="0">
                <a:latin typeface="微软雅黑" panose="020B0503020204020204" pitchFamily="34" charset="-122"/>
                <a:ea typeface="微软雅黑" panose="020B0503020204020204" pitchFamily="34" charset="-122"/>
                <a:cs typeface="MiSans" pitchFamily="34" charset="-120"/>
              </a:rPr>
              <a:t>、将没有地标和动作的句子（如描述性语句）合并到下一个句子。</a:t>
            </a:r>
          </a:p>
          <a:p>
            <a:pPr marL="0" indent="0" algn="just">
              <a:lnSpc>
                <a:spcPct val="150000"/>
              </a:lnSpc>
              <a:buNone/>
            </a:pPr>
            <a:r>
              <a:rPr lang="en-US" altLang="zh-CN" sz="1600" dirty="0">
                <a:latin typeface="微软雅黑" panose="020B0503020204020204" pitchFamily="34" charset="-122"/>
                <a:ea typeface="微软雅黑" panose="020B0503020204020204" pitchFamily="34" charset="-122"/>
                <a:cs typeface="MiSans" pitchFamily="34" charset="-120"/>
              </a:rPr>
              <a:t>2</a:t>
            </a:r>
            <a:r>
              <a:rPr lang="zh-CN" altLang="en-US" sz="1600" dirty="0">
                <a:latin typeface="微软雅黑" panose="020B0503020204020204" pitchFamily="34" charset="-122"/>
                <a:ea typeface="微软雅黑" panose="020B0503020204020204" pitchFamily="34" charset="-122"/>
                <a:cs typeface="MiSans" pitchFamily="34" charset="-120"/>
              </a:rPr>
              <a:t>、将表示停止条件的句子（如 </a:t>
            </a:r>
            <a:r>
              <a:rPr lang="en-US" altLang="zh-CN" sz="1600" dirty="0">
                <a:latin typeface="微软雅黑" panose="020B0503020204020204" pitchFamily="34" charset="-122"/>
                <a:ea typeface="微软雅黑" panose="020B0503020204020204" pitchFamily="34" charset="-122"/>
                <a:cs typeface="MiSans" pitchFamily="34" charset="-120"/>
              </a:rPr>
              <a:t>"</a:t>
            </a:r>
            <a:r>
              <a:rPr lang="en-US" sz="1600" dirty="0">
                <a:latin typeface="微软雅黑" panose="020B0503020204020204" pitchFamily="34" charset="-122"/>
                <a:ea typeface="微软雅黑" panose="020B0503020204020204" pitchFamily="34" charset="-122"/>
                <a:cs typeface="MiSans" pitchFamily="34" charset="-120"/>
              </a:rPr>
              <a:t>you will see..."）</a:t>
            </a:r>
            <a:r>
              <a:rPr lang="zh-CN" altLang="en-US" sz="1600" dirty="0">
                <a:latin typeface="微软雅黑" panose="020B0503020204020204" pitchFamily="34" charset="-122"/>
                <a:ea typeface="微软雅黑" panose="020B0503020204020204" pitchFamily="34" charset="-122"/>
                <a:cs typeface="MiSans" pitchFamily="34" charset="-120"/>
              </a:rPr>
              <a:t>合并到前一个句子。</a:t>
            </a:r>
          </a:p>
        </p:txBody>
      </p:sp>
      <p:sp>
        <p:nvSpPr>
          <p:cNvPr id="74" name="矩形 73">
            <a:extLst>
              <a:ext uri="{FF2B5EF4-FFF2-40B4-BE49-F238E27FC236}">
                <a16:creationId xmlns:a16="http://schemas.microsoft.com/office/drawing/2014/main" id="{D460E3A3-7FC3-4C24-B381-1ADAB2EE4A0A}"/>
              </a:ext>
            </a:extLst>
          </p:cNvPr>
          <p:cNvSpPr/>
          <p:nvPr/>
        </p:nvSpPr>
        <p:spPr>
          <a:xfrm flipV="1">
            <a:off x="0" y="619125"/>
            <a:ext cx="9144000" cy="99649"/>
          </a:xfrm>
          <a:prstGeom prst="rect">
            <a:avLst/>
          </a:prstGeom>
          <a:solidFill>
            <a:srgbClr val="0065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84" name="文本框 83">
            <a:extLst>
              <a:ext uri="{FF2B5EF4-FFF2-40B4-BE49-F238E27FC236}">
                <a16:creationId xmlns:a16="http://schemas.microsoft.com/office/drawing/2014/main" id="{54E53E5F-E8EE-4B39-AF40-81287574E72D}"/>
              </a:ext>
            </a:extLst>
          </p:cNvPr>
          <p:cNvSpPr txBox="1"/>
          <p:nvPr/>
        </p:nvSpPr>
        <p:spPr>
          <a:xfrm>
            <a:off x="250825" y="3678"/>
            <a:ext cx="5549899" cy="584775"/>
          </a:xfrm>
          <a:prstGeom prst="rect">
            <a:avLst/>
          </a:prstGeom>
        </p:spPr>
        <p:txBody>
          <a:bodyPr wrap="square" rtlCol="0" anchor="t">
            <a:spAutoFit/>
          </a:bodyPr>
          <a:lstStyle/>
          <a:p>
            <a:pPr marL="0" indent="0" algn="l">
              <a:lnSpc>
                <a:spcPct val="100000"/>
              </a:lnSpc>
              <a:buNone/>
            </a:pPr>
            <a:r>
              <a:rPr lang="zh-CN" altLang="en-US" sz="3200" b="1" dirty="0">
                <a:latin typeface="微软雅黑" panose="020B0503020204020204" pitchFamily="34" charset="-122"/>
                <a:ea typeface="微软雅黑" panose="020B0503020204020204" pitchFamily="34" charset="-122"/>
                <a:cs typeface="MiSans" panose="02010600030101010101" charset="-122"/>
              </a:rPr>
              <a:t>指令分割</a:t>
            </a:r>
            <a:endParaRPr lang="en-US" altLang="zh-CN" sz="1400" dirty="0">
              <a:latin typeface="微软雅黑" panose="020B0503020204020204" pitchFamily="34" charset="-122"/>
              <a:ea typeface="微软雅黑" panose="020B0503020204020204" pitchFamily="34" charset="-122"/>
              <a:cs typeface="MiSans" panose="02010600030101010101" charset="-122"/>
            </a:endParaRPr>
          </a:p>
        </p:txBody>
      </p:sp>
      <p:sp>
        <p:nvSpPr>
          <p:cNvPr id="85" name="Text 0">
            <a:extLst>
              <a:ext uri="{FF2B5EF4-FFF2-40B4-BE49-F238E27FC236}">
                <a16:creationId xmlns:a16="http://schemas.microsoft.com/office/drawing/2014/main" id="{25D1071E-9537-4564-B6E1-DA1C77085D35}"/>
              </a:ext>
            </a:extLst>
          </p:cNvPr>
          <p:cNvSpPr/>
          <p:nvPr/>
        </p:nvSpPr>
        <p:spPr>
          <a:xfrm>
            <a:off x="935304" y="479263"/>
            <a:ext cx="3049055" cy="606887"/>
          </a:xfrm>
          <a:prstGeom prst="rect">
            <a:avLst/>
          </a:prstGeom>
          <a:noFill/>
          <a:ln/>
        </p:spPr>
        <p:txBody>
          <a:bodyPr wrap="square" lIns="91440" tIns="45720" rIns="91440" bIns="45720" rtlCol="0" anchor="ctr"/>
          <a:lstStyle/>
          <a:p>
            <a:pPr marL="0" indent="0" algn="l">
              <a:lnSpc>
                <a:spcPct val="90000"/>
              </a:lnSpc>
              <a:buNone/>
            </a:pPr>
            <a:r>
              <a:rPr lang="en-US" sz="4400" dirty="0">
                <a:solidFill>
                  <a:srgbClr val="000000"/>
                </a:solidFill>
                <a:latin typeface="微软雅黑" panose="020B0503020204020204" pitchFamily="34" charset="-122"/>
                <a:ea typeface="微软雅黑" panose="020B0503020204020204" pitchFamily="34" charset="-122"/>
                <a:cs typeface="MiSans" pitchFamily="34" charset="-120"/>
              </a:rPr>
              <a:t> </a:t>
            </a:r>
            <a:endParaRPr lang="en-US" sz="1600" dirty="0"/>
          </a:p>
        </p:txBody>
      </p:sp>
      <p:sp>
        <p:nvSpPr>
          <p:cNvPr id="86" name="Shape 23">
            <a:extLst>
              <a:ext uri="{FF2B5EF4-FFF2-40B4-BE49-F238E27FC236}">
                <a16:creationId xmlns:a16="http://schemas.microsoft.com/office/drawing/2014/main" id="{F54DEF6E-8018-481D-A6E5-BEC5C5FEA2A2}"/>
              </a:ext>
            </a:extLst>
          </p:cNvPr>
          <p:cNvSpPr/>
          <p:nvPr/>
        </p:nvSpPr>
        <p:spPr>
          <a:xfrm flipH="1">
            <a:off x="1570761" y="766445"/>
            <a:ext cx="78105" cy="71755"/>
          </a:xfrm>
          <a:prstGeom prst="ellipse">
            <a:avLst/>
          </a:prstGeom>
          <a:solidFill>
            <a:srgbClr val="FFFFFF"/>
          </a:solidFill>
          <a:ln/>
        </p:spPr>
      </p:sp>
      <p:sp>
        <p:nvSpPr>
          <p:cNvPr id="87" name="Text 24">
            <a:extLst>
              <a:ext uri="{FF2B5EF4-FFF2-40B4-BE49-F238E27FC236}">
                <a16:creationId xmlns:a16="http://schemas.microsoft.com/office/drawing/2014/main" id="{07CDC2D4-CF5E-4040-8827-6284D4B2721B}"/>
              </a:ext>
            </a:extLst>
          </p:cNvPr>
          <p:cNvSpPr/>
          <p:nvPr/>
        </p:nvSpPr>
        <p:spPr>
          <a:xfrm>
            <a:off x="1570761" y="766445"/>
            <a:ext cx="78105" cy="7175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88" name="Shape 25">
            <a:extLst>
              <a:ext uri="{FF2B5EF4-FFF2-40B4-BE49-F238E27FC236}">
                <a16:creationId xmlns:a16="http://schemas.microsoft.com/office/drawing/2014/main" id="{7CDD3F91-AA2D-4071-B25F-71E0C6DAE891}"/>
              </a:ext>
            </a:extLst>
          </p:cNvPr>
          <p:cNvSpPr/>
          <p:nvPr/>
        </p:nvSpPr>
        <p:spPr>
          <a:xfrm flipH="1">
            <a:off x="1442491" y="766445"/>
            <a:ext cx="78105" cy="71755"/>
          </a:xfrm>
          <a:prstGeom prst="ellipse">
            <a:avLst/>
          </a:prstGeom>
          <a:solidFill>
            <a:srgbClr val="FFFFFF">
              <a:alpha val="56471"/>
            </a:srgbClr>
          </a:solidFill>
          <a:ln/>
        </p:spPr>
      </p:sp>
      <p:sp>
        <p:nvSpPr>
          <p:cNvPr id="89" name="Text 26">
            <a:extLst>
              <a:ext uri="{FF2B5EF4-FFF2-40B4-BE49-F238E27FC236}">
                <a16:creationId xmlns:a16="http://schemas.microsoft.com/office/drawing/2014/main" id="{87919F42-5851-4717-8F64-776ADB720DE3}"/>
              </a:ext>
            </a:extLst>
          </p:cNvPr>
          <p:cNvSpPr/>
          <p:nvPr/>
        </p:nvSpPr>
        <p:spPr>
          <a:xfrm>
            <a:off x="1442491" y="766445"/>
            <a:ext cx="78105" cy="7175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90" name="Shape 27">
            <a:extLst>
              <a:ext uri="{FF2B5EF4-FFF2-40B4-BE49-F238E27FC236}">
                <a16:creationId xmlns:a16="http://schemas.microsoft.com/office/drawing/2014/main" id="{8AEF772D-5152-4785-97C6-3AAEE714C259}"/>
              </a:ext>
            </a:extLst>
          </p:cNvPr>
          <p:cNvSpPr/>
          <p:nvPr/>
        </p:nvSpPr>
        <p:spPr>
          <a:xfrm flipH="1">
            <a:off x="1311046" y="766445"/>
            <a:ext cx="78105" cy="71755"/>
          </a:xfrm>
          <a:prstGeom prst="ellipse">
            <a:avLst/>
          </a:prstGeom>
          <a:solidFill>
            <a:srgbClr val="FFFFFF"/>
          </a:solidFill>
          <a:ln/>
        </p:spPr>
      </p:sp>
      <p:sp>
        <p:nvSpPr>
          <p:cNvPr id="91" name="Text 28">
            <a:extLst>
              <a:ext uri="{FF2B5EF4-FFF2-40B4-BE49-F238E27FC236}">
                <a16:creationId xmlns:a16="http://schemas.microsoft.com/office/drawing/2014/main" id="{D3CEFFED-A8F6-4EDF-A240-820BC4813F3A}"/>
              </a:ext>
            </a:extLst>
          </p:cNvPr>
          <p:cNvSpPr/>
          <p:nvPr/>
        </p:nvSpPr>
        <p:spPr>
          <a:xfrm>
            <a:off x="1311046" y="766445"/>
            <a:ext cx="78105" cy="7175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92" name="Shape 29">
            <a:extLst>
              <a:ext uri="{FF2B5EF4-FFF2-40B4-BE49-F238E27FC236}">
                <a16:creationId xmlns:a16="http://schemas.microsoft.com/office/drawing/2014/main" id="{D9A406ED-AF19-40FF-AAB4-FF14D6848656}"/>
              </a:ext>
            </a:extLst>
          </p:cNvPr>
          <p:cNvSpPr/>
          <p:nvPr/>
        </p:nvSpPr>
        <p:spPr>
          <a:xfrm flipH="1">
            <a:off x="1180236" y="766445"/>
            <a:ext cx="78105" cy="71755"/>
          </a:xfrm>
          <a:prstGeom prst="ellipse">
            <a:avLst/>
          </a:prstGeom>
          <a:solidFill>
            <a:srgbClr val="FFFFFF">
              <a:alpha val="56471"/>
            </a:srgbClr>
          </a:solidFill>
          <a:ln/>
        </p:spPr>
      </p:sp>
      <p:sp>
        <p:nvSpPr>
          <p:cNvPr id="93" name="Text 30">
            <a:extLst>
              <a:ext uri="{FF2B5EF4-FFF2-40B4-BE49-F238E27FC236}">
                <a16:creationId xmlns:a16="http://schemas.microsoft.com/office/drawing/2014/main" id="{A2F47415-A536-4D86-969A-DED4731D0C90}"/>
              </a:ext>
            </a:extLst>
          </p:cNvPr>
          <p:cNvSpPr/>
          <p:nvPr/>
        </p:nvSpPr>
        <p:spPr>
          <a:xfrm>
            <a:off x="1180236" y="766445"/>
            <a:ext cx="78105" cy="71755"/>
          </a:xfrm>
          <a:prstGeom prst="rect">
            <a:avLst/>
          </a:prstGeom>
          <a:noFill/>
          <a:ln/>
        </p:spPr>
        <p:txBody>
          <a:bodyPr wrap="square" lIns="45720" tIns="91440" rIns="91440" bIns="45720" rtlCol="0" anchor="ctr"/>
          <a:lstStyle/>
          <a:p>
            <a:pPr marL="0" indent="0">
              <a:lnSpc>
                <a:spcPct val="100000"/>
              </a:lnSpc>
              <a:buNone/>
            </a:pPr>
            <a:endParaRPr lang="en-US" sz="1600" dirty="0"/>
          </a:p>
        </p:txBody>
      </p:sp>
    </p:spTree>
    <p:extLst>
      <p:ext uri="{BB962C8B-B14F-4D97-AF65-F5344CB8AC3E}">
        <p14:creationId xmlns:p14="http://schemas.microsoft.com/office/powerpoint/2010/main" val="3740423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
            <a:extLst>
              <a:ext uri="{FF2B5EF4-FFF2-40B4-BE49-F238E27FC236}">
                <a16:creationId xmlns:a16="http://schemas.microsoft.com/office/drawing/2014/main" id="{CCB4A4D2-2BB4-4DA9-B43E-27137BDB5339}"/>
              </a:ext>
            </a:extLst>
          </p:cNvPr>
          <p:cNvSpPr/>
          <p:nvPr/>
        </p:nvSpPr>
        <p:spPr>
          <a:xfrm>
            <a:off x="-677785" y="6900072"/>
            <a:ext cx="0" cy="115582"/>
          </a:xfrm>
          <a:prstGeom prst="line">
            <a:avLst/>
          </a:prstGeom>
          <a:noFill/>
          <a:ln w="12700">
            <a:solidFill>
              <a:srgbClr val="FFFFFF"/>
            </a:solidFill>
            <a:prstDash val="solid"/>
            <a:headEnd type="none"/>
            <a:tailEnd type="none"/>
          </a:ln>
        </p:spPr>
      </p:sp>
      <p:sp>
        <p:nvSpPr>
          <p:cNvPr id="39" name="Shape 4">
            <a:extLst>
              <a:ext uri="{FF2B5EF4-FFF2-40B4-BE49-F238E27FC236}">
                <a16:creationId xmlns:a16="http://schemas.microsoft.com/office/drawing/2014/main" id="{629F0BF3-9C1D-455A-989D-5662A6554E75}"/>
              </a:ext>
            </a:extLst>
          </p:cNvPr>
          <p:cNvSpPr/>
          <p:nvPr/>
        </p:nvSpPr>
        <p:spPr>
          <a:xfrm>
            <a:off x="-590155" y="6900072"/>
            <a:ext cx="0" cy="115582"/>
          </a:xfrm>
          <a:prstGeom prst="line">
            <a:avLst/>
          </a:prstGeom>
          <a:noFill/>
          <a:ln w="12700">
            <a:solidFill>
              <a:srgbClr val="FFFFFF"/>
            </a:solidFill>
            <a:prstDash val="solid"/>
            <a:headEnd type="none"/>
            <a:tailEnd type="none"/>
          </a:ln>
        </p:spPr>
      </p:sp>
      <p:sp>
        <p:nvSpPr>
          <p:cNvPr id="40" name="Shape 5">
            <a:extLst>
              <a:ext uri="{FF2B5EF4-FFF2-40B4-BE49-F238E27FC236}">
                <a16:creationId xmlns:a16="http://schemas.microsoft.com/office/drawing/2014/main" id="{4BAB1488-3927-454B-91C5-92DB9E2C140C}"/>
              </a:ext>
            </a:extLst>
          </p:cNvPr>
          <p:cNvSpPr/>
          <p:nvPr/>
        </p:nvSpPr>
        <p:spPr>
          <a:xfrm>
            <a:off x="-501890" y="6802934"/>
            <a:ext cx="0" cy="202560"/>
          </a:xfrm>
          <a:prstGeom prst="line">
            <a:avLst/>
          </a:prstGeom>
          <a:noFill/>
          <a:ln w="12700">
            <a:solidFill>
              <a:srgbClr val="FFFFFF"/>
            </a:solidFill>
            <a:prstDash val="solid"/>
            <a:headEnd type="none"/>
            <a:tailEnd type="none"/>
          </a:ln>
        </p:spPr>
      </p:sp>
      <p:sp>
        <p:nvSpPr>
          <p:cNvPr id="41" name="Shape 6">
            <a:extLst>
              <a:ext uri="{FF2B5EF4-FFF2-40B4-BE49-F238E27FC236}">
                <a16:creationId xmlns:a16="http://schemas.microsoft.com/office/drawing/2014/main" id="{C48C4EE8-1A5E-4C21-8CC8-98EC0C7FCE10}"/>
              </a:ext>
            </a:extLst>
          </p:cNvPr>
          <p:cNvSpPr/>
          <p:nvPr/>
        </p:nvSpPr>
        <p:spPr>
          <a:xfrm>
            <a:off x="-414260" y="6900072"/>
            <a:ext cx="0" cy="115582"/>
          </a:xfrm>
          <a:prstGeom prst="line">
            <a:avLst/>
          </a:prstGeom>
          <a:noFill/>
          <a:ln w="12700">
            <a:solidFill>
              <a:srgbClr val="FFFFFF"/>
            </a:solidFill>
            <a:prstDash val="solid"/>
            <a:headEnd type="none"/>
            <a:tailEnd type="none"/>
          </a:ln>
        </p:spPr>
      </p:sp>
      <p:sp>
        <p:nvSpPr>
          <p:cNvPr id="42" name="Shape 7">
            <a:extLst>
              <a:ext uri="{FF2B5EF4-FFF2-40B4-BE49-F238E27FC236}">
                <a16:creationId xmlns:a16="http://schemas.microsoft.com/office/drawing/2014/main" id="{24CFC9BC-4D96-4575-A5D7-EB3F61E4DD11}"/>
              </a:ext>
            </a:extLst>
          </p:cNvPr>
          <p:cNvSpPr/>
          <p:nvPr/>
        </p:nvSpPr>
        <p:spPr>
          <a:xfrm>
            <a:off x="-325995" y="6900072"/>
            <a:ext cx="0" cy="115582"/>
          </a:xfrm>
          <a:prstGeom prst="line">
            <a:avLst/>
          </a:prstGeom>
          <a:noFill/>
          <a:ln w="12700">
            <a:solidFill>
              <a:srgbClr val="FFFFFF"/>
            </a:solidFill>
            <a:prstDash val="solid"/>
            <a:headEnd type="none"/>
            <a:tailEnd type="none"/>
          </a:ln>
        </p:spPr>
      </p:sp>
      <p:sp>
        <p:nvSpPr>
          <p:cNvPr id="44" name="Shape 8">
            <a:extLst>
              <a:ext uri="{FF2B5EF4-FFF2-40B4-BE49-F238E27FC236}">
                <a16:creationId xmlns:a16="http://schemas.microsoft.com/office/drawing/2014/main" id="{68365C8C-B9FF-4915-8B90-B9D14EE9711E}"/>
              </a:ext>
            </a:extLst>
          </p:cNvPr>
          <p:cNvSpPr/>
          <p:nvPr/>
        </p:nvSpPr>
        <p:spPr>
          <a:xfrm flipH="1">
            <a:off x="1200879" y="1125759"/>
            <a:ext cx="49439" cy="65963"/>
          </a:xfrm>
          <a:prstGeom prst="ellipse">
            <a:avLst/>
          </a:prstGeom>
          <a:solidFill>
            <a:srgbClr val="FFFFFF"/>
          </a:solidFill>
          <a:ln/>
        </p:spPr>
      </p:sp>
      <p:sp>
        <p:nvSpPr>
          <p:cNvPr id="45" name="Text 9">
            <a:extLst>
              <a:ext uri="{FF2B5EF4-FFF2-40B4-BE49-F238E27FC236}">
                <a16:creationId xmlns:a16="http://schemas.microsoft.com/office/drawing/2014/main" id="{077603D5-C8B1-4A4E-8CE0-1668DAB27C23}"/>
              </a:ext>
            </a:extLst>
          </p:cNvPr>
          <p:cNvSpPr/>
          <p:nvPr/>
        </p:nvSpPr>
        <p:spPr>
          <a:xfrm>
            <a:off x="1200880" y="1125759"/>
            <a:ext cx="49439" cy="65963"/>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6" name="Shape 10">
            <a:extLst>
              <a:ext uri="{FF2B5EF4-FFF2-40B4-BE49-F238E27FC236}">
                <a16:creationId xmlns:a16="http://schemas.microsoft.com/office/drawing/2014/main" id="{0DB4F5B8-7D0D-492F-BE6A-EB6445BF10C2}"/>
              </a:ext>
            </a:extLst>
          </p:cNvPr>
          <p:cNvSpPr/>
          <p:nvPr/>
        </p:nvSpPr>
        <p:spPr>
          <a:xfrm flipH="1">
            <a:off x="1072609" y="1125759"/>
            <a:ext cx="49439" cy="65963"/>
          </a:xfrm>
          <a:prstGeom prst="ellipse">
            <a:avLst/>
          </a:prstGeom>
          <a:solidFill>
            <a:srgbClr val="FFFFFF">
              <a:alpha val="56471"/>
            </a:srgbClr>
          </a:solidFill>
          <a:ln/>
        </p:spPr>
      </p:sp>
      <p:sp>
        <p:nvSpPr>
          <p:cNvPr id="47" name="Text 11">
            <a:extLst>
              <a:ext uri="{FF2B5EF4-FFF2-40B4-BE49-F238E27FC236}">
                <a16:creationId xmlns:a16="http://schemas.microsoft.com/office/drawing/2014/main" id="{524B1138-FBA2-4932-A7C8-8F494CA169D8}"/>
              </a:ext>
            </a:extLst>
          </p:cNvPr>
          <p:cNvSpPr/>
          <p:nvPr/>
        </p:nvSpPr>
        <p:spPr>
          <a:xfrm>
            <a:off x="1072610" y="1125759"/>
            <a:ext cx="49439" cy="65963"/>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8" name="Shape 12">
            <a:extLst>
              <a:ext uri="{FF2B5EF4-FFF2-40B4-BE49-F238E27FC236}">
                <a16:creationId xmlns:a16="http://schemas.microsoft.com/office/drawing/2014/main" id="{07D8F1FD-CE11-4B82-8911-25CB209134A2}"/>
              </a:ext>
            </a:extLst>
          </p:cNvPr>
          <p:cNvSpPr/>
          <p:nvPr/>
        </p:nvSpPr>
        <p:spPr>
          <a:xfrm flipH="1">
            <a:off x="941164" y="1125759"/>
            <a:ext cx="49439" cy="65963"/>
          </a:xfrm>
          <a:prstGeom prst="ellipse">
            <a:avLst/>
          </a:prstGeom>
          <a:solidFill>
            <a:srgbClr val="FFFFFF"/>
          </a:solidFill>
          <a:ln/>
        </p:spPr>
      </p:sp>
      <p:sp>
        <p:nvSpPr>
          <p:cNvPr id="49" name="Text 13">
            <a:extLst>
              <a:ext uri="{FF2B5EF4-FFF2-40B4-BE49-F238E27FC236}">
                <a16:creationId xmlns:a16="http://schemas.microsoft.com/office/drawing/2014/main" id="{2EAE7E7C-7E25-4754-8159-0EDE0E26B4FC}"/>
              </a:ext>
            </a:extLst>
          </p:cNvPr>
          <p:cNvSpPr/>
          <p:nvPr/>
        </p:nvSpPr>
        <p:spPr>
          <a:xfrm>
            <a:off x="941165" y="1125759"/>
            <a:ext cx="49439" cy="65963"/>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50" name="Shape 14">
            <a:extLst>
              <a:ext uri="{FF2B5EF4-FFF2-40B4-BE49-F238E27FC236}">
                <a16:creationId xmlns:a16="http://schemas.microsoft.com/office/drawing/2014/main" id="{E4D9DF1C-4A48-43BF-83A9-92AF1EA27D5A}"/>
              </a:ext>
            </a:extLst>
          </p:cNvPr>
          <p:cNvSpPr/>
          <p:nvPr/>
        </p:nvSpPr>
        <p:spPr>
          <a:xfrm flipH="1">
            <a:off x="810354" y="1125759"/>
            <a:ext cx="49439" cy="65963"/>
          </a:xfrm>
          <a:prstGeom prst="ellipse">
            <a:avLst/>
          </a:prstGeom>
          <a:solidFill>
            <a:srgbClr val="FFFFFF">
              <a:alpha val="56471"/>
            </a:srgbClr>
          </a:solidFill>
          <a:ln/>
        </p:spPr>
      </p:sp>
      <p:sp>
        <p:nvSpPr>
          <p:cNvPr id="51" name="Text 15">
            <a:extLst>
              <a:ext uri="{FF2B5EF4-FFF2-40B4-BE49-F238E27FC236}">
                <a16:creationId xmlns:a16="http://schemas.microsoft.com/office/drawing/2014/main" id="{EA887029-1AD8-4156-A014-CAB62AA33088}"/>
              </a:ext>
            </a:extLst>
          </p:cNvPr>
          <p:cNvSpPr/>
          <p:nvPr/>
        </p:nvSpPr>
        <p:spPr>
          <a:xfrm>
            <a:off x="810355" y="1125759"/>
            <a:ext cx="49439" cy="65963"/>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3" name="Text 2">
            <a:extLst>
              <a:ext uri="{FF2B5EF4-FFF2-40B4-BE49-F238E27FC236}">
                <a16:creationId xmlns:a16="http://schemas.microsoft.com/office/drawing/2014/main" id="{975F3100-4101-4084-9C46-A2B552F2F9CE}"/>
              </a:ext>
            </a:extLst>
          </p:cNvPr>
          <p:cNvSpPr/>
          <p:nvPr/>
        </p:nvSpPr>
        <p:spPr>
          <a:xfrm>
            <a:off x="-58560" y="782255"/>
            <a:ext cx="9261122" cy="858458"/>
          </a:xfrm>
          <a:prstGeom prst="rect">
            <a:avLst/>
          </a:prstGeom>
          <a:noFill/>
          <a:ln/>
        </p:spPr>
        <p:txBody>
          <a:bodyPr wrap="square" lIns="91440" tIns="45720" rIns="91440" bIns="45720" rtlCol="0" anchor="t"/>
          <a:lstStyle/>
          <a:p>
            <a:pPr marL="0" indent="0" algn="l">
              <a:lnSpc>
                <a:spcPct val="100000"/>
              </a:lnSpc>
              <a:buNone/>
            </a:pPr>
            <a:r>
              <a:rPr lang="zh-CN" altLang="en-US" sz="2400" b="1" dirty="0">
                <a:latin typeface="微软雅黑" panose="020B0503020204020204" pitchFamily="34" charset="-122"/>
                <a:ea typeface="微软雅黑" panose="020B0503020204020204" pitchFamily="34" charset="-122"/>
                <a:cs typeface="MiSans" panose="02010600030101010101" charset="-122"/>
              </a:rPr>
              <a:t>目标：将专家执行的全长轨迹分割成与微指令一一对应的子轨迹。</a:t>
            </a:r>
          </a:p>
          <a:p>
            <a:pPr marL="0" indent="0" algn="l">
              <a:lnSpc>
                <a:spcPct val="100000"/>
              </a:lnSpc>
              <a:buNone/>
            </a:pPr>
            <a:r>
              <a:rPr lang="zh-CN" altLang="en-US" sz="2400" b="1" dirty="0">
                <a:latin typeface="微软雅黑" panose="020B0503020204020204" pitchFamily="34" charset="-122"/>
                <a:ea typeface="微软雅黑" panose="020B0503020204020204" pitchFamily="34" charset="-122"/>
                <a:cs typeface="MiSans" panose="02010600030101010101" charset="-122"/>
              </a:rPr>
              <a:t>方法：基于视觉地标识别和动态规划（</a:t>
            </a:r>
            <a:r>
              <a:rPr lang="en-US" altLang="zh-CN" sz="2400" b="1" dirty="0">
                <a:latin typeface="微软雅黑" panose="020B0503020204020204" pitchFamily="34" charset="-122"/>
                <a:ea typeface="微软雅黑" panose="020B0503020204020204" pitchFamily="34" charset="-122"/>
                <a:cs typeface="MiSans" panose="02010600030101010101" charset="-122"/>
              </a:rPr>
              <a:t>DP</a:t>
            </a:r>
            <a:r>
              <a:rPr lang="zh-CN" altLang="en-US" sz="2400" b="1" dirty="0">
                <a:latin typeface="微软雅黑" panose="020B0503020204020204" pitchFamily="34" charset="-122"/>
                <a:ea typeface="微软雅黑" panose="020B0503020204020204" pitchFamily="34" charset="-122"/>
                <a:cs typeface="MiSans" panose="02010600030101010101" charset="-122"/>
              </a:rPr>
              <a:t>）</a:t>
            </a:r>
          </a:p>
          <a:p>
            <a:pPr marL="0" indent="0" algn="l">
              <a:lnSpc>
                <a:spcPct val="100000"/>
              </a:lnSpc>
              <a:buNone/>
            </a:pPr>
            <a:endParaRPr lang="zh-CN" altLang="en-US" sz="2800" b="1" dirty="0">
              <a:latin typeface="微软雅黑" panose="020B0503020204020204" pitchFamily="34" charset="-122"/>
              <a:ea typeface="微软雅黑" panose="020B0503020204020204" pitchFamily="34" charset="-122"/>
              <a:cs typeface="MiSans" panose="02010600030101010101" charset="-122"/>
            </a:endParaRPr>
          </a:p>
        </p:txBody>
      </p:sp>
      <p:sp>
        <p:nvSpPr>
          <p:cNvPr id="64" name="Shape 3">
            <a:extLst>
              <a:ext uri="{FF2B5EF4-FFF2-40B4-BE49-F238E27FC236}">
                <a16:creationId xmlns:a16="http://schemas.microsoft.com/office/drawing/2014/main" id="{99A245DD-B593-4960-8CB9-B4E714DCA42B}"/>
              </a:ext>
            </a:extLst>
          </p:cNvPr>
          <p:cNvSpPr/>
          <p:nvPr/>
        </p:nvSpPr>
        <p:spPr>
          <a:xfrm>
            <a:off x="-251241" y="5944476"/>
            <a:ext cx="0" cy="101467"/>
          </a:xfrm>
          <a:prstGeom prst="line">
            <a:avLst/>
          </a:prstGeom>
          <a:noFill/>
          <a:ln w="12700">
            <a:solidFill>
              <a:srgbClr val="FFFFFF"/>
            </a:solidFill>
            <a:prstDash val="solid"/>
            <a:headEnd type="none"/>
            <a:tailEnd type="none"/>
          </a:ln>
        </p:spPr>
      </p:sp>
      <p:sp>
        <p:nvSpPr>
          <p:cNvPr id="65" name="Shape 4">
            <a:extLst>
              <a:ext uri="{FF2B5EF4-FFF2-40B4-BE49-F238E27FC236}">
                <a16:creationId xmlns:a16="http://schemas.microsoft.com/office/drawing/2014/main" id="{D285B36B-BA6B-47E7-912C-C69A480B5E7B}"/>
              </a:ext>
            </a:extLst>
          </p:cNvPr>
          <p:cNvSpPr/>
          <p:nvPr/>
        </p:nvSpPr>
        <p:spPr>
          <a:xfrm>
            <a:off x="-163611" y="5944476"/>
            <a:ext cx="0" cy="101467"/>
          </a:xfrm>
          <a:prstGeom prst="line">
            <a:avLst/>
          </a:prstGeom>
          <a:noFill/>
          <a:ln w="12700">
            <a:solidFill>
              <a:srgbClr val="FFFFFF"/>
            </a:solidFill>
            <a:prstDash val="solid"/>
            <a:headEnd type="none"/>
            <a:tailEnd type="none"/>
          </a:ln>
        </p:spPr>
      </p:sp>
      <p:sp>
        <p:nvSpPr>
          <p:cNvPr id="66" name="Shape 5">
            <a:extLst>
              <a:ext uri="{FF2B5EF4-FFF2-40B4-BE49-F238E27FC236}">
                <a16:creationId xmlns:a16="http://schemas.microsoft.com/office/drawing/2014/main" id="{B162677F-4236-4123-9675-D9B75B9DA17D}"/>
              </a:ext>
            </a:extLst>
          </p:cNvPr>
          <p:cNvSpPr/>
          <p:nvPr/>
        </p:nvSpPr>
        <p:spPr>
          <a:xfrm>
            <a:off x="-142354" y="5338680"/>
            <a:ext cx="0" cy="177823"/>
          </a:xfrm>
          <a:prstGeom prst="line">
            <a:avLst/>
          </a:prstGeom>
          <a:noFill/>
          <a:ln w="12700">
            <a:solidFill>
              <a:srgbClr val="FFFFFF"/>
            </a:solidFill>
            <a:prstDash val="solid"/>
            <a:headEnd type="none"/>
            <a:tailEnd type="none"/>
          </a:ln>
        </p:spPr>
      </p:sp>
      <p:sp>
        <p:nvSpPr>
          <p:cNvPr id="67" name="Shape 6">
            <a:extLst>
              <a:ext uri="{FF2B5EF4-FFF2-40B4-BE49-F238E27FC236}">
                <a16:creationId xmlns:a16="http://schemas.microsoft.com/office/drawing/2014/main" id="{D66491B3-BD94-495F-831E-04A11DBB22E1}"/>
              </a:ext>
            </a:extLst>
          </p:cNvPr>
          <p:cNvSpPr/>
          <p:nvPr/>
        </p:nvSpPr>
        <p:spPr>
          <a:xfrm>
            <a:off x="-54724" y="5425195"/>
            <a:ext cx="0" cy="101467"/>
          </a:xfrm>
          <a:prstGeom prst="line">
            <a:avLst/>
          </a:prstGeom>
          <a:noFill/>
          <a:ln w="12700">
            <a:solidFill>
              <a:srgbClr val="FFFFFF"/>
            </a:solidFill>
            <a:prstDash val="solid"/>
            <a:headEnd type="none"/>
            <a:tailEnd type="none"/>
          </a:ln>
        </p:spPr>
      </p:sp>
      <p:sp>
        <p:nvSpPr>
          <p:cNvPr id="68" name="Shape 7">
            <a:extLst>
              <a:ext uri="{FF2B5EF4-FFF2-40B4-BE49-F238E27FC236}">
                <a16:creationId xmlns:a16="http://schemas.microsoft.com/office/drawing/2014/main" id="{F2F52D77-5E21-4FCB-A0B3-B7F1B9C1E5EC}"/>
              </a:ext>
            </a:extLst>
          </p:cNvPr>
          <p:cNvSpPr/>
          <p:nvPr/>
        </p:nvSpPr>
        <p:spPr>
          <a:xfrm>
            <a:off x="33541" y="5425195"/>
            <a:ext cx="0" cy="101467"/>
          </a:xfrm>
          <a:prstGeom prst="line">
            <a:avLst/>
          </a:prstGeom>
          <a:noFill/>
          <a:ln w="12700">
            <a:solidFill>
              <a:srgbClr val="FFFFFF"/>
            </a:solidFill>
            <a:prstDash val="solid"/>
            <a:headEnd type="none"/>
            <a:tailEnd type="none"/>
          </a:ln>
        </p:spPr>
      </p:sp>
      <p:sp>
        <p:nvSpPr>
          <p:cNvPr id="100" name="Text 8">
            <a:extLst>
              <a:ext uri="{FF2B5EF4-FFF2-40B4-BE49-F238E27FC236}">
                <a16:creationId xmlns:a16="http://schemas.microsoft.com/office/drawing/2014/main" id="{474FF9B3-7D7A-462D-BC75-06A0EEB826F0}"/>
              </a:ext>
            </a:extLst>
          </p:cNvPr>
          <p:cNvSpPr/>
          <p:nvPr/>
        </p:nvSpPr>
        <p:spPr>
          <a:xfrm>
            <a:off x="395817" y="2941383"/>
            <a:ext cx="2501681" cy="276225"/>
          </a:xfrm>
          <a:prstGeom prst="rect">
            <a:avLst/>
          </a:prstGeom>
          <a:noFill/>
          <a:ln/>
        </p:spPr>
        <p:txBody>
          <a:bodyPr wrap="square" lIns="0" tIns="0" rIns="0" bIns="0" rtlCol="0" anchor="t">
            <a:spAutoFit/>
          </a:bodyPr>
          <a:lstStyle/>
          <a:p>
            <a:pPr marL="0" indent="0" algn="l">
              <a:lnSpc>
                <a:spcPct val="100000"/>
              </a:lnSpc>
              <a:buNone/>
            </a:pPr>
            <a:r>
              <a:rPr lang="zh-CN" altLang="en-US" sz="1800" b="1" dirty="0">
                <a:latin typeface="微软雅黑" panose="020B0503020204020204" pitchFamily="34" charset="-122"/>
                <a:ea typeface="微软雅黑" panose="020B0503020204020204" pitchFamily="34" charset="-122"/>
                <a:cs typeface="MiSans" panose="02010600030101010101" charset="-122"/>
              </a:rPr>
              <a:t>弱监督地标分类器：</a:t>
            </a:r>
          </a:p>
        </p:txBody>
      </p:sp>
      <p:sp>
        <p:nvSpPr>
          <p:cNvPr id="101" name="Text 9">
            <a:extLst>
              <a:ext uri="{FF2B5EF4-FFF2-40B4-BE49-F238E27FC236}">
                <a16:creationId xmlns:a16="http://schemas.microsoft.com/office/drawing/2014/main" id="{E87E747E-4DCF-42B6-B18D-A5F3AEA62EE4}"/>
              </a:ext>
            </a:extLst>
          </p:cNvPr>
          <p:cNvSpPr/>
          <p:nvPr/>
        </p:nvSpPr>
        <p:spPr>
          <a:xfrm>
            <a:off x="54526" y="3452364"/>
            <a:ext cx="2911569" cy="2951898"/>
          </a:xfrm>
          <a:prstGeom prst="rect">
            <a:avLst/>
          </a:prstGeom>
          <a:noFill/>
          <a:ln/>
        </p:spPr>
        <p:txBody>
          <a:bodyPr wrap="square" lIns="91440" tIns="45720" rIns="91440" bIns="45720" rtlCol="0" anchor="t">
            <a:spAutoFit/>
          </a:bodyPr>
          <a:lstStyle/>
          <a:p>
            <a:pPr marL="0" indent="0" algn="just">
              <a:lnSpc>
                <a:spcPct val="150000"/>
              </a:lnSpc>
              <a:buNone/>
            </a:pPr>
            <a:r>
              <a:rPr lang="zh-CN" altLang="en-US" dirty="0">
                <a:latin typeface="微软雅黑" panose="020B0503020204020204" pitchFamily="34" charset="-122"/>
                <a:ea typeface="微软雅黑" panose="020B0503020204020204" pitchFamily="34" charset="-122"/>
                <a:cs typeface="MiSans" panose="02010600030101010101" charset="-122"/>
              </a:rPr>
              <a:t>训练一个</a:t>
            </a:r>
            <a:r>
              <a:rPr lang="en-US" altLang="zh-CN" dirty="0">
                <a:latin typeface="微软雅黑" panose="020B0503020204020204" pitchFamily="34" charset="-122"/>
                <a:ea typeface="微软雅黑" panose="020B0503020204020204" pitchFamily="34" charset="-122"/>
                <a:cs typeface="MiSans" panose="02010600030101010101" charset="-122"/>
              </a:rPr>
              <a:t>CNN</a:t>
            </a:r>
            <a:r>
              <a:rPr lang="zh-CN" altLang="en-US" dirty="0">
                <a:latin typeface="微软雅黑" panose="020B0503020204020204" pitchFamily="34" charset="-122"/>
                <a:ea typeface="微软雅黑" panose="020B0503020204020204" pitchFamily="34" charset="-122"/>
                <a:cs typeface="MiSans" panose="02010600030101010101" charset="-122"/>
              </a:rPr>
              <a:t>模型，输入当前视角的图像特征，预测所有可能地标的出现概率。</a:t>
            </a:r>
          </a:p>
          <a:p>
            <a:pPr marL="0" indent="0" algn="just">
              <a:lnSpc>
                <a:spcPct val="150000"/>
              </a:lnSpc>
              <a:buNone/>
            </a:pPr>
            <a:r>
              <a:rPr lang="zh-CN" altLang="en-US" dirty="0">
                <a:latin typeface="微软雅黑" panose="020B0503020204020204" pitchFamily="34" charset="-122"/>
                <a:ea typeface="微软雅黑" panose="020B0503020204020204" pitchFamily="34" charset="-122"/>
                <a:cs typeface="MiSans" panose="02010600030101010101" charset="-122"/>
              </a:rPr>
              <a:t>监督信号：仅使用整个轨迹的指令中出现的所有地标词作为弱标签。</a:t>
            </a:r>
          </a:p>
        </p:txBody>
      </p:sp>
      <p:sp>
        <p:nvSpPr>
          <p:cNvPr id="102" name="Shape 10">
            <a:extLst>
              <a:ext uri="{FF2B5EF4-FFF2-40B4-BE49-F238E27FC236}">
                <a16:creationId xmlns:a16="http://schemas.microsoft.com/office/drawing/2014/main" id="{2240862F-846B-43EA-9EA1-EAA91BD9D425}"/>
              </a:ext>
            </a:extLst>
          </p:cNvPr>
          <p:cNvSpPr/>
          <p:nvPr/>
        </p:nvSpPr>
        <p:spPr>
          <a:xfrm>
            <a:off x="181910" y="2056477"/>
            <a:ext cx="462915" cy="541020"/>
          </a:xfrm>
          <a:prstGeom prst="rect">
            <a:avLst/>
          </a:prstGeom>
          <a:solidFill>
            <a:srgbClr val="000000">
              <a:alpha val="0"/>
            </a:srgbClr>
          </a:solidFill>
          <a:ln/>
        </p:spPr>
      </p:sp>
      <p:sp>
        <p:nvSpPr>
          <p:cNvPr id="103" name="Text 11">
            <a:extLst>
              <a:ext uri="{FF2B5EF4-FFF2-40B4-BE49-F238E27FC236}">
                <a16:creationId xmlns:a16="http://schemas.microsoft.com/office/drawing/2014/main" id="{7A46C69D-94C2-4065-BAAA-C05BAB909B49}"/>
              </a:ext>
            </a:extLst>
          </p:cNvPr>
          <p:cNvSpPr/>
          <p:nvPr/>
        </p:nvSpPr>
        <p:spPr>
          <a:xfrm>
            <a:off x="181910" y="2092081"/>
            <a:ext cx="533400" cy="505416"/>
          </a:xfrm>
          <a:prstGeom prst="rect">
            <a:avLst/>
          </a:prstGeom>
          <a:noFill/>
          <a:ln/>
        </p:spPr>
        <p:txBody>
          <a:bodyPr wrap="square" lIns="0" tIns="0" rIns="0" bIns="0" rtlCol="0" anchor="t"/>
          <a:lstStyle/>
          <a:p>
            <a:pPr marL="0" indent="0" algn="l">
              <a:lnSpc>
                <a:spcPct val="110000"/>
              </a:lnSpc>
              <a:buNone/>
            </a:pPr>
            <a:r>
              <a:rPr lang="en-US" sz="3200" dirty="0">
                <a:latin typeface="微软雅黑" panose="020B0503020204020204" pitchFamily="34" charset="-122"/>
                <a:ea typeface="微软雅黑" panose="020B0503020204020204" pitchFamily="34" charset="-122"/>
                <a:cs typeface="MiSans" pitchFamily="34" charset="-120"/>
              </a:rPr>
              <a:t>01</a:t>
            </a:r>
            <a:endParaRPr lang="en-US" sz="1600" dirty="0"/>
          </a:p>
        </p:txBody>
      </p:sp>
      <p:sp>
        <p:nvSpPr>
          <p:cNvPr id="104" name="Shape 12">
            <a:extLst>
              <a:ext uri="{FF2B5EF4-FFF2-40B4-BE49-F238E27FC236}">
                <a16:creationId xmlns:a16="http://schemas.microsoft.com/office/drawing/2014/main" id="{8BDE13AE-C675-40BA-A2C0-F926D6EA77F5}"/>
              </a:ext>
            </a:extLst>
          </p:cNvPr>
          <p:cNvSpPr/>
          <p:nvPr/>
        </p:nvSpPr>
        <p:spPr>
          <a:xfrm>
            <a:off x="6197028" y="2912171"/>
            <a:ext cx="3057361" cy="3533220"/>
          </a:xfrm>
          <a:prstGeom prst="rect">
            <a:avLst/>
          </a:prstGeom>
          <a:solidFill>
            <a:srgbClr val="FFFFFF">
              <a:alpha val="8235"/>
            </a:srgbClr>
          </a:solidFill>
          <a:ln/>
        </p:spPr>
      </p:sp>
      <p:sp>
        <p:nvSpPr>
          <p:cNvPr id="105" name="Text 13">
            <a:extLst>
              <a:ext uri="{FF2B5EF4-FFF2-40B4-BE49-F238E27FC236}">
                <a16:creationId xmlns:a16="http://schemas.microsoft.com/office/drawing/2014/main" id="{EC2929D6-3E06-4362-9B69-C4CE112F3012}"/>
              </a:ext>
            </a:extLst>
          </p:cNvPr>
          <p:cNvSpPr/>
          <p:nvPr/>
        </p:nvSpPr>
        <p:spPr>
          <a:xfrm>
            <a:off x="6197028" y="2912171"/>
            <a:ext cx="3057361" cy="353322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06" name="Text 14">
            <a:extLst>
              <a:ext uri="{FF2B5EF4-FFF2-40B4-BE49-F238E27FC236}">
                <a16:creationId xmlns:a16="http://schemas.microsoft.com/office/drawing/2014/main" id="{D95129CA-2A68-43A1-88AC-3D907A9AA998}"/>
              </a:ext>
            </a:extLst>
          </p:cNvPr>
          <p:cNvSpPr/>
          <p:nvPr/>
        </p:nvSpPr>
        <p:spPr>
          <a:xfrm>
            <a:off x="6637718" y="3142831"/>
            <a:ext cx="2494713" cy="276225"/>
          </a:xfrm>
          <a:prstGeom prst="rect">
            <a:avLst/>
          </a:prstGeom>
          <a:noFill/>
          <a:ln/>
        </p:spPr>
        <p:txBody>
          <a:bodyPr wrap="square" lIns="0" tIns="0" rIns="0" bIns="0" rtlCol="0" anchor="t">
            <a:spAutoFit/>
          </a:bodyPr>
          <a:lstStyle/>
          <a:p>
            <a:pPr marL="0" indent="0" algn="l">
              <a:lnSpc>
                <a:spcPct val="100000"/>
              </a:lnSpc>
              <a:buNone/>
            </a:pPr>
            <a:r>
              <a:rPr lang="zh-CN" altLang="en-US" sz="1800" b="1" dirty="0">
                <a:latin typeface="微软雅黑" panose="020B0503020204020204" pitchFamily="34" charset="-122"/>
                <a:ea typeface="微软雅黑" panose="020B0503020204020204" pitchFamily="34" charset="-122"/>
                <a:cs typeface="MiSans" panose="02010600030101010101" charset="-122"/>
              </a:rPr>
              <a:t>动态规划分割：</a:t>
            </a:r>
          </a:p>
        </p:txBody>
      </p:sp>
      <p:sp>
        <p:nvSpPr>
          <p:cNvPr id="107" name="Text 15">
            <a:extLst>
              <a:ext uri="{FF2B5EF4-FFF2-40B4-BE49-F238E27FC236}">
                <a16:creationId xmlns:a16="http://schemas.microsoft.com/office/drawing/2014/main" id="{9AEE5BED-5571-4086-BB94-D8337181E9BA}"/>
              </a:ext>
            </a:extLst>
          </p:cNvPr>
          <p:cNvSpPr/>
          <p:nvPr/>
        </p:nvSpPr>
        <p:spPr>
          <a:xfrm>
            <a:off x="6197029" y="3707096"/>
            <a:ext cx="3010968" cy="2536400"/>
          </a:xfrm>
          <a:prstGeom prst="rect">
            <a:avLst/>
          </a:prstGeom>
          <a:noFill/>
          <a:ln/>
        </p:spPr>
        <p:txBody>
          <a:bodyPr wrap="square" lIns="91440" tIns="45720" rIns="91440" bIns="45720" rtlCol="0" anchor="t">
            <a:spAutoFit/>
          </a:bodyPr>
          <a:lstStyle/>
          <a:p>
            <a:pPr marL="0" indent="0" algn="just">
              <a:lnSpc>
                <a:spcPct val="150000"/>
              </a:lnSpc>
              <a:buNone/>
            </a:pPr>
            <a:r>
              <a:rPr lang="zh-CN" altLang="en-US" dirty="0">
                <a:latin typeface="微软雅黑" panose="020B0503020204020204" pitchFamily="34" charset="-122"/>
                <a:ea typeface="微软雅黑" panose="020B0503020204020204" pitchFamily="34" charset="-122"/>
                <a:cs typeface="MiSans" panose="02010600030101010101" charset="-122"/>
              </a:rPr>
              <a:t>使用</a:t>
            </a:r>
            <a:r>
              <a:rPr lang="en-US" altLang="zh-CN" dirty="0">
                <a:latin typeface="微软雅黑" panose="020B0503020204020204" pitchFamily="34" charset="-122"/>
                <a:ea typeface="微软雅黑" panose="020B0503020204020204" pitchFamily="34" charset="-122"/>
                <a:cs typeface="MiSans" panose="02010600030101010101" charset="-122"/>
              </a:rPr>
              <a:t>DP</a:t>
            </a:r>
            <a:r>
              <a:rPr lang="zh-CN" altLang="en-US" dirty="0">
                <a:latin typeface="微软雅黑" panose="020B0503020204020204" pitchFamily="34" charset="-122"/>
                <a:ea typeface="微软雅黑" panose="020B0503020204020204" pitchFamily="34" charset="-122"/>
                <a:cs typeface="MiSans" panose="02010600030101010101" charset="-122"/>
              </a:rPr>
              <a:t>算法寻找将整个轨迹切成</a:t>
            </a:r>
            <a:r>
              <a:rPr lang="en-US" altLang="zh-CN" dirty="0">
                <a:latin typeface="微软雅黑" panose="020B0503020204020204" pitchFamily="34" charset="-122"/>
                <a:ea typeface="微软雅黑" panose="020B0503020204020204" pitchFamily="34" charset="-122"/>
                <a:cs typeface="MiSans" panose="02010600030101010101" charset="-122"/>
              </a:rPr>
              <a:t>M</a:t>
            </a:r>
            <a:r>
              <a:rPr lang="zh-CN" altLang="en-US" dirty="0">
                <a:latin typeface="微软雅黑" panose="020B0503020204020204" pitchFamily="34" charset="-122"/>
                <a:ea typeface="微软雅黑" panose="020B0503020204020204" pitchFamily="34" charset="-122"/>
                <a:cs typeface="MiSans" panose="02010600030101010101" charset="-122"/>
              </a:rPr>
              <a:t>段的最佳分割点。</a:t>
            </a:r>
          </a:p>
          <a:p>
            <a:pPr marL="0" indent="0" algn="just">
              <a:lnSpc>
                <a:spcPct val="150000"/>
              </a:lnSpc>
              <a:buNone/>
            </a:pPr>
            <a:r>
              <a:rPr lang="en-US" altLang="zh-CN" dirty="0">
                <a:latin typeface="微软雅黑" panose="020B0503020204020204" pitchFamily="34" charset="-122"/>
                <a:ea typeface="微软雅黑" panose="020B0503020204020204" pitchFamily="34" charset="-122"/>
                <a:cs typeface="MiSans" panose="02010600030101010101" charset="-122"/>
              </a:rPr>
              <a:t>DP</a:t>
            </a:r>
            <a:r>
              <a:rPr lang="zh-CN" altLang="en-US" dirty="0">
                <a:latin typeface="微软雅黑" panose="020B0503020204020204" pitchFamily="34" charset="-122"/>
                <a:ea typeface="微软雅黑" panose="020B0503020204020204" pitchFamily="34" charset="-122"/>
                <a:cs typeface="MiSans" panose="02010600030101010101" charset="-122"/>
              </a:rPr>
              <a:t>的目标是找到一种分割方式，使得每一段轨迹的视觉地标与对应微指令中的地标词的总体匹配度最高。</a:t>
            </a:r>
            <a:endParaRPr lang="en-US" altLang="zh-CN" sz="2000" dirty="0">
              <a:latin typeface="微软雅黑" panose="020B0503020204020204" pitchFamily="34" charset="-122"/>
              <a:ea typeface="微软雅黑" panose="020B0503020204020204" pitchFamily="34" charset="-122"/>
              <a:cs typeface="MiSans" panose="02010600030101010101" charset="-122"/>
            </a:endParaRPr>
          </a:p>
        </p:txBody>
      </p:sp>
      <p:sp>
        <p:nvSpPr>
          <p:cNvPr id="108" name="Shape 16">
            <a:extLst>
              <a:ext uri="{FF2B5EF4-FFF2-40B4-BE49-F238E27FC236}">
                <a16:creationId xmlns:a16="http://schemas.microsoft.com/office/drawing/2014/main" id="{01FD251A-5513-4499-A48A-A23B57687ABD}"/>
              </a:ext>
            </a:extLst>
          </p:cNvPr>
          <p:cNvSpPr/>
          <p:nvPr/>
        </p:nvSpPr>
        <p:spPr>
          <a:xfrm>
            <a:off x="6292370" y="2089548"/>
            <a:ext cx="533400" cy="541020"/>
          </a:xfrm>
          <a:prstGeom prst="rect">
            <a:avLst/>
          </a:prstGeom>
          <a:solidFill>
            <a:srgbClr val="000000">
              <a:alpha val="0"/>
            </a:srgbClr>
          </a:solidFill>
          <a:ln/>
        </p:spPr>
      </p:sp>
      <p:sp>
        <p:nvSpPr>
          <p:cNvPr id="109" name="Text 17">
            <a:extLst>
              <a:ext uri="{FF2B5EF4-FFF2-40B4-BE49-F238E27FC236}">
                <a16:creationId xmlns:a16="http://schemas.microsoft.com/office/drawing/2014/main" id="{CCFB457D-72B2-442E-8F1F-5607993A93F3}"/>
              </a:ext>
            </a:extLst>
          </p:cNvPr>
          <p:cNvSpPr/>
          <p:nvPr/>
        </p:nvSpPr>
        <p:spPr>
          <a:xfrm>
            <a:off x="6296427" y="2197368"/>
            <a:ext cx="533400" cy="541020"/>
          </a:xfrm>
          <a:prstGeom prst="rect">
            <a:avLst/>
          </a:prstGeom>
          <a:noFill/>
          <a:ln/>
        </p:spPr>
        <p:txBody>
          <a:bodyPr wrap="square" lIns="0" tIns="0" rIns="0" bIns="0" rtlCol="0" anchor="t"/>
          <a:lstStyle/>
          <a:p>
            <a:pPr marL="0" indent="0" algn="l">
              <a:lnSpc>
                <a:spcPct val="110000"/>
              </a:lnSpc>
              <a:buNone/>
            </a:pPr>
            <a:r>
              <a:rPr lang="en-US" sz="3200" dirty="0">
                <a:latin typeface="微软雅黑" panose="020B0503020204020204" pitchFamily="34" charset="-122"/>
                <a:ea typeface="微软雅黑" panose="020B0503020204020204" pitchFamily="34" charset="-122"/>
                <a:cs typeface="MiSans" pitchFamily="34" charset="-120"/>
              </a:rPr>
              <a:t>03</a:t>
            </a:r>
            <a:endParaRPr lang="en-US" sz="1600" dirty="0"/>
          </a:p>
        </p:txBody>
      </p:sp>
      <p:sp>
        <p:nvSpPr>
          <p:cNvPr id="110" name="Text 18">
            <a:extLst>
              <a:ext uri="{FF2B5EF4-FFF2-40B4-BE49-F238E27FC236}">
                <a16:creationId xmlns:a16="http://schemas.microsoft.com/office/drawing/2014/main" id="{256D6B60-369A-45D2-916D-4C675E7241A4}"/>
              </a:ext>
            </a:extLst>
          </p:cNvPr>
          <p:cNvSpPr/>
          <p:nvPr/>
        </p:nvSpPr>
        <p:spPr>
          <a:xfrm>
            <a:off x="3544667" y="2197368"/>
            <a:ext cx="2501681" cy="276225"/>
          </a:xfrm>
          <a:prstGeom prst="rect">
            <a:avLst/>
          </a:prstGeom>
          <a:noFill/>
          <a:ln/>
        </p:spPr>
        <p:txBody>
          <a:bodyPr wrap="square" lIns="0" tIns="0" rIns="0" bIns="0" rtlCol="0" anchor="t">
            <a:spAutoFit/>
          </a:bodyPr>
          <a:lstStyle/>
          <a:p>
            <a:pPr marL="0" indent="0" algn="l">
              <a:lnSpc>
                <a:spcPct val="100000"/>
              </a:lnSpc>
              <a:buNone/>
            </a:pPr>
            <a:r>
              <a:rPr lang="zh-CN" altLang="en-US" sz="1800" b="1" dirty="0">
                <a:latin typeface="微软雅黑" panose="020B0503020204020204" pitchFamily="34" charset="-122"/>
                <a:ea typeface="微软雅黑" panose="020B0503020204020204" pitchFamily="34" charset="-122"/>
                <a:cs typeface="MiSans" panose="02010600030101010101" charset="-122"/>
              </a:rPr>
              <a:t>计算对齐得分：</a:t>
            </a:r>
          </a:p>
        </p:txBody>
      </p:sp>
      <p:sp>
        <p:nvSpPr>
          <p:cNvPr id="111" name="Text 19">
            <a:extLst>
              <a:ext uri="{FF2B5EF4-FFF2-40B4-BE49-F238E27FC236}">
                <a16:creationId xmlns:a16="http://schemas.microsoft.com/office/drawing/2014/main" id="{D873FCCB-D74C-41B6-9686-F3DDE9B195C8}"/>
              </a:ext>
            </a:extLst>
          </p:cNvPr>
          <p:cNvSpPr/>
          <p:nvPr/>
        </p:nvSpPr>
        <p:spPr>
          <a:xfrm>
            <a:off x="3190237" y="2782378"/>
            <a:ext cx="2911569" cy="2536400"/>
          </a:xfrm>
          <a:prstGeom prst="rect">
            <a:avLst/>
          </a:prstGeom>
          <a:noFill/>
          <a:ln/>
        </p:spPr>
        <p:txBody>
          <a:bodyPr wrap="square" lIns="91440" tIns="45720" rIns="91440" bIns="45720" rtlCol="0" anchor="t">
            <a:spAutoFit/>
          </a:bodyPr>
          <a:lstStyle/>
          <a:p>
            <a:pPr marL="0" indent="0" algn="just">
              <a:lnSpc>
                <a:spcPct val="150000"/>
              </a:lnSpc>
              <a:buNone/>
            </a:pPr>
            <a:r>
              <a:rPr lang="zh-CN" altLang="en-US" dirty="0">
                <a:latin typeface="微软雅黑" panose="020B0503020204020204" pitchFamily="34" charset="-122"/>
                <a:ea typeface="微软雅黑" panose="020B0503020204020204" pitchFamily="34" charset="-122"/>
                <a:cs typeface="MiSans" panose="02010600030101010101" charset="-122"/>
              </a:rPr>
              <a:t>对于每个微指令 </a:t>
            </a:r>
            <a:r>
              <a:rPr lang="en-US" altLang="zh-CN" dirty="0" err="1">
                <a:latin typeface="微软雅黑" panose="020B0503020204020204" pitchFamily="34" charset="-122"/>
                <a:ea typeface="微软雅黑" panose="020B0503020204020204" pitchFamily="34" charset="-122"/>
                <a:cs typeface="MiSans" panose="02010600030101010101" charset="-122"/>
              </a:rPr>
              <a:t>x_m</a:t>
            </a:r>
            <a:r>
              <a:rPr lang="en-US" altLang="zh-CN" dirty="0">
                <a:latin typeface="微软雅黑" panose="020B0503020204020204" pitchFamily="34" charset="-122"/>
                <a:ea typeface="微软雅黑" panose="020B0503020204020204" pitchFamily="34" charset="-122"/>
                <a:cs typeface="MiSans" panose="02010600030101010101" charset="-122"/>
              </a:rPr>
              <a:t> </a:t>
            </a:r>
            <a:r>
              <a:rPr lang="zh-CN" altLang="en-US" dirty="0">
                <a:latin typeface="微软雅黑" panose="020B0503020204020204" pitchFamily="34" charset="-122"/>
                <a:ea typeface="微软雅黑" panose="020B0503020204020204" pitchFamily="34" charset="-122"/>
                <a:cs typeface="MiSans" panose="02010600030101010101" charset="-122"/>
              </a:rPr>
              <a:t>和轨迹上的每个时间点 </a:t>
            </a:r>
            <a:r>
              <a:rPr lang="en-US" altLang="zh-CN" dirty="0">
                <a:latin typeface="微软雅黑" panose="020B0503020204020204" pitchFamily="34" charset="-122"/>
                <a:ea typeface="微软雅黑" panose="020B0503020204020204" pitchFamily="34" charset="-122"/>
                <a:cs typeface="MiSans" panose="02010600030101010101" charset="-122"/>
              </a:rPr>
              <a:t>t</a:t>
            </a:r>
            <a:r>
              <a:rPr lang="zh-CN" altLang="en-US" dirty="0">
                <a:latin typeface="微软雅黑" panose="020B0503020204020204" pitchFamily="34" charset="-122"/>
                <a:ea typeface="微软雅黑" panose="020B0503020204020204" pitchFamily="34" charset="-122"/>
                <a:cs typeface="MiSans" panose="02010600030101010101" charset="-122"/>
              </a:rPr>
              <a:t>，计算一个得分 </a:t>
            </a:r>
            <a:r>
              <a:rPr lang="en-US" altLang="zh-CN" dirty="0">
                <a:latin typeface="微软雅黑" panose="020B0503020204020204" pitchFamily="34" charset="-122"/>
                <a:ea typeface="微软雅黑" panose="020B0503020204020204" pitchFamily="34" charset="-122"/>
                <a:cs typeface="MiSans" panose="02010600030101010101" charset="-122"/>
              </a:rPr>
              <a:t>Ψ(t, m)</a:t>
            </a:r>
            <a:r>
              <a:rPr lang="zh-CN" altLang="en-US" dirty="0">
                <a:latin typeface="微软雅黑" panose="020B0503020204020204" pitchFamily="34" charset="-122"/>
                <a:ea typeface="微软雅黑" panose="020B0503020204020204" pitchFamily="34" charset="-122"/>
                <a:cs typeface="MiSans" panose="02010600030101010101" charset="-122"/>
              </a:rPr>
              <a:t>。</a:t>
            </a:r>
          </a:p>
          <a:p>
            <a:pPr marL="0" indent="0" algn="just">
              <a:lnSpc>
                <a:spcPct val="150000"/>
              </a:lnSpc>
              <a:buNone/>
            </a:pPr>
            <a:r>
              <a:rPr lang="zh-CN" altLang="en-US" dirty="0">
                <a:latin typeface="微软雅黑" panose="020B0503020204020204" pitchFamily="34" charset="-122"/>
                <a:ea typeface="微软雅黑" panose="020B0503020204020204" pitchFamily="34" charset="-122"/>
                <a:cs typeface="MiSans" panose="02010600030101010101" charset="-122"/>
              </a:rPr>
              <a:t>该得分是分类器对 </a:t>
            </a:r>
            <a:r>
              <a:rPr lang="en-US" altLang="zh-CN" dirty="0" err="1">
                <a:latin typeface="微软雅黑" panose="020B0503020204020204" pitchFamily="34" charset="-122"/>
                <a:ea typeface="微软雅黑" panose="020B0503020204020204" pitchFamily="34" charset="-122"/>
                <a:cs typeface="MiSans" panose="02010600030101010101" charset="-122"/>
              </a:rPr>
              <a:t>x_m</a:t>
            </a:r>
            <a:r>
              <a:rPr lang="en-US" altLang="zh-CN" dirty="0">
                <a:latin typeface="微软雅黑" panose="020B0503020204020204" pitchFamily="34" charset="-122"/>
                <a:ea typeface="微软雅黑" panose="020B0503020204020204" pitchFamily="34" charset="-122"/>
                <a:cs typeface="MiSans" panose="02010600030101010101" charset="-122"/>
              </a:rPr>
              <a:t> </a:t>
            </a:r>
            <a:r>
              <a:rPr lang="zh-CN" altLang="en-US" dirty="0">
                <a:latin typeface="微软雅黑" panose="020B0503020204020204" pitchFamily="34" charset="-122"/>
                <a:ea typeface="微软雅黑" panose="020B0503020204020204" pitchFamily="34" charset="-122"/>
                <a:cs typeface="MiSans" panose="02010600030101010101" charset="-122"/>
              </a:rPr>
              <a:t>中所有地标词预测置信度的平均值。</a:t>
            </a:r>
          </a:p>
        </p:txBody>
      </p:sp>
      <p:sp>
        <p:nvSpPr>
          <p:cNvPr id="112" name="Shape 20">
            <a:extLst>
              <a:ext uri="{FF2B5EF4-FFF2-40B4-BE49-F238E27FC236}">
                <a16:creationId xmlns:a16="http://schemas.microsoft.com/office/drawing/2014/main" id="{907E2114-B18D-4CC1-9BE5-04231D8060F1}"/>
              </a:ext>
            </a:extLst>
          </p:cNvPr>
          <p:cNvSpPr/>
          <p:nvPr/>
        </p:nvSpPr>
        <p:spPr>
          <a:xfrm>
            <a:off x="3203154" y="5630950"/>
            <a:ext cx="652471" cy="541020"/>
          </a:xfrm>
          <a:prstGeom prst="rect">
            <a:avLst/>
          </a:prstGeom>
          <a:solidFill>
            <a:srgbClr val="000000">
              <a:alpha val="0"/>
            </a:srgbClr>
          </a:solidFill>
          <a:ln/>
        </p:spPr>
      </p:sp>
      <p:sp>
        <p:nvSpPr>
          <p:cNvPr id="113" name="Text 21">
            <a:extLst>
              <a:ext uri="{FF2B5EF4-FFF2-40B4-BE49-F238E27FC236}">
                <a16:creationId xmlns:a16="http://schemas.microsoft.com/office/drawing/2014/main" id="{9F1FBA27-9590-47FF-B88D-AAFED380F58F}"/>
              </a:ext>
            </a:extLst>
          </p:cNvPr>
          <p:cNvSpPr/>
          <p:nvPr/>
        </p:nvSpPr>
        <p:spPr>
          <a:xfrm>
            <a:off x="3312041" y="5245993"/>
            <a:ext cx="652471" cy="541020"/>
          </a:xfrm>
          <a:prstGeom prst="rect">
            <a:avLst/>
          </a:prstGeom>
          <a:noFill/>
          <a:ln/>
        </p:spPr>
        <p:txBody>
          <a:bodyPr wrap="square" lIns="0" tIns="0" rIns="0" bIns="0" rtlCol="0" anchor="t"/>
          <a:lstStyle/>
          <a:p>
            <a:pPr marL="0" indent="0" algn="l">
              <a:lnSpc>
                <a:spcPct val="110000"/>
              </a:lnSpc>
              <a:buNone/>
            </a:pPr>
            <a:r>
              <a:rPr lang="en-US" sz="3200" dirty="0">
                <a:latin typeface="微软雅黑" panose="020B0503020204020204" pitchFamily="34" charset="-122"/>
                <a:ea typeface="微软雅黑" panose="020B0503020204020204" pitchFamily="34" charset="-122"/>
                <a:cs typeface="MiSans" pitchFamily="34" charset="-120"/>
              </a:rPr>
              <a:t>02</a:t>
            </a:r>
            <a:endParaRPr lang="en-US" sz="1600" dirty="0"/>
          </a:p>
        </p:txBody>
      </p:sp>
      <p:pic>
        <p:nvPicPr>
          <p:cNvPr id="124" name="Image 8" descr="https://kimi-img.moonshot.cn/pub/slides/slides_tmpl/image/25-06-01-00:16:54-d0timtk75iks2gau4gpg.png">
            <a:extLst>
              <a:ext uri="{FF2B5EF4-FFF2-40B4-BE49-F238E27FC236}">
                <a16:creationId xmlns:a16="http://schemas.microsoft.com/office/drawing/2014/main" id="{10867A19-780E-4FFF-BD1B-995C2A030CC7}"/>
              </a:ext>
            </a:extLst>
          </p:cNvPr>
          <p:cNvPicPr>
            <a:picLocks noChangeAspect="1"/>
          </p:cNvPicPr>
          <p:nvPr/>
        </p:nvPicPr>
        <p:blipFill>
          <a:blip r:embed="rId3"/>
          <a:stretch>
            <a:fillRect/>
          </a:stretch>
        </p:blipFill>
        <p:spPr>
          <a:xfrm>
            <a:off x="149827" y="2936736"/>
            <a:ext cx="191770" cy="321310"/>
          </a:xfrm>
          <a:prstGeom prst="rect">
            <a:avLst/>
          </a:prstGeom>
        </p:spPr>
      </p:pic>
      <p:pic>
        <p:nvPicPr>
          <p:cNvPr id="125" name="Image 9" descr="https://kimi-img.moonshot.cn/pub/slides/slides_tmpl/image/25-06-01-00:16:54-d0timtk75iks2gau4gpg.png">
            <a:extLst>
              <a:ext uri="{FF2B5EF4-FFF2-40B4-BE49-F238E27FC236}">
                <a16:creationId xmlns:a16="http://schemas.microsoft.com/office/drawing/2014/main" id="{195F9B3B-72F7-4DB5-B171-F2BA24F5D932}"/>
              </a:ext>
            </a:extLst>
          </p:cNvPr>
          <p:cNvPicPr>
            <a:picLocks noChangeAspect="1"/>
          </p:cNvPicPr>
          <p:nvPr/>
        </p:nvPicPr>
        <p:blipFill>
          <a:blip r:embed="rId3"/>
          <a:stretch>
            <a:fillRect/>
          </a:stretch>
        </p:blipFill>
        <p:spPr>
          <a:xfrm>
            <a:off x="3254984" y="2222870"/>
            <a:ext cx="191770" cy="321310"/>
          </a:xfrm>
          <a:prstGeom prst="rect">
            <a:avLst/>
          </a:prstGeom>
        </p:spPr>
      </p:pic>
      <p:pic>
        <p:nvPicPr>
          <p:cNvPr id="126" name="Image 10" descr="https://kimi-img.moonshot.cn/pub/slides/slides_tmpl/image/25-06-01-00:16:54-d0timtk75iks2gau4gpg.png">
            <a:extLst>
              <a:ext uri="{FF2B5EF4-FFF2-40B4-BE49-F238E27FC236}">
                <a16:creationId xmlns:a16="http://schemas.microsoft.com/office/drawing/2014/main" id="{550F4987-B442-47C5-A8D9-E3787C0AF1B3}"/>
              </a:ext>
            </a:extLst>
          </p:cNvPr>
          <p:cNvPicPr>
            <a:picLocks noChangeAspect="1"/>
          </p:cNvPicPr>
          <p:nvPr/>
        </p:nvPicPr>
        <p:blipFill>
          <a:blip r:embed="rId3"/>
          <a:stretch>
            <a:fillRect/>
          </a:stretch>
        </p:blipFill>
        <p:spPr>
          <a:xfrm>
            <a:off x="6398895" y="3148979"/>
            <a:ext cx="191770" cy="321310"/>
          </a:xfrm>
          <a:prstGeom prst="rect">
            <a:avLst/>
          </a:prstGeom>
        </p:spPr>
      </p:pic>
      <p:sp>
        <p:nvSpPr>
          <p:cNvPr id="131" name="矩形 130">
            <a:extLst>
              <a:ext uri="{FF2B5EF4-FFF2-40B4-BE49-F238E27FC236}">
                <a16:creationId xmlns:a16="http://schemas.microsoft.com/office/drawing/2014/main" id="{C0A4228D-C9B2-4DF6-ADE5-EA509A72BEA2}"/>
              </a:ext>
            </a:extLst>
          </p:cNvPr>
          <p:cNvSpPr/>
          <p:nvPr/>
        </p:nvSpPr>
        <p:spPr>
          <a:xfrm flipV="1">
            <a:off x="0" y="619125"/>
            <a:ext cx="9144000" cy="99649"/>
          </a:xfrm>
          <a:prstGeom prst="rect">
            <a:avLst/>
          </a:prstGeom>
          <a:solidFill>
            <a:srgbClr val="0065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132" name="文本框 131">
            <a:extLst>
              <a:ext uri="{FF2B5EF4-FFF2-40B4-BE49-F238E27FC236}">
                <a16:creationId xmlns:a16="http://schemas.microsoft.com/office/drawing/2014/main" id="{47E2E811-D5FA-4E64-9B3A-0F9D21BB1D0C}"/>
              </a:ext>
            </a:extLst>
          </p:cNvPr>
          <p:cNvSpPr txBox="1"/>
          <p:nvPr/>
        </p:nvSpPr>
        <p:spPr>
          <a:xfrm>
            <a:off x="250825" y="3678"/>
            <a:ext cx="5549899" cy="584775"/>
          </a:xfrm>
          <a:prstGeom prst="rect">
            <a:avLst/>
          </a:prstGeom>
        </p:spPr>
        <p:txBody>
          <a:bodyPr wrap="square" rtlCol="0" anchor="t">
            <a:spAutoFit/>
          </a:bodyPr>
          <a:lstStyle/>
          <a:p>
            <a:pPr marL="0" indent="0" algn="l">
              <a:lnSpc>
                <a:spcPct val="100000"/>
              </a:lnSpc>
              <a:buNone/>
            </a:pPr>
            <a:r>
              <a:rPr lang="zh-CN" altLang="en-US" sz="3200" b="1" dirty="0">
                <a:latin typeface="微软雅黑" panose="020B0503020204020204" pitchFamily="34" charset="-122"/>
                <a:ea typeface="微软雅黑" panose="020B0503020204020204" pitchFamily="34" charset="-122"/>
                <a:cs typeface="MiSans" panose="02010600030101010101" charset="-122"/>
              </a:rPr>
              <a:t>路径分割</a:t>
            </a:r>
            <a:endParaRPr lang="en-US" altLang="zh-CN" sz="1400" dirty="0">
              <a:latin typeface="微软雅黑" panose="020B0503020204020204" pitchFamily="34" charset="-122"/>
              <a:ea typeface="微软雅黑" panose="020B0503020204020204" pitchFamily="34" charset="-122"/>
              <a:cs typeface="MiSans" panose="02010600030101010101" charset="-122"/>
            </a:endParaRPr>
          </a:p>
        </p:txBody>
      </p:sp>
      <p:sp>
        <p:nvSpPr>
          <p:cNvPr id="133" name="Text 0">
            <a:extLst>
              <a:ext uri="{FF2B5EF4-FFF2-40B4-BE49-F238E27FC236}">
                <a16:creationId xmlns:a16="http://schemas.microsoft.com/office/drawing/2014/main" id="{29F306BF-CB06-453E-87CD-ED9CD49AB1E9}"/>
              </a:ext>
            </a:extLst>
          </p:cNvPr>
          <p:cNvSpPr/>
          <p:nvPr/>
        </p:nvSpPr>
        <p:spPr>
          <a:xfrm>
            <a:off x="935304" y="479263"/>
            <a:ext cx="3049055" cy="606887"/>
          </a:xfrm>
          <a:prstGeom prst="rect">
            <a:avLst/>
          </a:prstGeom>
          <a:noFill/>
          <a:ln/>
        </p:spPr>
        <p:txBody>
          <a:bodyPr wrap="square" lIns="91440" tIns="45720" rIns="91440" bIns="45720" rtlCol="0" anchor="ctr"/>
          <a:lstStyle/>
          <a:p>
            <a:pPr marL="0" indent="0" algn="l">
              <a:lnSpc>
                <a:spcPct val="90000"/>
              </a:lnSpc>
              <a:buNone/>
            </a:pPr>
            <a:r>
              <a:rPr lang="en-US" sz="4400" dirty="0">
                <a:solidFill>
                  <a:srgbClr val="000000"/>
                </a:solidFill>
                <a:latin typeface="微软雅黑" panose="020B0503020204020204" pitchFamily="34" charset="-122"/>
                <a:ea typeface="微软雅黑" panose="020B0503020204020204" pitchFamily="34" charset="-122"/>
                <a:cs typeface="MiSans" pitchFamily="34" charset="-120"/>
              </a:rPr>
              <a:t> </a:t>
            </a:r>
            <a:endParaRPr lang="en-US" sz="1600" dirty="0"/>
          </a:p>
        </p:txBody>
      </p:sp>
      <p:sp>
        <p:nvSpPr>
          <p:cNvPr id="134" name="Shape 23">
            <a:extLst>
              <a:ext uri="{FF2B5EF4-FFF2-40B4-BE49-F238E27FC236}">
                <a16:creationId xmlns:a16="http://schemas.microsoft.com/office/drawing/2014/main" id="{947C43CF-6D32-48B2-9323-C8D3B84B6689}"/>
              </a:ext>
            </a:extLst>
          </p:cNvPr>
          <p:cNvSpPr/>
          <p:nvPr/>
        </p:nvSpPr>
        <p:spPr>
          <a:xfrm flipH="1">
            <a:off x="1570761" y="766445"/>
            <a:ext cx="78105" cy="71755"/>
          </a:xfrm>
          <a:prstGeom prst="ellipse">
            <a:avLst/>
          </a:prstGeom>
          <a:solidFill>
            <a:srgbClr val="FFFFFF"/>
          </a:solidFill>
          <a:ln/>
        </p:spPr>
      </p:sp>
      <p:sp>
        <p:nvSpPr>
          <p:cNvPr id="135" name="Text 24">
            <a:extLst>
              <a:ext uri="{FF2B5EF4-FFF2-40B4-BE49-F238E27FC236}">
                <a16:creationId xmlns:a16="http://schemas.microsoft.com/office/drawing/2014/main" id="{FC410578-49C6-4062-B42C-AB4DFE848D9F}"/>
              </a:ext>
            </a:extLst>
          </p:cNvPr>
          <p:cNvSpPr/>
          <p:nvPr/>
        </p:nvSpPr>
        <p:spPr>
          <a:xfrm>
            <a:off x="1570761" y="766445"/>
            <a:ext cx="78105" cy="7175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36" name="Shape 25">
            <a:extLst>
              <a:ext uri="{FF2B5EF4-FFF2-40B4-BE49-F238E27FC236}">
                <a16:creationId xmlns:a16="http://schemas.microsoft.com/office/drawing/2014/main" id="{5B8EA68A-7FDB-48F6-B39F-E07E2A90ED58}"/>
              </a:ext>
            </a:extLst>
          </p:cNvPr>
          <p:cNvSpPr/>
          <p:nvPr/>
        </p:nvSpPr>
        <p:spPr>
          <a:xfrm flipH="1">
            <a:off x="1442491" y="766445"/>
            <a:ext cx="78105" cy="71755"/>
          </a:xfrm>
          <a:prstGeom prst="ellipse">
            <a:avLst/>
          </a:prstGeom>
          <a:solidFill>
            <a:srgbClr val="FFFFFF">
              <a:alpha val="56471"/>
            </a:srgbClr>
          </a:solidFill>
          <a:ln/>
        </p:spPr>
      </p:sp>
      <p:sp>
        <p:nvSpPr>
          <p:cNvPr id="137" name="Text 26">
            <a:extLst>
              <a:ext uri="{FF2B5EF4-FFF2-40B4-BE49-F238E27FC236}">
                <a16:creationId xmlns:a16="http://schemas.microsoft.com/office/drawing/2014/main" id="{A43D0174-B3BA-4797-A602-5502C8C941C3}"/>
              </a:ext>
            </a:extLst>
          </p:cNvPr>
          <p:cNvSpPr/>
          <p:nvPr/>
        </p:nvSpPr>
        <p:spPr>
          <a:xfrm>
            <a:off x="1442491" y="766445"/>
            <a:ext cx="78105" cy="7175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38" name="Shape 27">
            <a:extLst>
              <a:ext uri="{FF2B5EF4-FFF2-40B4-BE49-F238E27FC236}">
                <a16:creationId xmlns:a16="http://schemas.microsoft.com/office/drawing/2014/main" id="{37AE5155-4F56-41F9-831C-5CA7223FB399}"/>
              </a:ext>
            </a:extLst>
          </p:cNvPr>
          <p:cNvSpPr/>
          <p:nvPr/>
        </p:nvSpPr>
        <p:spPr>
          <a:xfrm flipH="1">
            <a:off x="1311046" y="766445"/>
            <a:ext cx="78105" cy="71755"/>
          </a:xfrm>
          <a:prstGeom prst="ellipse">
            <a:avLst/>
          </a:prstGeom>
          <a:solidFill>
            <a:srgbClr val="FFFFFF"/>
          </a:solidFill>
          <a:ln/>
        </p:spPr>
      </p:sp>
      <p:sp>
        <p:nvSpPr>
          <p:cNvPr id="139" name="Text 28">
            <a:extLst>
              <a:ext uri="{FF2B5EF4-FFF2-40B4-BE49-F238E27FC236}">
                <a16:creationId xmlns:a16="http://schemas.microsoft.com/office/drawing/2014/main" id="{D329E221-2854-4782-81D9-D01713BC20A0}"/>
              </a:ext>
            </a:extLst>
          </p:cNvPr>
          <p:cNvSpPr/>
          <p:nvPr/>
        </p:nvSpPr>
        <p:spPr>
          <a:xfrm>
            <a:off x="1311046" y="766445"/>
            <a:ext cx="78105" cy="7175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0" name="Shape 29">
            <a:extLst>
              <a:ext uri="{FF2B5EF4-FFF2-40B4-BE49-F238E27FC236}">
                <a16:creationId xmlns:a16="http://schemas.microsoft.com/office/drawing/2014/main" id="{B8E85980-0220-4FE3-ACD5-72469EE7A87B}"/>
              </a:ext>
            </a:extLst>
          </p:cNvPr>
          <p:cNvSpPr/>
          <p:nvPr/>
        </p:nvSpPr>
        <p:spPr>
          <a:xfrm flipH="1">
            <a:off x="1180236" y="766445"/>
            <a:ext cx="78105" cy="71755"/>
          </a:xfrm>
          <a:prstGeom prst="ellipse">
            <a:avLst/>
          </a:prstGeom>
          <a:solidFill>
            <a:srgbClr val="FFFFFF">
              <a:alpha val="56471"/>
            </a:srgbClr>
          </a:solidFill>
          <a:ln/>
        </p:spPr>
      </p:sp>
      <p:sp>
        <p:nvSpPr>
          <p:cNvPr id="141" name="Text 30">
            <a:extLst>
              <a:ext uri="{FF2B5EF4-FFF2-40B4-BE49-F238E27FC236}">
                <a16:creationId xmlns:a16="http://schemas.microsoft.com/office/drawing/2014/main" id="{189A7C4C-B83F-4371-AC8F-06B4585CCB88}"/>
              </a:ext>
            </a:extLst>
          </p:cNvPr>
          <p:cNvSpPr/>
          <p:nvPr/>
        </p:nvSpPr>
        <p:spPr>
          <a:xfrm>
            <a:off x="1180236" y="766445"/>
            <a:ext cx="78105" cy="71755"/>
          </a:xfrm>
          <a:prstGeom prst="rect">
            <a:avLst/>
          </a:prstGeom>
          <a:noFill/>
          <a:ln/>
        </p:spPr>
        <p:txBody>
          <a:bodyPr wrap="square" lIns="45720" tIns="91440" rIns="91440" bIns="45720" rtlCol="0" anchor="ctr"/>
          <a:lstStyle/>
          <a:p>
            <a:pPr marL="0" indent="0">
              <a:lnSpc>
                <a:spcPct val="100000"/>
              </a:lnSpc>
              <a:buNone/>
            </a:pPr>
            <a:endParaRPr lang="en-US" sz="1600" dirty="0"/>
          </a:p>
        </p:txBody>
      </p:sp>
    </p:spTree>
    <p:extLst>
      <p:ext uri="{BB962C8B-B14F-4D97-AF65-F5344CB8AC3E}">
        <p14:creationId xmlns:p14="http://schemas.microsoft.com/office/powerpoint/2010/main" val="82041978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a19b34fa-850a-4f5b-9bd4-3e0419e52f74"/>
  <p:tag name="COMMONDATA" val="eyJoZGlkIjoiNDJlYjk4ZjQ2NzA1ZGEzMzYyZTZmODkzY2Q4ZDg0ZGYifQ=="/>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5074.685039370079}"/>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cdac9fd9-164d-4dc8-9a8d-e31483b9f66e}"/>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8432</TotalTime>
  <Words>652</Words>
  <Application>Microsoft Office PowerPoint</Application>
  <PresentationFormat>全屏显示(4:3)</PresentationFormat>
  <Paragraphs>73</Paragraphs>
  <Slides>5</Slides>
  <Notes>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5</vt:i4>
      </vt:variant>
    </vt:vector>
  </HeadingPairs>
  <TitlesOfParts>
    <vt:vector size="12" baseType="lpstr">
      <vt:lpstr>inpin heiti</vt:lpstr>
      <vt:lpstr>等线</vt:lpstr>
      <vt:lpstr>微软雅黑</vt:lpstr>
      <vt:lpstr>Arial</vt:lpstr>
      <vt:lpstr>Calibri</vt:lpstr>
      <vt:lpstr>Calibri Light</vt:lpstr>
      <vt:lpstr>Office 主题</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dkx</dc:creator>
  <cp:lastModifiedBy>2115875948@qq.com</cp:lastModifiedBy>
  <cp:revision>783</cp:revision>
  <dcterms:created xsi:type="dcterms:W3CDTF">2022-11-14T06:38:00Z</dcterms:created>
  <dcterms:modified xsi:type="dcterms:W3CDTF">2025-09-08T13:55:42Z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4E26A404E4B34345815899A7963F5C06</vt:lpwstr>
  </property>
  <property fmtid="{D5CDD505-2E9C-101B-9397-08002B2CF9AE}" pid="3" name="KSOProductBuildVer">
    <vt:lpwstr>2052-12.1.0.15374</vt:lpwstr>
  </property>
</Properties>
</file>