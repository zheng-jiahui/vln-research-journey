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1" r:id="rId1"/>
  </p:sldMasterIdLst>
  <p:notesMasterIdLst>
    <p:notesMasterId r:id="rId7"/>
  </p:notesMasterIdLst>
  <p:handoutMasterIdLst>
    <p:handoutMasterId r:id="rId8"/>
  </p:handoutMasterIdLst>
  <p:sldIdLst>
    <p:sldId id="256" r:id="rId2"/>
    <p:sldId id="534" r:id="rId3"/>
    <p:sldId id="535" r:id="rId4"/>
    <p:sldId id="536" r:id="rId5"/>
    <p:sldId id="537" r:id="rId6"/>
  </p:sldIdLst>
  <p:sldSz cx="12192000" cy="6858000"/>
  <p:notesSz cx="6858000" cy="9144000"/>
  <p:custDataLst>
    <p:tags r:id="rId9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fkx" initials="w" lastIdx="1" clrIdx="0"/>
  <p:cmAuthor id="2" name="2115875948@qq.com" initials="2" lastIdx="3" clrIdx="1">
    <p:extLst>
      <p:ext uri="{19B8F6BF-5375-455C-9EA6-DF929625EA0E}">
        <p15:presenceInfo xmlns:p15="http://schemas.microsoft.com/office/powerpoint/2012/main" userId="77d56f992319ea54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58F"/>
    <a:srgbClr val="5B9BD5"/>
    <a:srgbClr val="FF9966"/>
    <a:srgbClr val="FF9800"/>
    <a:srgbClr val="00AFF0"/>
    <a:srgbClr val="FF0000"/>
    <a:srgbClr val="1212F0"/>
    <a:srgbClr val="FFB014"/>
    <a:srgbClr val="AAAAFF"/>
    <a:srgbClr val="55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5153" autoAdjust="0"/>
  </p:normalViewPr>
  <p:slideViewPr>
    <p:cSldViewPr>
      <p:cViewPr varScale="1">
        <p:scale>
          <a:sx n="84" d="100"/>
          <a:sy n="84" d="100"/>
        </p:scale>
        <p:origin x="610" y="29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0" cy="72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tags" Target="tags/tag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t>2026/1/20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A0B522-843A-4E8E-A647-AF429A9C9E7B}" type="datetimeFigureOut">
              <a:rPr lang="zh-CN" altLang="en-US" smtClean="0"/>
              <a:t>2026/1/20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6659DB-8BA6-4AD3-9C6C-00F0DE7EB85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6659DB-8BA6-4AD3-9C6C-00F0DE7EB856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D0A12A2-0C94-4ACB-BC57-F09E82DBA60E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302807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D0A12A2-0C94-4ACB-BC57-F09E82DBA60E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873225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D0A12A2-0C94-4ACB-BC57-F09E82DBA60E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4046363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D0A12A2-0C94-4ACB-BC57-F09E82DBA60E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455567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2026/1/20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1566364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2026/1/20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6142849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2026/1/20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0276117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2026/1/20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3290973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2026/1/20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4993340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2026/1/20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3922980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2026/1/20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468970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2026/1/20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7919082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2026/1/20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3354691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2026/1/20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7124808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2026/1/20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3052591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平行四边形 7"/>
          <p:cNvSpPr/>
          <p:nvPr userDrawn="1"/>
        </p:nvSpPr>
        <p:spPr>
          <a:xfrm>
            <a:off x="-65252" y="-921"/>
            <a:ext cx="1961103" cy="692150"/>
          </a:xfrm>
          <a:prstGeom prst="parallelogram">
            <a:avLst>
              <a:gd name="adj" fmla="val 57289"/>
            </a:avLst>
          </a:prstGeom>
          <a:solidFill>
            <a:srgbClr val="354B7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 dirty="0">
              <a:latin typeface="微软雅黑" panose="020B0503020204020204" pitchFamily="3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062" y="16480"/>
            <a:ext cx="944487" cy="659190"/>
          </a:xfrm>
          <a:prstGeom prst="rect">
            <a:avLst/>
          </a:prstGeom>
        </p:spPr>
      </p:pic>
      <p:sp>
        <p:nvSpPr>
          <p:cNvPr id="4" name="平行四边形 3"/>
          <p:cNvSpPr/>
          <p:nvPr userDrawn="1"/>
        </p:nvSpPr>
        <p:spPr>
          <a:xfrm>
            <a:off x="1387544" y="647450"/>
            <a:ext cx="10848000" cy="36000"/>
          </a:xfrm>
          <a:prstGeom prst="parallelogram">
            <a:avLst>
              <a:gd name="adj" fmla="val 57289"/>
            </a:avLst>
          </a:prstGeom>
          <a:solidFill>
            <a:srgbClr val="354B7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 dirty="0">
              <a:latin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 userDrawn="1"/>
        </p:nvSpPr>
        <p:spPr>
          <a:xfrm>
            <a:off x="11717597" y="6583996"/>
            <a:ext cx="666936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F1B2D83C-3CD3-4CBF-B268-3EDB8087C524}" type="slidenum">
              <a:rPr lang="zh-CN" altLang="en-US" sz="1200" b="1" smtClean="0">
                <a:solidFill>
                  <a:srgbClr val="354B7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‹#›</a:t>
            </a:fld>
            <a:endParaRPr lang="zh-CN" altLang="en-US" sz="1200" b="1" dirty="0">
              <a:solidFill>
                <a:srgbClr val="354B7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2026/1/20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22309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60" r:id="rId1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7" name="组合 156"/>
          <p:cNvGrpSpPr/>
          <p:nvPr/>
        </p:nvGrpSpPr>
        <p:grpSpPr>
          <a:xfrm>
            <a:off x="3576061" y="-8561"/>
            <a:ext cx="5393514" cy="1515659"/>
            <a:chOff x="5295900" y="2146300"/>
            <a:chExt cx="2552700" cy="1181100"/>
          </a:xfrm>
          <a:solidFill>
            <a:schemeClr val="bg1">
              <a:lumMod val="85000"/>
              <a:alpha val="58000"/>
            </a:schemeClr>
          </a:solidFill>
        </p:grpSpPr>
        <p:grpSp>
          <p:nvGrpSpPr>
            <p:cNvPr id="164" name="组合 163"/>
            <p:cNvGrpSpPr/>
            <p:nvPr/>
          </p:nvGrpSpPr>
          <p:grpSpPr>
            <a:xfrm>
              <a:off x="5295900" y="2146300"/>
              <a:ext cx="2552700" cy="114300"/>
              <a:chOff x="5295900" y="2146300"/>
              <a:chExt cx="2552700" cy="114300"/>
            </a:xfrm>
            <a:grpFill/>
          </p:grpSpPr>
          <p:sp>
            <p:nvSpPr>
              <p:cNvPr id="291" name="矩形 290"/>
              <p:cNvSpPr/>
              <p:nvPr/>
            </p:nvSpPr>
            <p:spPr>
              <a:xfrm>
                <a:off x="52959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92" name="矩形 291"/>
              <p:cNvSpPr/>
              <p:nvPr/>
            </p:nvSpPr>
            <p:spPr>
              <a:xfrm>
                <a:off x="54483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93" name="矩形 292"/>
              <p:cNvSpPr/>
              <p:nvPr/>
            </p:nvSpPr>
            <p:spPr>
              <a:xfrm>
                <a:off x="56007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94" name="矩形 293"/>
              <p:cNvSpPr/>
              <p:nvPr/>
            </p:nvSpPr>
            <p:spPr>
              <a:xfrm>
                <a:off x="57531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95" name="矩形 294"/>
              <p:cNvSpPr/>
              <p:nvPr/>
            </p:nvSpPr>
            <p:spPr>
              <a:xfrm>
                <a:off x="59055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96" name="矩形 295"/>
              <p:cNvSpPr/>
              <p:nvPr/>
            </p:nvSpPr>
            <p:spPr>
              <a:xfrm>
                <a:off x="60579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97" name="矩形 296"/>
              <p:cNvSpPr/>
              <p:nvPr/>
            </p:nvSpPr>
            <p:spPr>
              <a:xfrm>
                <a:off x="62103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98" name="矩形 297"/>
              <p:cNvSpPr/>
              <p:nvPr/>
            </p:nvSpPr>
            <p:spPr>
              <a:xfrm>
                <a:off x="63627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99" name="矩形 298"/>
              <p:cNvSpPr/>
              <p:nvPr/>
            </p:nvSpPr>
            <p:spPr>
              <a:xfrm>
                <a:off x="65151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300" name="矩形 299"/>
              <p:cNvSpPr/>
              <p:nvPr/>
            </p:nvSpPr>
            <p:spPr>
              <a:xfrm>
                <a:off x="66675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301" name="矩形 300"/>
              <p:cNvSpPr/>
              <p:nvPr/>
            </p:nvSpPr>
            <p:spPr>
              <a:xfrm>
                <a:off x="68199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302" name="矩形 301"/>
              <p:cNvSpPr/>
              <p:nvPr/>
            </p:nvSpPr>
            <p:spPr>
              <a:xfrm>
                <a:off x="69723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303" name="矩形 302"/>
              <p:cNvSpPr/>
              <p:nvPr/>
            </p:nvSpPr>
            <p:spPr>
              <a:xfrm>
                <a:off x="71247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304" name="矩形 303"/>
              <p:cNvSpPr/>
              <p:nvPr/>
            </p:nvSpPr>
            <p:spPr>
              <a:xfrm>
                <a:off x="72771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305" name="矩形 304"/>
              <p:cNvSpPr/>
              <p:nvPr/>
            </p:nvSpPr>
            <p:spPr>
              <a:xfrm>
                <a:off x="74295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306" name="矩形 305"/>
              <p:cNvSpPr/>
              <p:nvPr/>
            </p:nvSpPr>
            <p:spPr>
              <a:xfrm>
                <a:off x="75819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307" name="矩形 306"/>
              <p:cNvSpPr/>
              <p:nvPr/>
            </p:nvSpPr>
            <p:spPr>
              <a:xfrm>
                <a:off x="77343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</p:grpSp>
        <p:grpSp>
          <p:nvGrpSpPr>
            <p:cNvPr id="165" name="组合 164"/>
            <p:cNvGrpSpPr/>
            <p:nvPr/>
          </p:nvGrpSpPr>
          <p:grpSpPr>
            <a:xfrm>
              <a:off x="5295900" y="2298700"/>
              <a:ext cx="2552700" cy="114300"/>
              <a:chOff x="5295900" y="2146300"/>
              <a:chExt cx="2552700" cy="114300"/>
            </a:xfrm>
            <a:grpFill/>
          </p:grpSpPr>
          <p:sp>
            <p:nvSpPr>
              <p:cNvPr id="274" name="矩形 273"/>
              <p:cNvSpPr/>
              <p:nvPr/>
            </p:nvSpPr>
            <p:spPr>
              <a:xfrm>
                <a:off x="52959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75" name="矩形 274"/>
              <p:cNvSpPr/>
              <p:nvPr/>
            </p:nvSpPr>
            <p:spPr>
              <a:xfrm>
                <a:off x="54483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76" name="矩形 275"/>
              <p:cNvSpPr/>
              <p:nvPr/>
            </p:nvSpPr>
            <p:spPr>
              <a:xfrm>
                <a:off x="56007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77" name="矩形 276"/>
              <p:cNvSpPr/>
              <p:nvPr/>
            </p:nvSpPr>
            <p:spPr>
              <a:xfrm>
                <a:off x="57531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78" name="矩形 277"/>
              <p:cNvSpPr/>
              <p:nvPr/>
            </p:nvSpPr>
            <p:spPr>
              <a:xfrm>
                <a:off x="59055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79" name="矩形 278"/>
              <p:cNvSpPr/>
              <p:nvPr/>
            </p:nvSpPr>
            <p:spPr>
              <a:xfrm>
                <a:off x="60579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80" name="矩形 279"/>
              <p:cNvSpPr/>
              <p:nvPr/>
            </p:nvSpPr>
            <p:spPr>
              <a:xfrm>
                <a:off x="62103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81" name="矩形 280"/>
              <p:cNvSpPr/>
              <p:nvPr/>
            </p:nvSpPr>
            <p:spPr>
              <a:xfrm>
                <a:off x="63627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82" name="矩形 281"/>
              <p:cNvSpPr/>
              <p:nvPr/>
            </p:nvSpPr>
            <p:spPr>
              <a:xfrm>
                <a:off x="65151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83" name="矩形 282"/>
              <p:cNvSpPr/>
              <p:nvPr/>
            </p:nvSpPr>
            <p:spPr>
              <a:xfrm>
                <a:off x="66675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84" name="矩形 283"/>
              <p:cNvSpPr/>
              <p:nvPr/>
            </p:nvSpPr>
            <p:spPr>
              <a:xfrm>
                <a:off x="68199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85" name="矩形 284"/>
              <p:cNvSpPr/>
              <p:nvPr/>
            </p:nvSpPr>
            <p:spPr>
              <a:xfrm>
                <a:off x="69723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86" name="矩形 285"/>
              <p:cNvSpPr/>
              <p:nvPr/>
            </p:nvSpPr>
            <p:spPr>
              <a:xfrm>
                <a:off x="71247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87" name="矩形 286"/>
              <p:cNvSpPr/>
              <p:nvPr/>
            </p:nvSpPr>
            <p:spPr>
              <a:xfrm>
                <a:off x="72771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88" name="矩形 287"/>
              <p:cNvSpPr/>
              <p:nvPr/>
            </p:nvSpPr>
            <p:spPr>
              <a:xfrm>
                <a:off x="74295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89" name="矩形 288"/>
              <p:cNvSpPr/>
              <p:nvPr/>
            </p:nvSpPr>
            <p:spPr>
              <a:xfrm>
                <a:off x="75819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90" name="矩形 289"/>
              <p:cNvSpPr/>
              <p:nvPr/>
            </p:nvSpPr>
            <p:spPr>
              <a:xfrm>
                <a:off x="77343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</p:grpSp>
        <p:grpSp>
          <p:nvGrpSpPr>
            <p:cNvPr id="166" name="组合 165"/>
            <p:cNvGrpSpPr/>
            <p:nvPr/>
          </p:nvGrpSpPr>
          <p:grpSpPr>
            <a:xfrm>
              <a:off x="5295900" y="2451100"/>
              <a:ext cx="2552700" cy="114300"/>
              <a:chOff x="5295900" y="2146300"/>
              <a:chExt cx="2552700" cy="114300"/>
            </a:xfrm>
            <a:grpFill/>
          </p:grpSpPr>
          <p:sp>
            <p:nvSpPr>
              <p:cNvPr id="257" name="矩形 256"/>
              <p:cNvSpPr/>
              <p:nvPr/>
            </p:nvSpPr>
            <p:spPr>
              <a:xfrm>
                <a:off x="52959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58" name="矩形 257"/>
              <p:cNvSpPr/>
              <p:nvPr/>
            </p:nvSpPr>
            <p:spPr>
              <a:xfrm>
                <a:off x="54483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59" name="矩形 258"/>
              <p:cNvSpPr/>
              <p:nvPr/>
            </p:nvSpPr>
            <p:spPr>
              <a:xfrm>
                <a:off x="56007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60" name="矩形 259"/>
              <p:cNvSpPr/>
              <p:nvPr/>
            </p:nvSpPr>
            <p:spPr>
              <a:xfrm>
                <a:off x="57531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61" name="矩形 260"/>
              <p:cNvSpPr/>
              <p:nvPr/>
            </p:nvSpPr>
            <p:spPr>
              <a:xfrm>
                <a:off x="59055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62" name="矩形 261"/>
              <p:cNvSpPr/>
              <p:nvPr/>
            </p:nvSpPr>
            <p:spPr>
              <a:xfrm>
                <a:off x="60579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63" name="矩形 262"/>
              <p:cNvSpPr/>
              <p:nvPr/>
            </p:nvSpPr>
            <p:spPr>
              <a:xfrm>
                <a:off x="62103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64" name="矩形 263"/>
              <p:cNvSpPr/>
              <p:nvPr/>
            </p:nvSpPr>
            <p:spPr>
              <a:xfrm>
                <a:off x="63627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65" name="矩形 264"/>
              <p:cNvSpPr/>
              <p:nvPr/>
            </p:nvSpPr>
            <p:spPr>
              <a:xfrm>
                <a:off x="65151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66" name="矩形 265"/>
              <p:cNvSpPr/>
              <p:nvPr/>
            </p:nvSpPr>
            <p:spPr>
              <a:xfrm>
                <a:off x="66675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67" name="矩形 266"/>
              <p:cNvSpPr/>
              <p:nvPr/>
            </p:nvSpPr>
            <p:spPr>
              <a:xfrm>
                <a:off x="68199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68" name="矩形 267"/>
              <p:cNvSpPr/>
              <p:nvPr/>
            </p:nvSpPr>
            <p:spPr>
              <a:xfrm>
                <a:off x="69723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69" name="矩形 268"/>
              <p:cNvSpPr/>
              <p:nvPr/>
            </p:nvSpPr>
            <p:spPr>
              <a:xfrm>
                <a:off x="71247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70" name="矩形 269"/>
              <p:cNvSpPr/>
              <p:nvPr/>
            </p:nvSpPr>
            <p:spPr>
              <a:xfrm>
                <a:off x="72771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71" name="矩形 270"/>
              <p:cNvSpPr/>
              <p:nvPr/>
            </p:nvSpPr>
            <p:spPr>
              <a:xfrm>
                <a:off x="74295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72" name="矩形 271"/>
              <p:cNvSpPr/>
              <p:nvPr/>
            </p:nvSpPr>
            <p:spPr>
              <a:xfrm>
                <a:off x="75819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73" name="矩形 272"/>
              <p:cNvSpPr/>
              <p:nvPr/>
            </p:nvSpPr>
            <p:spPr>
              <a:xfrm>
                <a:off x="77343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</p:grpSp>
        <p:grpSp>
          <p:nvGrpSpPr>
            <p:cNvPr id="167" name="组合 166"/>
            <p:cNvGrpSpPr/>
            <p:nvPr/>
          </p:nvGrpSpPr>
          <p:grpSpPr>
            <a:xfrm>
              <a:off x="5295900" y="2603500"/>
              <a:ext cx="2552700" cy="114300"/>
              <a:chOff x="5295900" y="2146300"/>
              <a:chExt cx="2552700" cy="114300"/>
            </a:xfrm>
            <a:grpFill/>
          </p:grpSpPr>
          <p:sp>
            <p:nvSpPr>
              <p:cNvPr id="240" name="矩形 239"/>
              <p:cNvSpPr/>
              <p:nvPr/>
            </p:nvSpPr>
            <p:spPr>
              <a:xfrm>
                <a:off x="52959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41" name="矩形 240"/>
              <p:cNvSpPr/>
              <p:nvPr/>
            </p:nvSpPr>
            <p:spPr>
              <a:xfrm>
                <a:off x="54483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42" name="矩形 241"/>
              <p:cNvSpPr/>
              <p:nvPr/>
            </p:nvSpPr>
            <p:spPr>
              <a:xfrm>
                <a:off x="56007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43" name="矩形 242"/>
              <p:cNvSpPr/>
              <p:nvPr/>
            </p:nvSpPr>
            <p:spPr>
              <a:xfrm>
                <a:off x="57531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44" name="矩形 243"/>
              <p:cNvSpPr/>
              <p:nvPr/>
            </p:nvSpPr>
            <p:spPr>
              <a:xfrm>
                <a:off x="59055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45" name="矩形 244"/>
              <p:cNvSpPr/>
              <p:nvPr/>
            </p:nvSpPr>
            <p:spPr>
              <a:xfrm>
                <a:off x="60579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46" name="矩形 245"/>
              <p:cNvSpPr/>
              <p:nvPr/>
            </p:nvSpPr>
            <p:spPr>
              <a:xfrm>
                <a:off x="62103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47" name="矩形 246"/>
              <p:cNvSpPr/>
              <p:nvPr/>
            </p:nvSpPr>
            <p:spPr>
              <a:xfrm>
                <a:off x="63627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48" name="矩形 247"/>
              <p:cNvSpPr/>
              <p:nvPr/>
            </p:nvSpPr>
            <p:spPr>
              <a:xfrm>
                <a:off x="65151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49" name="矩形 248"/>
              <p:cNvSpPr/>
              <p:nvPr/>
            </p:nvSpPr>
            <p:spPr>
              <a:xfrm>
                <a:off x="66675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50" name="矩形 249"/>
              <p:cNvSpPr/>
              <p:nvPr/>
            </p:nvSpPr>
            <p:spPr>
              <a:xfrm>
                <a:off x="68199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51" name="矩形 250"/>
              <p:cNvSpPr/>
              <p:nvPr/>
            </p:nvSpPr>
            <p:spPr>
              <a:xfrm>
                <a:off x="69723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52" name="矩形 251"/>
              <p:cNvSpPr/>
              <p:nvPr/>
            </p:nvSpPr>
            <p:spPr>
              <a:xfrm>
                <a:off x="71247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53" name="矩形 252"/>
              <p:cNvSpPr/>
              <p:nvPr/>
            </p:nvSpPr>
            <p:spPr>
              <a:xfrm>
                <a:off x="72771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54" name="矩形 253"/>
              <p:cNvSpPr/>
              <p:nvPr/>
            </p:nvSpPr>
            <p:spPr>
              <a:xfrm>
                <a:off x="74295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55" name="矩形 254"/>
              <p:cNvSpPr/>
              <p:nvPr/>
            </p:nvSpPr>
            <p:spPr>
              <a:xfrm>
                <a:off x="75819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56" name="矩形 255"/>
              <p:cNvSpPr/>
              <p:nvPr/>
            </p:nvSpPr>
            <p:spPr>
              <a:xfrm>
                <a:off x="77343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</p:grpSp>
        <p:grpSp>
          <p:nvGrpSpPr>
            <p:cNvPr id="168" name="组合 167"/>
            <p:cNvGrpSpPr/>
            <p:nvPr/>
          </p:nvGrpSpPr>
          <p:grpSpPr>
            <a:xfrm>
              <a:off x="5295900" y="2755900"/>
              <a:ext cx="2552700" cy="114300"/>
              <a:chOff x="5295900" y="2146300"/>
              <a:chExt cx="2552700" cy="114300"/>
            </a:xfrm>
            <a:grpFill/>
          </p:grpSpPr>
          <p:sp>
            <p:nvSpPr>
              <p:cNvPr id="223" name="矩形 222"/>
              <p:cNvSpPr/>
              <p:nvPr/>
            </p:nvSpPr>
            <p:spPr>
              <a:xfrm>
                <a:off x="52959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24" name="矩形 223"/>
              <p:cNvSpPr/>
              <p:nvPr/>
            </p:nvSpPr>
            <p:spPr>
              <a:xfrm>
                <a:off x="54483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25" name="矩形 224"/>
              <p:cNvSpPr/>
              <p:nvPr/>
            </p:nvSpPr>
            <p:spPr>
              <a:xfrm>
                <a:off x="56007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26" name="矩形 225"/>
              <p:cNvSpPr/>
              <p:nvPr/>
            </p:nvSpPr>
            <p:spPr>
              <a:xfrm>
                <a:off x="57531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27" name="矩形 226"/>
              <p:cNvSpPr/>
              <p:nvPr/>
            </p:nvSpPr>
            <p:spPr>
              <a:xfrm>
                <a:off x="59055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28" name="矩形 227"/>
              <p:cNvSpPr/>
              <p:nvPr/>
            </p:nvSpPr>
            <p:spPr>
              <a:xfrm>
                <a:off x="60579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29" name="矩形 228"/>
              <p:cNvSpPr/>
              <p:nvPr/>
            </p:nvSpPr>
            <p:spPr>
              <a:xfrm>
                <a:off x="62103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30" name="矩形 229"/>
              <p:cNvSpPr/>
              <p:nvPr/>
            </p:nvSpPr>
            <p:spPr>
              <a:xfrm>
                <a:off x="63627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31" name="矩形 230"/>
              <p:cNvSpPr/>
              <p:nvPr/>
            </p:nvSpPr>
            <p:spPr>
              <a:xfrm>
                <a:off x="65151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32" name="矩形 231"/>
              <p:cNvSpPr/>
              <p:nvPr/>
            </p:nvSpPr>
            <p:spPr>
              <a:xfrm>
                <a:off x="66675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33" name="矩形 232"/>
              <p:cNvSpPr/>
              <p:nvPr/>
            </p:nvSpPr>
            <p:spPr>
              <a:xfrm>
                <a:off x="68199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34" name="矩形 233"/>
              <p:cNvSpPr/>
              <p:nvPr/>
            </p:nvSpPr>
            <p:spPr>
              <a:xfrm>
                <a:off x="69723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35" name="矩形 234"/>
              <p:cNvSpPr/>
              <p:nvPr/>
            </p:nvSpPr>
            <p:spPr>
              <a:xfrm>
                <a:off x="71247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36" name="矩形 235"/>
              <p:cNvSpPr/>
              <p:nvPr/>
            </p:nvSpPr>
            <p:spPr>
              <a:xfrm>
                <a:off x="72771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37" name="矩形 236"/>
              <p:cNvSpPr/>
              <p:nvPr/>
            </p:nvSpPr>
            <p:spPr>
              <a:xfrm>
                <a:off x="74295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38" name="矩形 237"/>
              <p:cNvSpPr/>
              <p:nvPr/>
            </p:nvSpPr>
            <p:spPr>
              <a:xfrm>
                <a:off x="75819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39" name="矩形 238"/>
              <p:cNvSpPr/>
              <p:nvPr/>
            </p:nvSpPr>
            <p:spPr>
              <a:xfrm>
                <a:off x="77343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</p:grpSp>
        <p:grpSp>
          <p:nvGrpSpPr>
            <p:cNvPr id="169" name="组合 168"/>
            <p:cNvGrpSpPr/>
            <p:nvPr/>
          </p:nvGrpSpPr>
          <p:grpSpPr>
            <a:xfrm>
              <a:off x="5295900" y="2908300"/>
              <a:ext cx="2552700" cy="114300"/>
              <a:chOff x="5295900" y="2146300"/>
              <a:chExt cx="2552700" cy="114300"/>
            </a:xfrm>
            <a:grpFill/>
          </p:grpSpPr>
          <p:sp>
            <p:nvSpPr>
              <p:cNvPr id="206" name="矩形 205"/>
              <p:cNvSpPr/>
              <p:nvPr/>
            </p:nvSpPr>
            <p:spPr>
              <a:xfrm>
                <a:off x="52959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07" name="矩形 206"/>
              <p:cNvSpPr/>
              <p:nvPr/>
            </p:nvSpPr>
            <p:spPr>
              <a:xfrm>
                <a:off x="54483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08" name="矩形 207"/>
              <p:cNvSpPr/>
              <p:nvPr/>
            </p:nvSpPr>
            <p:spPr>
              <a:xfrm>
                <a:off x="56007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09" name="矩形 208"/>
              <p:cNvSpPr/>
              <p:nvPr/>
            </p:nvSpPr>
            <p:spPr>
              <a:xfrm>
                <a:off x="57531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10" name="矩形 209"/>
              <p:cNvSpPr/>
              <p:nvPr/>
            </p:nvSpPr>
            <p:spPr>
              <a:xfrm>
                <a:off x="59055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11" name="矩形 210"/>
              <p:cNvSpPr/>
              <p:nvPr/>
            </p:nvSpPr>
            <p:spPr>
              <a:xfrm>
                <a:off x="60579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12" name="矩形 211"/>
              <p:cNvSpPr/>
              <p:nvPr/>
            </p:nvSpPr>
            <p:spPr>
              <a:xfrm>
                <a:off x="62103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13" name="矩形 212"/>
              <p:cNvSpPr/>
              <p:nvPr/>
            </p:nvSpPr>
            <p:spPr>
              <a:xfrm>
                <a:off x="63627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14" name="矩形 213"/>
              <p:cNvSpPr/>
              <p:nvPr/>
            </p:nvSpPr>
            <p:spPr>
              <a:xfrm>
                <a:off x="65151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15" name="矩形 214"/>
              <p:cNvSpPr/>
              <p:nvPr/>
            </p:nvSpPr>
            <p:spPr>
              <a:xfrm>
                <a:off x="66675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16" name="矩形 215"/>
              <p:cNvSpPr/>
              <p:nvPr/>
            </p:nvSpPr>
            <p:spPr>
              <a:xfrm>
                <a:off x="68199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17" name="矩形 216"/>
              <p:cNvSpPr/>
              <p:nvPr/>
            </p:nvSpPr>
            <p:spPr>
              <a:xfrm>
                <a:off x="69723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18" name="矩形 217"/>
              <p:cNvSpPr/>
              <p:nvPr/>
            </p:nvSpPr>
            <p:spPr>
              <a:xfrm>
                <a:off x="71247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19" name="矩形 218"/>
              <p:cNvSpPr/>
              <p:nvPr/>
            </p:nvSpPr>
            <p:spPr>
              <a:xfrm>
                <a:off x="72771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20" name="矩形 219"/>
              <p:cNvSpPr/>
              <p:nvPr/>
            </p:nvSpPr>
            <p:spPr>
              <a:xfrm>
                <a:off x="74295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21" name="矩形 220"/>
              <p:cNvSpPr/>
              <p:nvPr/>
            </p:nvSpPr>
            <p:spPr>
              <a:xfrm>
                <a:off x="75819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22" name="矩形 221"/>
              <p:cNvSpPr/>
              <p:nvPr/>
            </p:nvSpPr>
            <p:spPr>
              <a:xfrm>
                <a:off x="77343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</p:grpSp>
        <p:grpSp>
          <p:nvGrpSpPr>
            <p:cNvPr id="170" name="组合 169"/>
            <p:cNvGrpSpPr/>
            <p:nvPr/>
          </p:nvGrpSpPr>
          <p:grpSpPr>
            <a:xfrm>
              <a:off x="5295900" y="3060700"/>
              <a:ext cx="2552700" cy="114300"/>
              <a:chOff x="5295900" y="2146300"/>
              <a:chExt cx="2552700" cy="114300"/>
            </a:xfrm>
            <a:grpFill/>
          </p:grpSpPr>
          <p:sp>
            <p:nvSpPr>
              <p:cNvPr id="189" name="矩形 188"/>
              <p:cNvSpPr/>
              <p:nvPr/>
            </p:nvSpPr>
            <p:spPr>
              <a:xfrm>
                <a:off x="52959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190" name="矩形 189"/>
              <p:cNvSpPr/>
              <p:nvPr/>
            </p:nvSpPr>
            <p:spPr>
              <a:xfrm>
                <a:off x="54483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191" name="矩形 190"/>
              <p:cNvSpPr/>
              <p:nvPr/>
            </p:nvSpPr>
            <p:spPr>
              <a:xfrm>
                <a:off x="56007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192" name="矩形 191"/>
              <p:cNvSpPr/>
              <p:nvPr/>
            </p:nvSpPr>
            <p:spPr>
              <a:xfrm>
                <a:off x="57531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193" name="矩形 192"/>
              <p:cNvSpPr/>
              <p:nvPr/>
            </p:nvSpPr>
            <p:spPr>
              <a:xfrm>
                <a:off x="59055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194" name="矩形 193"/>
              <p:cNvSpPr/>
              <p:nvPr/>
            </p:nvSpPr>
            <p:spPr>
              <a:xfrm>
                <a:off x="60579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195" name="矩形 194"/>
              <p:cNvSpPr/>
              <p:nvPr/>
            </p:nvSpPr>
            <p:spPr>
              <a:xfrm>
                <a:off x="62103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196" name="矩形 195"/>
              <p:cNvSpPr/>
              <p:nvPr/>
            </p:nvSpPr>
            <p:spPr>
              <a:xfrm>
                <a:off x="63627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197" name="矩形 196"/>
              <p:cNvSpPr/>
              <p:nvPr/>
            </p:nvSpPr>
            <p:spPr>
              <a:xfrm>
                <a:off x="65151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198" name="矩形 197"/>
              <p:cNvSpPr/>
              <p:nvPr/>
            </p:nvSpPr>
            <p:spPr>
              <a:xfrm>
                <a:off x="66675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199" name="矩形 198"/>
              <p:cNvSpPr/>
              <p:nvPr/>
            </p:nvSpPr>
            <p:spPr>
              <a:xfrm>
                <a:off x="68199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00" name="矩形 199"/>
              <p:cNvSpPr/>
              <p:nvPr/>
            </p:nvSpPr>
            <p:spPr>
              <a:xfrm>
                <a:off x="69723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01" name="矩形 200"/>
              <p:cNvSpPr/>
              <p:nvPr/>
            </p:nvSpPr>
            <p:spPr>
              <a:xfrm>
                <a:off x="71247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02" name="矩形 201"/>
              <p:cNvSpPr/>
              <p:nvPr/>
            </p:nvSpPr>
            <p:spPr>
              <a:xfrm>
                <a:off x="72771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03" name="矩形 202"/>
              <p:cNvSpPr/>
              <p:nvPr/>
            </p:nvSpPr>
            <p:spPr>
              <a:xfrm>
                <a:off x="74295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04" name="矩形 203"/>
              <p:cNvSpPr/>
              <p:nvPr/>
            </p:nvSpPr>
            <p:spPr>
              <a:xfrm>
                <a:off x="75819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05" name="矩形 204"/>
              <p:cNvSpPr/>
              <p:nvPr/>
            </p:nvSpPr>
            <p:spPr>
              <a:xfrm>
                <a:off x="77343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</p:grpSp>
        <p:grpSp>
          <p:nvGrpSpPr>
            <p:cNvPr id="171" name="组合 170"/>
            <p:cNvGrpSpPr/>
            <p:nvPr/>
          </p:nvGrpSpPr>
          <p:grpSpPr>
            <a:xfrm>
              <a:off x="5295900" y="3213100"/>
              <a:ext cx="2552700" cy="114300"/>
              <a:chOff x="5295900" y="2146300"/>
              <a:chExt cx="2552700" cy="114300"/>
            </a:xfrm>
            <a:grpFill/>
          </p:grpSpPr>
          <p:sp>
            <p:nvSpPr>
              <p:cNvPr id="172" name="矩形 171"/>
              <p:cNvSpPr/>
              <p:nvPr/>
            </p:nvSpPr>
            <p:spPr>
              <a:xfrm>
                <a:off x="52959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173" name="矩形 172"/>
              <p:cNvSpPr/>
              <p:nvPr/>
            </p:nvSpPr>
            <p:spPr>
              <a:xfrm>
                <a:off x="54483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174" name="矩形 173"/>
              <p:cNvSpPr/>
              <p:nvPr/>
            </p:nvSpPr>
            <p:spPr>
              <a:xfrm>
                <a:off x="56007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175" name="矩形 174"/>
              <p:cNvSpPr/>
              <p:nvPr/>
            </p:nvSpPr>
            <p:spPr>
              <a:xfrm>
                <a:off x="57531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176" name="矩形 175"/>
              <p:cNvSpPr/>
              <p:nvPr/>
            </p:nvSpPr>
            <p:spPr>
              <a:xfrm>
                <a:off x="59055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177" name="矩形 176"/>
              <p:cNvSpPr/>
              <p:nvPr/>
            </p:nvSpPr>
            <p:spPr>
              <a:xfrm>
                <a:off x="60579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178" name="矩形 177"/>
              <p:cNvSpPr/>
              <p:nvPr/>
            </p:nvSpPr>
            <p:spPr>
              <a:xfrm>
                <a:off x="62103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179" name="矩形 178"/>
              <p:cNvSpPr/>
              <p:nvPr/>
            </p:nvSpPr>
            <p:spPr>
              <a:xfrm>
                <a:off x="63627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180" name="矩形 179"/>
              <p:cNvSpPr/>
              <p:nvPr/>
            </p:nvSpPr>
            <p:spPr>
              <a:xfrm>
                <a:off x="65151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181" name="矩形 180"/>
              <p:cNvSpPr/>
              <p:nvPr/>
            </p:nvSpPr>
            <p:spPr>
              <a:xfrm>
                <a:off x="66675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182" name="矩形 181"/>
              <p:cNvSpPr/>
              <p:nvPr/>
            </p:nvSpPr>
            <p:spPr>
              <a:xfrm>
                <a:off x="68199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183" name="矩形 182"/>
              <p:cNvSpPr/>
              <p:nvPr/>
            </p:nvSpPr>
            <p:spPr>
              <a:xfrm>
                <a:off x="69723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184" name="矩形 183"/>
              <p:cNvSpPr/>
              <p:nvPr/>
            </p:nvSpPr>
            <p:spPr>
              <a:xfrm>
                <a:off x="71247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185" name="矩形 184"/>
              <p:cNvSpPr/>
              <p:nvPr/>
            </p:nvSpPr>
            <p:spPr>
              <a:xfrm>
                <a:off x="72771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186" name="矩形 185"/>
              <p:cNvSpPr/>
              <p:nvPr/>
            </p:nvSpPr>
            <p:spPr>
              <a:xfrm>
                <a:off x="74295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187" name="矩形 186"/>
              <p:cNvSpPr/>
              <p:nvPr/>
            </p:nvSpPr>
            <p:spPr>
              <a:xfrm>
                <a:off x="75819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188" name="矩形 187"/>
              <p:cNvSpPr/>
              <p:nvPr/>
            </p:nvSpPr>
            <p:spPr>
              <a:xfrm>
                <a:off x="77343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</p:grpSp>
      </p:grpSp>
      <p:sp>
        <p:nvSpPr>
          <p:cNvPr id="158" name="矩形 157"/>
          <p:cNvSpPr/>
          <p:nvPr/>
        </p:nvSpPr>
        <p:spPr>
          <a:xfrm>
            <a:off x="-12326" y="11038"/>
            <a:ext cx="3589020" cy="1498600"/>
          </a:xfrm>
          <a:prstGeom prst="rect">
            <a:avLst/>
          </a:prstGeom>
          <a:solidFill>
            <a:srgbClr val="0065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 b="1" dirty="0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159" name="文本框 333"/>
          <p:cNvSpPr txBox="1"/>
          <p:nvPr/>
        </p:nvSpPr>
        <p:spPr>
          <a:xfrm>
            <a:off x="119999" y="1654419"/>
            <a:ext cx="8849575" cy="1766021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3200" b="1" dirty="0">
                <a:solidFill>
                  <a:srgbClr val="0065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  <a:sym typeface="inpin heiti" panose="00000500000000000000" pitchFamily="2" charset="-122"/>
              </a:rPr>
              <a:t> </a:t>
            </a:r>
            <a:r>
              <a:rPr lang="en-US" altLang="zh-CN" sz="3200" b="1" dirty="0" err="1">
                <a:solidFill>
                  <a:srgbClr val="0065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  <a:sym typeface="inpin heiti" panose="00000500000000000000" pitchFamily="2" charset="-122"/>
              </a:rPr>
              <a:t>MapGPT</a:t>
            </a:r>
            <a:r>
              <a:rPr lang="en-US" altLang="zh-CN" sz="3200" b="1" dirty="0">
                <a:solidFill>
                  <a:srgbClr val="0065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  <a:sym typeface="inpin heiti" panose="00000500000000000000" pitchFamily="2" charset="-122"/>
              </a:rPr>
              <a:t>: Map-Guided Prompting with Adaptive Path Planning for Vision-and-Language Navigation</a:t>
            </a:r>
            <a:endParaRPr lang="zh-CN" altLang="en-US" sz="3200" b="1" dirty="0">
              <a:solidFill>
                <a:srgbClr val="00658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iSans" panose="02010600030101010101" charset="-122"/>
              <a:sym typeface="inpin heiti" panose="00000500000000000000" pitchFamily="2" charset="-122"/>
            </a:endParaRPr>
          </a:p>
        </p:txBody>
      </p:sp>
      <p:sp>
        <p:nvSpPr>
          <p:cNvPr id="162" name="矩形 161"/>
          <p:cNvSpPr/>
          <p:nvPr/>
        </p:nvSpPr>
        <p:spPr>
          <a:xfrm flipV="1">
            <a:off x="0" y="3860999"/>
            <a:ext cx="8969573" cy="97896"/>
          </a:xfrm>
          <a:prstGeom prst="rect">
            <a:avLst/>
          </a:prstGeom>
          <a:solidFill>
            <a:srgbClr val="0065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pic>
        <p:nvPicPr>
          <p:cNvPr id="161" name="图片 160" descr="校徽-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00" y="155819"/>
            <a:ext cx="3467735" cy="1152525"/>
          </a:xfrm>
          <a:prstGeom prst="rect">
            <a:avLst/>
          </a:prstGeom>
        </p:spPr>
      </p:pic>
      <p:pic>
        <p:nvPicPr>
          <p:cNvPr id="308" name="图片 307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69575" y="-8561"/>
            <a:ext cx="3222425" cy="6858000"/>
          </a:xfrm>
          <a:prstGeom prst="rect">
            <a:avLst/>
          </a:prstGeom>
        </p:spPr>
      </p:pic>
      <p:graphicFrame>
        <p:nvGraphicFramePr>
          <p:cNvPr id="311" name="表格 310"/>
          <p:cNvGraphicFramePr>
            <a:graphicFrameLocks noGrp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970576194"/>
              </p:ext>
            </p:extLst>
          </p:nvPr>
        </p:nvGraphicFramePr>
        <p:xfrm>
          <a:off x="2783755" y="4494960"/>
          <a:ext cx="3417938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87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091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algn="dist" defTabSz="914400" rtl="0" eaLnBrk="1" latinLnBrk="0" hangingPunct="1"/>
                      <a:r>
                        <a:rPr lang="zh-CN" altLang="en-US" sz="1800" b="1" kern="12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报   告   人：</a:t>
                      </a:r>
                      <a:endParaRPr lang="zh-CN" altLang="en-US" sz="1800" b="1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zh-CN" altLang="en-US" sz="1800" b="1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dist" defTabSz="914400" rtl="0" eaLnBrk="1" latinLnBrk="0" hangingPunct="1"/>
                      <a:r>
                        <a:rPr lang="zh-CN" altLang="en-US" sz="1800" b="1" kern="12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学     号：</a:t>
                      </a:r>
                      <a:endParaRPr lang="zh-CN" altLang="en-US" sz="1800" b="1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zh-CN" altLang="en-US" sz="1800" b="1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dist" defTabSz="914400" rtl="0" eaLnBrk="1" latinLnBrk="0" hangingPunct="1"/>
                      <a:r>
                        <a:rPr lang="zh-CN" altLang="en-US" sz="1800" b="1" kern="12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指导教师：</a:t>
                      </a:r>
                      <a:endParaRPr lang="zh-CN" altLang="en-US" sz="1800" b="1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zh-CN" altLang="en-US" sz="1800" b="1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dist" defTabSz="914400" rtl="0" eaLnBrk="1" latinLnBrk="0" hangingPunct="1"/>
                      <a:r>
                        <a:rPr lang="zh-CN" altLang="en-US" sz="1800" b="1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报告日期：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zh-CN" altLang="en-US" sz="1800" b="1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hape 3">
            <a:extLst>
              <a:ext uri="{FF2B5EF4-FFF2-40B4-BE49-F238E27FC236}">
                <a16:creationId xmlns:a16="http://schemas.microsoft.com/office/drawing/2014/main" id="{CCB4A4D2-2BB4-4DA9-B43E-27137BDB5339}"/>
              </a:ext>
            </a:extLst>
          </p:cNvPr>
          <p:cNvSpPr/>
          <p:nvPr/>
        </p:nvSpPr>
        <p:spPr>
          <a:xfrm>
            <a:off x="-677785" y="6900072"/>
            <a:ext cx="0" cy="115582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39" name="Shape 4">
            <a:extLst>
              <a:ext uri="{FF2B5EF4-FFF2-40B4-BE49-F238E27FC236}">
                <a16:creationId xmlns:a16="http://schemas.microsoft.com/office/drawing/2014/main" id="{629F0BF3-9C1D-455A-989D-5662A6554E75}"/>
              </a:ext>
            </a:extLst>
          </p:cNvPr>
          <p:cNvSpPr/>
          <p:nvPr/>
        </p:nvSpPr>
        <p:spPr>
          <a:xfrm>
            <a:off x="-590155" y="6900072"/>
            <a:ext cx="0" cy="115582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40" name="Shape 5">
            <a:extLst>
              <a:ext uri="{FF2B5EF4-FFF2-40B4-BE49-F238E27FC236}">
                <a16:creationId xmlns:a16="http://schemas.microsoft.com/office/drawing/2014/main" id="{4BAB1488-3927-454B-91C5-92DB9E2C140C}"/>
              </a:ext>
            </a:extLst>
          </p:cNvPr>
          <p:cNvSpPr/>
          <p:nvPr/>
        </p:nvSpPr>
        <p:spPr>
          <a:xfrm>
            <a:off x="-501890" y="6802934"/>
            <a:ext cx="0" cy="20256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41" name="Shape 6">
            <a:extLst>
              <a:ext uri="{FF2B5EF4-FFF2-40B4-BE49-F238E27FC236}">
                <a16:creationId xmlns:a16="http://schemas.microsoft.com/office/drawing/2014/main" id="{C48C4EE8-1A5E-4C21-8CC8-98EC0C7FCE10}"/>
              </a:ext>
            </a:extLst>
          </p:cNvPr>
          <p:cNvSpPr/>
          <p:nvPr/>
        </p:nvSpPr>
        <p:spPr>
          <a:xfrm>
            <a:off x="-414260" y="6900072"/>
            <a:ext cx="0" cy="115582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42" name="Shape 7">
            <a:extLst>
              <a:ext uri="{FF2B5EF4-FFF2-40B4-BE49-F238E27FC236}">
                <a16:creationId xmlns:a16="http://schemas.microsoft.com/office/drawing/2014/main" id="{24CFC9BC-4D96-4575-A5D7-EB3F61E4DD11}"/>
              </a:ext>
            </a:extLst>
          </p:cNvPr>
          <p:cNvSpPr/>
          <p:nvPr/>
        </p:nvSpPr>
        <p:spPr>
          <a:xfrm>
            <a:off x="-325995" y="6900072"/>
            <a:ext cx="0" cy="115582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64" name="Shape 3">
            <a:extLst>
              <a:ext uri="{FF2B5EF4-FFF2-40B4-BE49-F238E27FC236}">
                <a16:creationId xmlns:a16="http://schemas.microsoft.com/office/drawing/2014/main" id="{99A245DD-B593-4960-8CB9-B4E714DCA42B}"/>
              </a:ext>
            </a:extLst>
          </p:cNvPr>
          <p:cNvSpPr/>
          <p:nvPr/>
        </p:nvSpPr>
        <p:spPr>
          <a:xfrm>
            <a:off x="-251241" y="5944477"/>
            <a:ext cx="0" cy="101467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65" name="Shape 4">
            <a:extLst>
              <a:ext uri="{FF2B5EF4-FFF2-40B4-BE49-F238E27FC236}">
                <a16:creationId xmlns:a16="http://schemas.microsoft.com/office/drawing/2014/main" id="{D285B36B-BA6B-47E7-912C-C69A480B5E7B}"/>
              </a:ext>
            </a:extLst>
          </p:cNvPr>
          <p:cNvSpPr/>
          <p:nvPr/>
        </p:nvSpPr>
        <p:spPr>
          <a:xfrm>
            <a:off x="-163611" y="5944477"/>
            <a:ext cx="0" cy="101467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66" name="Shape 5">
            <a:extLst>
              <a:ext uri="{FF2B5EF4-FFF2-40B4-BE49-F238E27FC236}">
                <a16:creationId xmlns:a16="http://schemas.microsoft.com/office/drawing/2014/main" id="{B162677F-4236-4123-9675-D9B75B9DA17D}"/>
              </a:ext>
            </a:extLst>
          </p:cNvPr>
          <p:cNvSpPr/>
          <p:nvPr/>
        </p:nvSpPr>
        <p:spPr>
          <a:xfrm>
            <a:off x="-142354" y="5338681"/>
            <a:ext cx="0" cy="177823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67" name="Shape 6">
            <a:extLst>
              <a:ext uri="{FF2B5EF4-FFF2-40B4-BE49-F238E27FC236}">
                <a16:creationId xmlns:a16="http://schemas.microsoft.com/office/drawing/2014/main" id="{D66491B3-BD94-495F-831E-04A11DBB22E1}"/>
              </a:ext>
            </a:extLst>
          </p:cNvPr>
          <p:cNvSpPr/>
          <p:nvPr/>
        </p:nvSpPr>
        <p:spPr>
          <a:xfrm>
            <a:off x="-54724" y="5425196"/>
            <a:ext cx="0" cy="101467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68" name="Shape 7">
            <a:extLst>
              <a:ext uri="{FF2B5EF4-FFF2-40B4-BE49-F238E27FC236}">
                <a16:creationId xmlns:a16="http://schemas.microsoft.com/office/drawing/2014/main" id="{F2F52D77-5E21-4FCB-A0B3-B7F1B9C1E5EC}"/>
              </a:ext>
            </a:extLst>
          </p:cNvPr>
          <p:cNvSpPr/>
          <p:nvPr/>
        </p:nvSpPr>
        <p:spPr>
          <a:xfrm>
            <a:off x="1557541" y="5425196"/>
            <a:ext cx="0" cy="101467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101" name="Text 9">
            <a:extLst>
              <a:ext uri="{FF2B5EF4-FFF2-40B4-BE49-F238E27FC236}">
                <a16:creationId xmlns:a16="http://schemas.microsoft.com/office/drawing/2014/main" id="{E87E747E-4DCF-42B6-B18D-A5F3AEA62EE4}"/>
              </a:ext>
            </a:extLst>
          </p:cNvPr>
          <p:cNvSpPr/>
          <p:nvPr/>
        </p:nvSpPr>
        <p:spPr>
          <a:xfrm>
            <a:off x="12039" y="584775"/>
            <a:ext cx="6006724" cy="627588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核心问题（要点）：</a:t>
            </a:r>
          </a:p>
          <a:p>
            <a:pPr algn="just"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现有问题：以往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GPT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智能体（如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NavGPT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）仅基于局部视野决策，缺乏“全局观”，导致探索效率低下，尤其在犯错后无法有效回溯。</a:t>
            </a:r>
          </a:p>
          <a:p>
            <a:pPr algn="just"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核心思想：为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GPT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构建一个语言形式的在线拓扑地图，并激发其多步路径规划能力，使其像人类一样具备全局思维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MiSans" panose="02010600030101010101" charset="-122"/>
            </a:endParaRPr>
          </a:p>
          <a:p>
            <a:pPr algn="just">
              <a:lnSpc>
                <a:spcPct val="150000"/>
              </a:lnSpc>
            </a:pP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  <a:cs typeface="MiSans" panose="02010600030101010101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创新点：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  <a:cs typeface="MiSans" panose="02010600030101010101" charset="-122"/>
            </a:endParaRPr>
          </a:p>
          <a:p>
            <a:pPr algn="just"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1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、单专家系统：合并多专家为单一导航模块，适配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GPT-4/4V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，大幅节省计算成本。</a:t>
            </a:r>
          </a:p>
          <a:p>
            <a:pPr algn="just"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2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、语言化地图：用自然语言构建拓扑图（如“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A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连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B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、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C”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），替代坐标，赋予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GPT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全局视野。</a:t>
            </a:r>
          </a:p>
          <a:p>
            <a:pPr algn="just"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3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、自适应文本规划：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GPT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每步生成并更新多步文字计划（如“先试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X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，失败则回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Y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试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Z”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），实现系统探索与纠错。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MiSans" panose="02010600030101010101" charset="-122"/>
            </a:endParaRPr>
          </a:p>
          <a:p>
            <a:pPr algn="just">
              <a:lnSpc>
                <a:spcPct val="150000"/>
              </a:lnSpc>
            </a:pP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  <a:cs typeface="MiSans" panose="02010600030101010101" charset="-122"/>
            </a:endParaRPr>
          </a:p>
        </p:txBody>
      </p:sp>
      <p:sp>
        <p:nvSpPr>
          <p:cNvPr id="112" name="Shape 20">
            <a:extLst>
              <a:ext uri="{FF2B5EF4-FFF2-40B4-BE49-F238E27FC236}">
                <a16:creationId xmlns:a16="http://schemas.microsoft.com/office/drawing/2014/main" id="{907E2114-B18D-4CC1-9BE5-04231D8060F1}"/>
              </a:ext>
            </a:extLst>
          </p:cNvPr>
          <p:cNvSpPr/>
          <p:nvPr/>
        </p:nvSpPr>
        <p:spPr>
          <a:xfrm>
            <a:off x="4727155" y="5630950"/>
            <a:ext cx="652471" cy="54102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131" name="矩形 130">
            <a:extLst>
              <a:ext uri="{FF2B5EF4-FFF2-40B4-BE49-F238E27FC236}">
                <a16:creationId xmlns:a16="http://schemas.microsoft.com/office/drawing/2014/main" id="{C0A4228D-C9B2-4DF6-ADE5-EA509A72BEA2}"/>
              </a:ext>
            </a:extLst>
          </p:cNvPr>
          <p:cNvSpPr/>
          <p:nvPr/>
        </p:nvSpPr>
        <p:spPr>
          <a:xfrm flipV="1">
            <a:off x="0" y="563911"/>
            <a:ext cx="12192000" cy="94715"/>
          </a:xfrm>
          <a:prstGeom prst="rect">
            <a:avLst/>
          </a:prstGeom>
          <a:solidFill>
            <a:srgbClr val="0065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132" name="文本框 131">
            <a:extLst>
              <a:ext uri="{FF2B5EF4-FFF2-40B4-BE49-F238E27FC236}">
                <a16:creationId xmlns:a16="http://schemas.microsoft.com/office/drawing/2014/main" id="{47E2E811-D5FA-4E64-9B3A-0F9D21BB1D0C}"/>
              </a:ext>
            </a:extLst>
          </p:cNvPr>
          <p:cNvSpPr txBox="1"/>
          <p:nvPr/>
        </p:nvSpPr>
        <p:spPr>
          <a:xfrm>
            <a:off x="-4356" y="0"/>
            <a:ext cx="9261122" cy="584775"/>
          </a:xfrm>
          <a:prstGeom prst="rect">
            <a:avLst/>
          </a:prstGeom>
        </p:spPr>
        <p:txBody>
          <a:bodyPr wrap="square" rtlCol="0" anchor="t">
            <a:spAutoFit/>
          </a:bodyPr>
          <a:lstStyle/>
          <a:p>
            <a:r>
              <a:rPr lang="zh-CN" altLang="en-US" sz="3200" b="1" i="0" dirty="0">
                <a:solidFill>
                  <a:srgbClr val="0F1115"/>
                </a:solidFill>
                <a:effectLst/>
                <a:latin typeface="quote-cjk-patch"/>
              </a:rPr>
              <a:t>方法、优势与局限</a:t>
            </a:r>
            <a:endParaRPr lang="en-US" altLang="zh-CN" sz="1400" b="1" dirty="0">
              <a:latin typeface="微软雅黑" panose="020B0503020204020204" pitchFamily="34" charset="-122"/>
              <a:ea typeface="微软雅黑" panose="020B0503020204020204" pitchFamily="34" charset="-122"/>
              <a:cs typeface="MiSans" panose="02010600030101010101" charset="-122"/>
            </a:endParaRPr>
          </a:p>
        </p:txBody>
      </p:sp>
      <p:sp>
        <p:nvSpPr>
          <p:cNvPr id="133" name="Text 0">
            <a:extLst>
              <a:ext uri="{FF2B5EF4-FFF2-40B4-BE49-F238E27FC236}">
                <a16:creationId xmlns:a16="http://schemas.microsoft.com/office/drawing/2014/main" id="{29F306BF-CB06-453E-87CD-ED9CD49AB1E9}"/>
              </a:ext>
            </a:extLst>
          </p:cNvPr>
          <p:cNvSpPr/>
          <p:nvPr/>
        </p:nvSpPr>
        <p:spPr>
          <a:xfrm>
            <a:off x="2459305" y="479264"/>
            <a:ext cx="3049055" cy="60688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>
              <a:lnSpc>
                <a:spcPct val="90000"/>
              </a:lnSpc>
            </a:pPr>
            <a:r>
              <a:rPr lang="en-US" sz="4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Sans" pitchFamily="34" charset="-120"/>
              </a:rPr>
              <a:t> </a:t>
            </a:r>
            <a:endParaRPr lang="en-US" sz="1600" dirty="0"/>
          </a:p>
        </p:txBody>
      </p:sp>
      <p:sp>
        <p:nvSpPr>
          <p:cNvPr id="134" name="Shape 23">
            <a:extLst>
              <a:ext uri="{FF2B5EF4-FFF2-40B4-BE49-F238E27FC236}">
                <a16:creationId xmlns:a16="http://schemas.microsoft.com/office/drawing/2014/main" id="{947C43CF-6D32-48B2-9323-C8D3B84B6689}"/>
              </a:ext>
            </a:extLst>
          </p:cNvPr>
          <p:cNvSpPr/>
          <p:nvPr/>
        </p:nvSpPr>
        <p:spPr>
          <a:xfrm flipH="1">
            <a:off x="3094762" y="766446"/>
            <a:ext cx="78105" cy="71755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5" name="Text 24">
            <a:extLst>
              <a:ext uri="{FF2B5EF4-FFF2-40B4-BE49-F238E27FC236}">
                <a16:creationId xmlns:a16="http://schemas.microsoft.com/office/drawing/2014/main" id="{FC410578-49C6-4062-B42C-AB4DFE848D9F}"/>
              </a:ext>
            </a:extLst>
          </p:cNvPr>
          <p:cNvSpPr/>
          <p:nvPr/>
        </p:nvSpPr>
        <p:spPr>
          <a:xfrm>
            <a:off x="3094762" y="766446"/>
            <a:ext cx="78105" cy="7175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endParaRPr lang="en-US" sz="1600" dirty="0"/>
          </a:p>
        </p:txBody>
      </p:sp>
      <p:sp>
        <p:nvSpPr>
          <p:cNvPr id="136" name="Shape 25">
            <a:extLst>
              <a:ext uri="{FF2B5EF4-FFF2-40B4-BE49-F238E27FC236}">
                <a16:creationId xmlns:a16="http://schemas.microsoft.com/office/drawing/2014/main" id="{5B8EA68A-7FDB-48F6-B39F-E07E2A90ED58}"/>
              </a:ext>
            </a:extLst>
          </p:cNvPr>
          <p:cNvSpPr/>
          <p:nvPr/>
        </p:nvSpPr>
        <p:spPr>
          <a:xfrm flipH="1">
            <a:off x="2966492" y="766446"/>
            <a:ext cx="78105" cy="71755"/>
          </a:xfrm>
          <a:prstGeom prst="ellipse">
            <a:avLst/>
          </a:prstGeom>
          <a:solidFill>
            <a:srgbClr val="FFFFFF">
              <a:alpha val="56471"/>
            </a:srgbClr>
          </a:solidFill>
          <a:ln/>
        </p:spPr>
      </p:sp>
      <p:sp>
        <p:nvSpPr>
          <p:cNvPr id="137" name="Text 26">
            <a:extLst>
              <a:ext uri="{FF2B5EF4-FFF2-40B4-BE49-F238E27FC236}">
                <a16:creationId xmlns:a16="http://schemas.microsoft.com/office/drawing/2014/main" id="{A43D0174-B3BA-4797-A602-5502C8C941C3}"/>
              </a:ext>
            </a:extLst>
          </p:cNvPr>
          <p:cNvSpPr/>
          <p:nvPr/>
        </p:nvSpPr>
        <p:spPr>
          <a:xfrm>
            <a:off x="2966492" y="766446"/>
            <a:ext cx="78105" cy="7175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endParaRPr lang="en-US" sz="1600" dirty="0"/>
          </a:p>
        </p:txBody>
      </p:sp>
      <p:sp>
        <p:nvSpPr>
          <p:cNvPr id="138" name="Shape 27">
            <a:extLst>
              <a:ext uri="{FF2B5EF4-FFF2-40B4-BE49-F238E27FC236}">
                <a16:creationId xmlns:a16="http://schemas.microsoft.com/office/drawing/2014/main" id="{37AE5155-4F56-41F9-831C-5CA7223FB399}"/>
              </a:ext>
            </a:extLst>
          </p:cNvPr>
          <p:cNvSpPr/>
          <p:nvPr/>
        </p:nvSpPr>
        <p:spPr>
          <a:xfrm flipH="1">
            <a:off x="2835047" y="766446"/>
            <a:ext cx="78105" cy="71755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9" name="Text 28">
            <a:extLst>
              <a:ext uri="{FF2B5EF4-FFF2-40B4-BE49-F238E27FC236}">
                <a16:creationId xmlns:a16="http://schemas.microsoft.com/office/drawing/2014/main" id="{D329E221-2854-4782-81D9-D01713BC20A0}"/>
              </a:ext>
            </a:extLst>
          </p:cNvPr>
          <p:cNvSpPr/>
          <p:nvPr/>
        </p:nvSpPr>
        <p:spPr>
          <a:xfrm>
            <a:off x="2835047" y="766446"/>
            <a:ext cx="78105" cy="7175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endParaRPr lang="en-US" sz="1600" dirty="0"/>
          </a:p>
        </p:txBody>
      </p:sp>
      <p:sp>
        <p:nvSpPr>
          <p:cNvPr id="140" name="Shape 29">
            <a:extLst>
              <a:ext uri="{FF2B5EF4-FFF2-40B4-BE49-F238E27FC236}">
                <a16:creationId xmlns:a16="http://schemas.microsoft.com/office/drawing/2014/main" id="{B8E85980-0220-4FE3-ACD5-72469EE7A87B}"/>
              </a:ext>
            </a:extLst>
          </p:cNvPr>
          <p:cNvSpPr/>
          <p:nvPr/>
        </p:nvSpPr>
        <p:spPr>
          <a:xfrm flipH="1">
            <a:off x="2704237" y="766446"/>
            <a:ext cx="78105" cy="71755"/>
          </a:xfrm>
          <a:prstGeom prst="ellipse">
            <a:avLst/>
          </a:prstGeom>
          <a:solidFill>
            <a:srgbClr val="FFFFFF">
              <a:alpha val="56471"/>
            </a:srgbClr>
          </a:solidFill>
          <a:ln/>
        </p:spPr>
      </p:sp>
      <p:sp>
        <p:nvSpPr>
          <p:cNvPr id="141" name="Text 30">
            <a:extLst>
              <a:ext uri="{FF2B5EF4-FFF2-40B4-BE49-F238E27FC236}">
                <a16:creationId xmlns:a16="http://schemas.microsoft.com/office/drawing/2014/main" id="{189A7C4C-B83F-4371-AC8F-06B4585CCB88}"/>
              </a:ext>
            </a:extLst>
          </p:cNvPr>
          <p:cNvSpPr/>
          <p:nvPr/>
        </p:nvSpPr>
        <p:spPr>
          <a:xfrm>
            <a:off x="2704237" y="766446"/>
            <a:ext cx="78105" cy="7175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endParaRPr lang="en-US" sz="1600" dirty="0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BBA0CA5E-4E17-4E65-84B8-C151993B4B2E}"/>
              </a:ext>
            </a:extLst>
          </p:cNvPr>
          <p:cNvSpPr txBox="1"/>
          <p:nvPr/>
        </p:nvSpPr>
        <p:spPr>
          <a:xfrm>
            <a:off x="0" y="6598656"/>
            <a:ext cx="1078853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100" dirty="0">
                <a:latin typeface="Times New Roman" panose="02020603050405020304" pitchFamily="18" charset="0"/>
                <a:ea typeface="FangSong" panose="02010609060101010101" pitchFamily="49" charset="-122"/>
                <a:cs typeface="Times New Roman" panose="02020603050405020304" pitchFamily="18" charset="0"/>
              </a:rPr>
              <a:t>[1] MapGPT: Map-Guided Prompting with Adaptive Path Planning for Vision-and-Language Navigation,</a:t>
            </a:r>
            <a:r>
              <a:rPr kumimoji="1" lang="zh-CN" altLang="en-US" sz="1100" dirty="0">
                <a:latin typeface="Times New Roman" panose="02020603050405020304" pitchFamily="18" charset="0"/>
                <a:ea typeface="FangSong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1100" dirty="0">
                <a:latin typeface="Times New Roman" panose="02020603050405020304" pitchFamily="18" charset="0"/>
                <a:ea typeface="FangSong" panose="02010609060101010101" pitchFamily="49" charset="-122"/>
                <a:cs typeface="Times New Roman" panose="02020603050405020304" pitchFamily="18" charset="0"/>
              </a:rPr>
              <a:t>ACL</a:t>
            </a:r>
            <a:r>
              <a:rPr kumimoji="1" lang="zh-CN" altLang="en-US" sz="1100" dirty="0">
                <a:latin typeface="Times New Roman" panose="02020603050405020304" pitchFamily="18" charset="0"/>
                <a:ea typeface="FangSong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1100" dirty="0">
                <a:latin typeface="Times New Roman" panose="02020603050405020304" pitchFamily="18" charset="0"/>
                <a:ea typeface="FangSong" panose="02010609060101010101" pitchFamily="49" charset="-122"/>
                <a:cs typeface="Times New Roman" panose="02020603050405020304" pitchFamily="18" charset="0"/>
              </a:rPr>
              <a:t>2024,</a:t>
            </a:r>
            <a:r>
              <a:rPr kumimoji="1" lang="zh-CN" altLang="en-US" sz="1100" dirty="0">
                <a:latin typeface="Times New Roman" panose="02020603050405020304" pitchFamily="18" charset="0"/>
                <a:ea typeface="FangSong" panose="02010609060101010101" pitchFamily="49" charset="-122"/>
                <a:cs typeface="Times New Roman" panose="02020603050405020304" pitchFamily="18" charset="0"/>
              </a:rPr>
              <a:t> 中山大学</a:t>
            </a:r>
            <a:r>
              <a:rPr kumimoji="1" lang="en-US" altLang="zh-CN" sz="1100" dirty="0">
                <a:latin typeface="Times New Roman" panose="02020603050405020304" pitchFamily="18" charset="0"/>
                <a:ea typeface="FangSong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kumimoji="1" lang="zh-CN" altLang="en-US" sz="1100" dirty="0">
                <a:latin typeface="Times New Roman" panose="02020603050405020304" pitchFamily="18" charset="0"/>
                <a:ea typeface="FangSong" panose="02010609060101010101" pitchFamily="49" charset="-122"/>
                <a:cs typeface="Times New Roman" panose="02020603050405020304" pitchFamily="18" charset="0"/>
              </a:rPr>
              <a:t>深圳</a:t>
            </a:r>
            <a:r>
              <a:rPr kumimoji="1" lang="en-US" altLang="zh-CN" sz="1100" dirty="0">
                <a:latin typeface="Times New Roman" panose="02020603050405020304" pitchFamily="18" charset="0"/>
                <a:ea typeface="FangSong" panose="02010609060101010101" pitchFamily="49" charset="-122"/>
                <a:cs typeface="Times New Roman" panose="02020603050405020304" pitchFamily="18" charset="0"/>
              </a:rPr>
              <a:t>), </a:t>
            </a:r>
            <a:r>
              <a:rPr kumimoji="1" lang="zh-CN" altLang="en-US" sz="1100" dirty="0">
                <a:latin typeface="Times New Roman" panose="02020603050405020304" pitchFamily="18" charset="0"/>
                <a:ea typeface="FangSong" panose="02010609060101010101" pitchFamily="49" charset="-122"/>
                <a:cs typeface="Times New Roman" panose="02020603050405020304" pitchFamily="18" charset="0"/>
              </a:rPr>
              <a:t>香港大学</a:t>
            </a:r>
            <a:r>
              <a:rPr kumimoji="1" lang="en-US" altLang="zh-CN" sz="1100" dirty="0">
                <a:latin typeface="Times New Roman" panose="02020603050405020304" pitchFamily="18" charset="0"/>
                <a:ea typeface="FangSong" panose="02010609060101010101" pitchFamily="49" charset="-122"/>
                <a:cs typeface="Times New Roman" panose="02020603050405020304" pitchFamily="18" charset="0"/>
              </a:rPr>
              <a:t>, https://github.com/</a:t>
            </a:r>
            <a:r>
              <a:rPr kumimoji="1" lang="en-US" altLang="zh-CN" sz="1100" dirty="0" err="1">
                <a:latin typeface="Times New Roman" panose="02020603050405020304" pitchFamily="18" charset="0"/>
                <a:ea typeface="FangSong" panose="02010609060101010101" pitchFamily="49" charset="-122"/>
                <a:cs typeface="Times New Roman" panose="02020603050405020304" pitchFamily="18" charset="0"/>
              </a:rPr>
              <a:t>chen</a:t>
            </a:r>
            <a:r>
              <a:rPr kumimoji="1" lang="en-US" altLang="zh-CN" sz="1100" dirty="0">
                <a:latin typeface="Times New Roman" panose="02020603050405020304" pitchFamily="18" charset="0"/>
                <a:ea typeface="FangSong" panose="02010609060101010101" pitchFamily="49" charset="-122"/>
                <a:cs typeface="Times New Roman" panose="02020603050405020304" pitchFamily="18" charset="0"/>
              </a:rPr>
              <a:t>-judge/MapGPT/</a:t>
            </a:r>
            <a:endParaRPr kumimoji="1" lang="zh-CN" altLang="en-US" sz="1100" dirty="0">
              <a:latin typeface="Times New Roman" panose="02020603050405020304" pitchFamily="18" charset="0"/>
              <a:ea typeface="FangSong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15A4958-1B8D-4D11-A289-3D6D0F38B8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5240" y="782707"/>
            <a:ext cx="6013225" cy="4308895"/>
          </a:xfrm>
          <a:prstGeom prst="rect">
            <a:avLst/>
          </a:prstGeom>
        </p:spPr>
      </p:pic>
      <p:sp>
        <p:nvSpPr>
          <p:cNvPr id="30" name="Text 9">
            <a:extLst>
              <a:ext uri="{FF2B5EF4-FFF2-40B4-BE49-F238E27FC236}">
                <a16:creationId xmlns:a16="http://schemas.microsoft.com/office/drawing/2014/main" id="{79AE8434-542C-4D44-8823-B169B2569888}"/>
              </a:ext>
            </a:extLst>
          </p:cNvPr>
          <p:cNvSpPr/>
          <p:nvPr/>
        </p:nvSpPr>
        <p:spPr>
          <a:xfrm>
            <a:off x="6333381" y="5211071"/>
            <a:ext cx="5544000" cy="87440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左侧（无地图）智能体在错误后原地打转；右侧（有地图）智能体根据地图信息选择回溯。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MiSans" panose="02010600030101010101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279420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hape 3">
            <a:extLst>
              <a:ext uri="{FF2B5EF4-FFF2-40B4-BE49-F238E27FC236}">
                <a16:creationId xmlns:a16="http://schemas.microsoft.com/office/drawing/2014/main" id="{CCB4A4D2-2BB4-4DA9-B43E-27137BDB5339}"/>
              </a:ext>
            </a:extLst>
          </p:cNvPr>
          <p:cNvSpPr/>
          <p:nvPr/>
        </p:nvSpPr>
        <p:spPr>
          <a:xfrm>
            <a:off x="-677785" y="6900072"/>
            <a:ext cx="0" cy="115582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39" name="Shape 4">
            <a:extLst>
              <a:ext uri="{FF2B5EF4-FFF2-40B4-BE49-F238E27FC236}">
                <a16:creationId xmlns:a16="http://schemas.microsoft.com/office/drawing/2014/main" id="{629F0BF3-9C1D-455A-989D-5662A6554E75}"/>
              </a:ext>
            </a:extLst>
          </p:cNvPr>
          <p:cNvSpPr/>
          <p:nvPr/>
        </p:nvSpPr>
        <p:spPr>
          <a:xfrm>
            <a:off x="-590155" y="6900072"/>
            <a:ext cx="0" cy="115582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40" name="Shape 5">
            <a:extLst>
              <a:ext uri="{FF2B5EF4-FFF2-40B4-BE49-F238E27FC236}">
                <a16:creationId xmlns:a16="http://schemas.microsoft.com/office/drawing/2014/main" id="{4BAB1488-3927-454B-91C5-92DB9E2C140C}"/>
              </a:ext>
            </a:extLst>
          </p:cNvPr>
          <p:cNvSpPr/>
          <p:nvPr/>
        </p:nvSpPr>
        <p:spPr>
          <a:xfrm>
            <a:off x="-501890" y="6802934"/>
            <a:ext cx="0" cy="20256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41" name="Shape 6">
            <a:extLst>
              <a:ext uri="{FF2B5EF4-FFF2-40B4-BE49-F238E27FC236}">
                <a16:creationId xmlns:a16="http://schemas.microsoft.com/office/drawing/2014/main" id="{C48C4EE8-1A5E-4C21-8CC8-98EC0C7FCE10}"/>
              </a:ext>
            </a:extLst>
          </p:cNvPr>
          <p:cNvSpPr/>
          <p:nvPr/>
        </p:nvSpPr>
        <p:spPr>
          <a:xfrm>
            <a:off x="-414260" y="6900072"/>
            <a:ext cx="0" cy="115582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42" name="Shape 7">
            <a:extLst>
              <a:ext uri="{FF2B5EF4-FFF2-40B4-BE49-F238E27FC236}">
                <a16:creationId xmlns:a16="http://schemas.microsoft.com/office/drawing/2014/main" id="{24CFC9BC-4D96-4575-A5D7-EB3F61E4DD11}"/>
              </a:ext>
            </a:extLst>
          </p:cNvPr>
          <p:cNvSpPr/>
          <p:nvPr/>
        </p:nvSpPr>
        <p:spPr>
          <a:xfrm>
            <a:off x="-325995" y="6900072"/>
            <a:ext cx="0" cy="115582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64" name="Shape 3">
            <a:extLst>
              <a:ext uri="{FF2B5EF4-FFF2-40B4-BE49-F238E27FC236}">
                <a16:creationId xmlns:a16="http://schemas.microsoft.com/office/drawing/2014/main" id="{99A245DD-B593-4960-8CB9-B4E714DCA42B}"/>
              </a:ext>
            </a:extLst>
          </p:cNvPr>
          <p:cNvSpPr/>
          <p:nvPr/>
        </p:nvSpPr>
        <p:spPr>
          <a:xfrm>
            <a:off x="-251241" y="5944477"/>
            <a:ext cx="0" cy="101467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65" name="Shape 4">
            <a:extLst>
              <a:ext uri="{FF2B5EF4-FFF2-40B4-BE49-F238E27FC236}">
                <a16:creationId xmlns:a16="http://schemas.microsoft.com/office/drawing/2014/main" id="{D285B36B-BA6B-47E7-912C-C69A480B5E7B}"/>
              </a:ext>
            </a:extLst>
          </p:cNvPr>
          <p:cNvSpPr/>
          <p:nvPr/>
        </p:nvSpPr>
        <p:spPr>
          <a:xfrm>
            <a:off x="-163611" y="5944477"/>
            <a:ext cx="0" cy="101467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66" name="Shape 5">
            <a:extLst>
              <a:ext uri="{FF2B5EF4-FFF2-40B4-BE49-F238E27FC236}">
                <a16:creationId xmlns:a16="http://schemas.microsoft.com/office/drawing/2014/main" id="{B162677F-4236-4123-9675-D9B75B9DA17D}"/>
              </a:ext>
            </a:extLst>
          </p:cNvPr>
          <p:cNvSpPr/>
          <p:nvPr/>
        </p:nvSpPr>
        <p:spPr>
          <a:xfrm>
            <a:off x="-142354" y="5338681"/>
            <a:ext cx="0" cy="177823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67" name="Shape 6">
            <a:extLst>
              <a:ext uri="{FF2B5EF4-FFF2-40B4-BE49-F238E27FC236}">
                <a16:creationId xmlns:a16="http://schemas.microsoft.com/office/drawing/2014/main" id="{D66491B3-BD94-495F-831E-04A11DBB22E1}"/>
              </a:ext>
            </a:extLst>
          </p:cNvPr>
          <p:cNvSpPr/>
          <p:nvPr/>
        </p:nvSpPr>
        <p:spPr>
          <a:xfrm>
            <a:off x="-54724" y="5425196"/>
            <a:ext cx="0" cy="101467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68" name="Shape 7">
            <a:extLst>
              <a:ext uri="{FF2B5EF4-FFF2-40B4-BE49-F238E27FC236}">
                <a16:creationId xmlns:a16="http://schemas.microsoft.com/office/drawing/2014/main" id="{F2F52D77-5E21-4FCB-A0B3-B7F1B9C1E5EC}"/>
              </a:ext>
            </a:extLst>
          </p:cNvPr>
          <p:cNvSpPr/>
          <p:nvPr/>
        </p:nvSpPr>
        <p:spPr>
          <a:xfrm>
            <a:off x="1557541" y="5425196"/>
            <a:ext cx="0" cy="101467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112" name="Shape 20">
            <a:extLst>
              <a:ext uri="{FF2B5EF4-FFF2-40B4-BE49-F238E27FC236}">
                <a16:creationId xmlns:a16="http://schemas.microsoft.com/office/drawing/2014/main" id="{907E2114-B18D-4CC1-9BE5-04231D8060F1}"/>
              </a:ext>
            </a:extLst>
          </p:cNvPr>
          <p:cNvSpPr/>
          <p:nvPr/>
        </p:nvSpPr>
        <p:spPr>
          <a:xfrm>
            <a:off x="4727155" y="5630950"/>
            <a:ext cx="652471" cy="54102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131" name="矩形 130">
            <a:extLst>
              <a:ext uri="{FF2B5EF4-FFF2-40B4-BE49-F238E27FC236}">
                <a16:creationId xmlns:a16="http://schemas.microsoft.com/office/drawing/2014/main" id="{C0A4228D-C9B2-4DF6-ADE5-EA509A72BEA2}"/>
              </a:ext>
            </a:extLst>
          </p:cNvPr>
          <p:cNvSpPr/>
          <p:nvPr/>
        </p:nvSpPr>
        <p:spPr>
          <a:xfrm flipV="1">
            <a:off x="0" y="563911"/>
            <a:ext cx="12192000" cy="94715"/>
          </a:xfrm>
          <a:prstGeom prst="rect">
            <a:avLst/>
          </a:prstGeom>
          <a:solidFill>
            <a:srgbClr val="0065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132" name="文本框 131">
            <a:extLst>
              <a:ext uri="{FF2B5EF4-FFF2-40B4-BE49-F238E27FC236}">
                <a16:creationId xmlns:a16="http://schemas.microsoft.com/office/drawing/2014/main" id="{47E2E811-D5FA-4E64-9B3A-0F9D21BB1D0C}"/>
              </a:ext>
            </a:extLst>
          </p:cNvPr>
          <p:cNvSpPr txBox="1"/>
          <p:nvPr/>
        </p:nvSpPr>
        <p:spPr>
          <a:xfrm>
            <a:off x="-4356" y="0"/>
            <a:ext cx="9261122" cy="584775"/>
          </a:xfrm>
          <a:prstGeom prst="rect">
            <a:avLst/>
          </a:prstGeom>
        </p:spPr>
        <p:txBody>
          <a:bodyPr wrap="square" rtlCol="0" anchor="t">
            <a:spAutoFit/>
          </a:bodyPr>
          <a:lstStyle/>
          <a:p>
            <a:pPr algn="l"/>
            <a:r>
              <a:rPr lang="zh-CN" altLang="en-US" sz="3200" b="1" dirty="0">
                <a:solidFill>
                  <a:srgbClr val="0F1115"/>
                </a:solidFill>
                <a:effectLst/>
                <a:latin typeface="quote-cjk-patch"/>
              </a:rPr>
              <a:t>语言化拓扑地图</a:t>
            </a:r>
          </a:p>
        </p:txBody>
      </p:sp>
      <p:sp>
        <p:nvSpPr>
          <p:cNvPr id="133" name="Text 0">
            <a:extLst>
              <a:ext uri="{FF2B5EF4-FFF2-40B4-BE49-F238E27FC236}">
                <a16:creationId xmlns:a16="http://schemas.microsoft.com/office/drawing/2014/main" id="{29F306BF-CB06-453E-87CD-ED9CD49AB1E9}"/>
              </a:ext>
            </a:extLst>
          </p:cNvPr>
          <p:cNvSpPr/>
          <p:nvPr/>
        </p:nvSpPr>
        <p:spPr>
          <a:xfrm>
            <a:off x="2459305" y="479264"/>
            <a:ext cx="3049055" cy="60688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>
              <a:lnSpc>
                <a:spcPct val="90000"/>
              </a:lnSpc>
            </a:pPr>
            <a:r>
              <a:rPr lang="en-US" sz="4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Sans" pitchFamily="34" charset="-120"/>
              </a:rPr>
              <a:t> </a:t>
            </a:r>
            <a:endParaRPr lang="en-US" sz="1600" dirty="0"/>
          </a:p>
        </p:txBody>
      </p:sp>
      <p:sp>
        <p:nvSpPr>
          <p:cNvPr id="134" name="Shape 23">
            <a:extLst>
              <a:ext uri="{FF2B5EF4-FFF2-40B4-BE49-F238E27FC236}">
                <a16:creationId xmlns:a16="http://schemas.microsoft.com/office/drawing/2014/main" id="{947C43CF-6D32-48B2-9323-C8D3B84B6689}"/>
              </a:ext>
            </a:extLst>
          </p:cNvPr>
          <p:cNvSpPr/>
          <p:nvPr/>
        </p:nvSpPr>
        <p:spPr>
          <a:xfrm flipH="1">
            <a:off x="3094762" y="766446"/>
            <a:ext cx="78105" cy="71755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5" name="Text 24">
            <a:extLst>
              <a:ext uri="{FF2B5EF4-FFF2-40B4-BE49-F238E27FC236}">
                <a16:creationId xmlns:a16="http://schemas.microsoft.com/office/drawing/2014/main" id="{FC410578-49C6-4062-B42C-AB4DFE848D9F}"/>
              </a:ext>
            </a:extLst>
          </p:cNvPr>
          <p:cNvSpPr/>
          <p:nvPr/>
        </p:nvSpPr>
        <p:spPr>
          <a:xfrm>
            <a:off x="3094762" y="766446"/>
            <a:ext cx="78105" cy="7175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endParaRPr lang="en-US" sz="1600" dirty="0"/>
          </a:p>
        </p:txBody>
      </p:sp>
      <p:sp>
        <p:nvSpPr>
          <p:cNvPr id="136" name="Shape 25">
            <a:extLst>
              <a:ext uri="{FF2B5EF4-FFF2-40B4-BE49-F238E27FC236}">
                <a16:creationId xmlns:a16="http://schemas.microsoft.com/office/drawing/2014/main" id="{5B8EA68A-7FDB-48F6-B39F-E07E2A90ED58}"/>
              </a:ext>
            </a:extLst>
          </p:cNvPr>
          <p:cNvSpPr/>
          <p:nvPr/>
        </p:nvSpPr>
        <p:spPr>
          <a:xfrm flipH="1">
            <a:off x="2966492" y="766446"/>
            <a:ext cx="78105" cy="71755"/>
          </a:xfrm>
          <a:prstGeom prst="ellipse">
            <a:avLst/>
          </a:prstGeom>
          <a:solidFill>
            <a:srgbClr val="FFFFFF">
              <a:alpha val="56471"/>
            </a:srgbClr>
          </a:solidFill>
          <a:ln/>
        </p:spPr>
      </p:sp>
      <p:sp>
        <p:nvSpPr>
          <p:cNvPr id="137" name="Text 26">
            <a:extLst>
              <a:ext uri="{FF2B5EF4-FFF2-40B4-BE49-F238E27FC236}">
                <a16:creationId xmlns:a16="http://schemas.microsoft.com/office/drawing/2014/main" id="{A43D0174-B3BA-4797-A602-5502C8C941C3}"/>
              </a:ext>
            </a:extLst>
          </p:cNvPr>
          <p:cNvSpPr/>
          <p:nvPr/>
        </p:nvSpPr>
        <p:spPr>
          <a:xfrm>
            <a:off x="2966492" y="766446"/>
            <a:ext cx="78105" cy="7175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endParaRPr lang="en-US" sz="1600" dirty="0"/>
          </a:p>
        </p:txBody>
      </p:sp>
      <p:sp>
        <p:nvSpPr>
          <p:cNvPr id="138" name="Shape 27">
            <a:extLst>
              <a:ext uri="{FF2B5EF4-FFF2-40B4-BE49-F238E27FC236}">
                <a16:creationId xmlns:a16="http://schemas.microsoft.com/office/drawing/2014/main" id="{37AE5155-4F56-41F9-831C-5CA7223FB399}"/>
              </a:ext>
            </a:extLst>
          </p:cNvPr>
          <p:cNvSpPr/>
          <p:nvPr/>
        </p:nvSpPr>
        <p:spPr>
          <a:xfrm flipH="1">
            <a:off x="2835047" y="766446"/>
            <a:ext cx="78105" cy="71755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9" name="Text 28">
            <a:extLst>
              <a:ext uri="{FF2B5EF4-FFF2-40B4-BE49-F238E27FC236}">
                <a16:creationId xmlns:a16="http://schemas.microsoft.com/office/drawing/2014/main" id="{D329E221-2854-4782-81D9-D01713BC20A0}"/>
              </a:ext>
            </a:extLst>
          </p:cNvPr>
          <p:cNvSpPr/>
          <p:nvPr/>
        </p:nvSpPr>
        <p:spPr>
          <a:xfrm>
            <a:off x="2835047" y="766446"/>
            <a:ext cx="78105" cy="7175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endParaRPr lang="en-US" sz="1600" dirty="0"/>
          </a:p>
        </p:txBody>
      </p:sp>
      <p:sp>
        <p:nvSpPr>
          <p:cNvPr id="140" name="Shape 29">
            <a:extLst>
              <a:ext uri="{FF2B5EF4-FFF2-40B4-BE49-F238E27FC236}">
                <a16:creationId xmlns:a16="http://schemas.microsoft.com/office/drawing/2014/main" id="{B8E85980-0220-4FE3-ACD5-72469EE7A87B}"/>
              </a:ext>
            </a:extLst>
          </p:cNvPr>
          <p:cNvSpPr/>
          <p:nvPr/>
        </p:nvSpPr>
        <p:spPr>
          <a:xfrm flipH="1">
            <a:off x="2704237" y="766446"/>
            <a:ext cx="78105" cy="71755"/>
          </a:xfrm>
          <a:prstGeom prst="ellipse">
            <a:avLst/>
          </a:prstGeom>
          <a:solidFill>
            <a:srgbClr val="FFFFFF">
              <a:alpha val="56471"/>
            </a:srgbClr>
          </a:solidFill>
          <a:ln/>
        </p:spPr>
      </p:sp>
      <p:sp>
        <p:nvSpPr>
          <p:cNvPr id="141" name="Text 30">
            <a:extLst>
              <a:ext uri="{FF2B5EF4-FFF2-40B4-BE49-F238E27FC236}">
                <a16:creationId xmlns:a16="http://schemas.microsoft.com/office/drawing/2014/main" id="{189A7C4C-B83F-4371-AC8F-06B4585CCB88}"/>
              </a:ext>
            </a:extLst>
          </p:cNvPr>
          <p:cNvSpPr/>
          <p:nvPr/>
        </p:nvSpPr>
        <p:spPr>
          <a:xfrm>
            <a:off x="2704237" y="766446"/>
            <a:ext cx="78105" cy="7175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endParaRPr lang="en-US" sz="1600" dirty="0"/>
          </a:p>
        </p:txBody>
      </p:sp>
      <p:sp>
        <p:nvSpPr>
          <p:cNvPr id="29" name="Text 9">
            <a:extLst>
              <a:ext uri="{FF2B5EF4-FFF2-40B4-BE49-F238E27FC236}">
                <a16:creationId xmlns:a16="http://schemas.microsoft.com/office/drawing/2014/main" id="{86085E1C-A3B0-4C0D-932E-EF033D1FDD1F}"/>
              </a:ext>
            </a:extLst>
          </p:cNvPr>
          <p:cNvSpPr/>
          <p:nvPr/>
        </p:nvSpPr>
        <p:spPr>
          <a:xfrm>
            <a:off x="-4356" y="2528571"/>
            <a:ext cx="7176000" cy="378289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发现：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GPT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不擅长理解精确坐标，但擅长理解语言描述的关系。</a:t>
            </a:r>
          </a:p>
          <a:p>
            <a:pPr algn="just">
              <a:lnSpc>
                <a:spcPct val="150000"/>
              </a:lnSpc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地图构建：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在线记录已探索节点（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en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）、当前可访问节点（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an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）、未探索不可达节点（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un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）及其连接关系。</a:t>
            </a:r>
          </a:p>
          <a:p>
            <a:pPr algn="just">
              <a:lnSpc>
                <a:spcPct val="150000"/>
              </a:lnSpc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地图提示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：将连接关系转化为自然语言提示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MiSans" panose="02010600030101010101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作用：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GPT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通过阅读这些句子，在脑中构建出环境的空间拓扑网络，知道“我从哪来”、“我能去哪”、“我知道但暂时去不了的地方有哪些”。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MiSans" panose="02010600030101010101" charset="-122"/>
            </a:endParaRPr>
          </a:p>
          <a:p>
            <a:pPr algn="just">
              <a:lnSpc>
                <a:spcPct val="150000"/>
              </a:lnSpc>
            </a:pP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Supplementary Info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：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记录智能体曾经观察到但尚未访问过的节点（位置）及其相关信息，进行回溯和重新探索时使用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B5E26F9D-6DFC-4FD0-B586-7103AB888509}"/>
              </a:ext>
            </a:extLst>
          </p:cNvPr>
          <p:cNvSpPr txBox="1"/>
          <p:nvPr/>
        </p:nvSpPr>
        <p:spPr>
          <a:xfrm>
            <a:off x="0" y="6598656"/>
            <a:ext cx="1078853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100" dirty="0">
                <a:latin typeface="Times New Roman" panose="02020603050405020304" pitchFamily="18" charset="0"/>
                <a:ea typeface="FangSong" panose="02010609060101010101" pitchFamily="49" charset="-122"/>
                <a:cs typeface="Times New Roman" panose="02020603050405020304" pitchFamily="18" charset="0"/>
              </a:rPr>
              <a:t>[1] MapGPT: Map-Guided Prompting with Adaptive Path Planning for Vision-and-Language Navigation,</a:t>
            </a:r>
            <a:r>
              <a:rPr kumimoji="1" lang="zh-CN" altLang="en-US" sz="1100" dirty="0">
                <a:latin typeface="Times New Roman" panose="02020603050405020304" pitchFamily="18" charset="0"/>
                <a:ea typeface="FangSong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1100" dirty="0">
                <a:latin typeface="Times New Roman" panose="02020603050405020304" pitchFamily="18" charset="0"/>
                <a:ea typeface="FangSong" panose="02010609060101010101" pitchFamily="49" charset="-122"/>
                <a:cs typeface="Times New Roman" panose="02020603050405020304" pitchFamily="18" charset="0"/>
              </a:rPr>
              <a:t>ACL</a:t>
            </a:r>
            <a:r>
              <a:rPr kumimoji="1" lang="zh-CN" altLang="en-US" sz="1100" dirty="0">
                <a:latin typeface="Times New Roman" panose="02020603050405020304" pitchFamily="18" charset="0"/>
                <a:ea typeface="FangSong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1100" dirty="0">
                <a:latin typeface="Times New Roman" panose="02020603050405020304" pitchFamily="18" charset="0"/>
                <a:ea typeface="FangSong" panose="02010609060101010101" pitchFamily="49" charset="-122"/>
                <a:cs typeface="Times New Roman" panose="02020603050405020304" pitchFamily="18" charset="0"/>
              </a:rPr>
              <a:t>2024,</a:t>
            </a:r>
            <a:r>
              <a:rPr kumimoji="1" lang="zh-CN" altLang="en-US" sz="1100" dirty="0">
                <a:latin typeface="Times New Roman" panose="02020603050405020304" pitchFamily="18" charset="0"/>
                <a:ea typeface="FangSong" panose="02010609060101010101" pitchFamily="49" charset="-122"/>
                <a:cs typeface="Times New Roman" panose="02020603050405020304" pitchFamily="18" charset="0"/>
              </a:rPr>
              <a:t> 中山大学</a:t>
            </a:r>
            <a:r>
              <a:rPr kumimoji="1" lang="en-US" altLang="zh-CN" sz="1100" dirty="0">
                <a:latin typeface="Times New Roman" panose="02020603050405020304" pitchFamily="18" charset="0"/>
                <a:ea typeface="FangSong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kumimoji="1" lang="zh-CN" altLang="en-US" sz="1100" dirty="0">
                <a:latin typeface="Times New Roman" panose="02020603050405020304" pitchFamily="18" charset="0"/>
                <a:ea typeface="FangSong" panose="02010609060101010101" pitchFamily="49" charset="-122"/>
                <a:cs typeface="Times New Roman" panose="02020603050405020304" pitchFamily="18" charset="0"/>
              </a:rPr>
              <a:t>深圳</a:t>
            </a:r>
            <a:r>
              <a:rPr kumimoji="1" lang="en-US" altLang="zh-CN" sz="1100" dirty="0">
                <a:latin typeface="Times New Roman" panose="02020603050405020304" pitchFamily="18" charset="0"/>
                <a:ea typeface="FangSong" panose="02010609060101010101" pitchFamily="49" charset="-122"/>
                <a:cs typeface="Times New Roman" panose="02020603050405020304" pitchFamily="18" charset="0"/>
              </a:rPr>
              <a:t>), </a:t>
            </a:r>
            <a:r>
              <a:rPr kumimoji="1" lang="zh-CN" altLang="en-US" sz="1100" dirty="0">
                <a:latin typeface="Times New Roman" panose="02020603050405020304" pitchFamily="18" charset="0"/>
                <a:ea typeface="FangSong" panose="02010609060101010101" pitchFamily="49" charset="-122"/>
                <a:cs typeface="Times New Roman" panose="02020603050405020304" pitchFamily="18" charset="0"/>
              </a:rPr>
              <a:t>香港大学</a:t>
            </a:r>
            <a:r>
              <a:rPr kumimoji="1" lang="en-US" altLang="zh-CN" sz="1100" dirty="0">
                <a:latin typeface="Times New Roman" panose="02020603050405020304" pitchFamily="18" charset="0"/>
                <a:ea typeface="FangSong" panose="02010609060101010101" pitchFamily="49" charset="-122"/>
                <a:cs typeface="Times New Roman" panose="02020603050405020304" pitchFamily="18" charset="0"/>
              </a:rPr>
              <a:t>, https://github.com/</a:t>
            </a:r>
            <a:r>
              <a:rPr kumimoji="1" lang="en-US" altLang="zh-CN" sz="1100" dirty="0" err="1">
                <a:latin typeface="Times New Roman" panose="02020603050405020304" pitchFamily="18" charset="0"/>
                <a:ea typeface="FangSong" panose="02010609060101010101" pitchFamily="49" charset="-122"/>
                <a:cs typeface="Times New Roman" panose="02020603050405020304" pitchFamily="18" charset="0"/>
              </a:rPr>
              <a:t>chen</a:t>
            </a:r>
            <a:r>
              <a:rPr kumimoji="1" lang="en-US" altLang="zh-CN" sz="1100" dirty="0">
                <a:latin typeface="Times New Roman" panose="02020603050405020304" pitchFamily="18" charset="0"/>
                <a:ea typeface="FangSong" panose="02010609060101010101" pitchFamily="49" charset="-122"/>
                <a:cs typeface="Times New Roman" panose="02020603050405020304" pitchFamily="18" charset="0"/>
              </a:rPr>
              <a:t>-judge/MapGPT/</a:t>
            </a:r>
            <a:endParaRPr kumimoji="1" lang="zh-CN" altLang="en-US" sz="1100" dirty="0">
              <a:latin typeface="Times New Roman" panose="02020603050405020304" pitchFamily="18" charset="0"/>
              <a:ea typeface="FangSong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A8E3654-DCE6-41AF-9BA5-7B23F925CD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94441"/>
            <a:ext cx="7734300" cy="1762125"/>
          </a:xfrm>
          <a:prstGeom prst="rect">
            <a:avLst/>
          </a:prstGeom>
        </p:spPr>
      </p:pic>
      <p:sp>
        <p:nvSpPr>
          <p:cNvPr id="31" name="Text 9">
            <a:extLst>
              <a:ext uri="{FF2B5EF4-FFF2-40B4-BE49-F238E27FC236}">
                <a16:creationId xmlns:a16="http://schemas.microsoft.com/office/drawing/2014/main" id="{3DCF293D-FA50-466B-B555-03C0435DD6CB}"/>
              </a:ext>
            </a:extLst>
          </p:cNvPr>
          <p:cNvSpPr/>
          <p:nvPr/>
        </p:nvSpPr>
        <p:spPr>
          <a:xfrm>
            <a:off x="7904379" y="773241"/>
            <a:ext cx="4287620" cy="710688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值得一提的是，这篇文章，记录观测只记录可到达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point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方向的观测，抛弃了之前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36/24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个视角</a:t>
            </a:r>
          </a:p>
          <a:p>
            <a:pPr algn="just"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并且，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MapGPT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将原本抽象的动作选择（如“选择节点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B”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）转化为符合人类直觉的完整指令选项。每个可执行动作用以下模板清晰呈现：</a:t>
            </a:r>
          </a:p>
          <a:p>
            <a:pPr algn="just"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{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标签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} {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方向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}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位置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{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节点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ID}: {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场景描述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}</a:t>
            </a:r>
          </a:p>
          <a:p>
            <a:pPr algn="just"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例如：“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B.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向左转 前往位置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5: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一个带有岛台的现代厨房”</a:t>
            </a:r>
          </a:p>
          <a:p>
            <a:pPr algn="just"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这一设计让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GPT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能够像人类一样，同时理解“往哪走”、“去哪里”以及“那里什么样”，从而做出更自然、更准确的导航决策。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MiSans" panose="02010600030101010101" charset="-122"/>
            </a:endParaRPr>
          </a:p>
          <a:p>
            <a:pPr algn="just">
              <a:lnSpc>
                <a:spcPct val="150000"/>
              </a:lnSpc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MiSans" panose="02010600030101010101" charset="-122"/>
            </a:endParaRPr>
          </a:p>
          <a:p>
            <a:pPr algn="just">
              <a:lnSpc>
                <a:spcPct val="150000"/>
              </a:lnSpc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MiSans" panose="02010600030101010101" charset="-122"/>
            </a:endParaRPr>
          </a:p>
          <a:p>
            <a:pPr algn="just">
              <a:lnSpc>
                <a:spcPct val="150000"/>
              </a:lnSpc>
            </a:pP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MiSans" panose="02010600030101010101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623601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hape 3">
            <a:extLst>
              <a:ext uri="{FF2B5EF4-FFF2-40B4-BE49-F238E27FC236}">
                <a16:creationId xmlns:a16="http://schemas.microsoft.com/office/drawing/2014/main" id="{CCB4A4D2-2BB4-4DA9-B43E-27137BDB5339}"/>
              </a:ext>
            </a:extLst>
          </p:cNvPr>
          <p:cNvSpPr/>
          <p:nvPr/>
        </p:nvSpPr>
        <p:spPr>
          <a:xfrm>
            <a:off x="-677785" y="6900072"/>
            <a:ext cx="0" cy="115582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39" name="Shape 4">
            <a:extLst>
              <a:ext uri="{FF2B5EF4-FFF2-40B4-BE49-F238E27FC236}">
                <a16:creationId xmlns:a16="http://schemas.microsoft.com/office/drawing/2014/main" id="{629F0BF3-9C1D-455A-989D-5662A6554E75}"/>
              </a:ext>
            </a:extLst>
          </p:cNvPr>
          <p:cNvSpPr/>
          <p:nvPr/>
        </p:nvSpPr>
        <p:spPr>
          <a:xfrm>
            <a:off x="-590155" y="6900072"/>
            <a:ext cx="0" cy="115582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40" name="Shape 5">
            <a:extLst>
              <a:ext uri="{FF2B5EF4-FFF2-40B4-BE49-F238E27FC236}">
                <a16:creationId xmlns:a16="http://schemas.microsoft.com/office/drawing/2014/main" id="{4BAB1488-3927-454B-91C5-92DB9E2C140C}"/>
              </a:ext>
            </a:extLst>
          </p:cNvPr>
          <p:cNvSpPr/>
          <p:nvPr/>
        </p:nvSpPr>
        <p:spPr>
          <a:xfrm>
            <a:off x="-501890" y="6802934"/>
            <a:ext cx="0" cy="20256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41" name="Shape 6">
            <a:extLst>
              <a:ext uri="{FF2B5EF4-FFF2-40B4-BE49-F238E27FC236}">
                <a16:creationId xmlns:a16="http://schemas.microsoft.com/office/drawing/2014/main" id="{C48C4EE8-1A5E-4C21-8CC8-98EC0C7FCE10}"/>
              </a:ext>
            </a:extLst>
          </p:cNvPr>
          <p:cNvSpPr/>
          <p:nvPr/>
        </p:nvSpPr>
        <p:spPr>
          <a:xfrm>
            <a:off x="-414260" y="6900072"/>
            <a:ext cx="0" cy="115582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42" name="Shape 7">
            <a:extLst>
              <a:ext uri="{FF2B5EF4-FFF2-40B4-BE49-F238E27FC236}">
                <a16:creationId xmlns:a16="http://schemas.microsoft.com/office/drawing/2014/main" id="{24CFC9BC-4D96-4575-A5D7-EB3F61E4DD11}"/>
              </a:ext>
            </a:extLst>
          </p:cNvPr>
          <p:cNvSpPr/>
          <p:nvPr/>
        </p:nvSpPr>
        <p:spPr>
          <a:xfrm>
            <a:off x="-325995" y="6900072"/>
            <a:ext cx="0" cy="115582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64" name="Shape 3">
            <a:extLst>
              <a:ext uri="{FF2B5EF4-FFF2-40B4-BE49-F238E27FC236}">
                <a16:creationId xmlns:a16="http://schemas.microsoft.com/office/drawing/2014/main" id="{99A245DD-B593-4960-8CB9-B4E714DCA42B}"/>
              </a:ext>
            </a:extLst>
          </p:cNvPr>
          <p:cNvSpPr/>
          <p:nvPr/>
        </p:nvSpPr>
        <p:spPr>
          <a:xfrm>
            <a:off x="-251241" y="5944477"/>
            <a:ext cx="0" cy="101467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65" name="Shape 4">
            <a:extLst>
              <a:ext uri="{FF2B5EF4-FFF2-40B4-BE49-F238E27FC236}">
                <a16:creationId xmlns:a16="http://schemas.microsoft.com/office/drawing/2014/main" id="{D285B36B-BA6B-47E7-912C-C69A480B5E7B}"/>
              </a:ext>
            </a:extLst>
          </p:cNvPr>
          <p:cNvSpPr/>
          <p:nvPr/>
        </p:nvSpPr>
        <p:spPr>
          <a:xfrm>
            <a:off x="-163611" y="5944477"/>
            <a:ext cx="0" cy="101467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66" name="Shape 5">
            <a:extLst>
              <a:ext uri="{FF2B5EF4-FFF2-40B4-BE49-F238E27FC236}">
                <a16:creationId xmlns:a16="http://schemas.microsoft.com/office/drawing/2014/main" id="{B162677F-4236-4123-9675-D9B75B9DA17D}"/>
              </a:ext>
            </a:extLst>
          </p:cNvPr>
          <p:cNvSpPr/>
          <p:nvPr/>
        </p:nvSpPr>
        <p:spPr>
          <a:xfrm>
            <a:off x="-142354" y="5338681"/>
            <a:ext cx="0" cy="177823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67" name="Shape 6">
            <a:extLst>
              <a:ext uri="{FF2B5EF4-FFF2-40B4-BE49-F238E27FC236}">
                <a16:creationId xmlns:a16="http://schemas.microsoft.com/office/drawing/2014/main" id="{D66491B3-BD94-495F-831E-04A11DBB22E1}"/>
              </a:ext>
            </a:extLst>
          </p:cNvPr>
          <p:cNvSpPr/>
          <p:nvPr/>
        </p:nvSpPr>
        <p:spPr>
          <a:xfrm>
            <a:off x="-54724" y="5425196"/>
            <a:ext cx="0" cy="101467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68" name="Shape 7">
            <a:extLst>
              <a:ext uri="{FF2B5EF4-FFF2-40B4-BE49-F238E27FC236}">
                <a16:creationId xmlns:a16="http://schemas.microsoft.com/office/drawing/2014/main" id="{F2F52D77-5E21-4FCB-A0B3-B7F1B9C1E5EC}"/>
              </a:ext>
            </a:extLst>
          </p:cNvPr>
          <p:cNvSpPr/>
          <p:nvPr/>
        </p:nvSpPr>
        <p:spPr>
          <a:xfrm>
            <a:off x="1557541" y="5425196"/>
            <a:ext cx="0" cy="101467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112" name="Shape 20">
            <a:extLst>
              <a:ext uri="{FF2B5EF4-FFF2-40B4-BE49-F238E27FC236}">
                <a16:creationId xmlns:a16="http://schemas.microsoft.com/office/drawing/2014/main" id="{907E2114-B18D-4CC1-9BE5-04231D8060F1}"/>
              </a:ext>
            </a:extLst>
          </p:cNvPr>
          <p:cNvSpPr/>
          <p:nvPr/>
        </p:nvSpPr>
        <p:spPr>
          <a:xfrm>
            <a:off x="4727155" y="5630950"/>
            <a:ext cx="652471" cy="54102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131" name="矩形 130">
            <a:extLst>
              <a:ext uri="{FF2B5EF4-FFF2-40B4-BE49-F238E27FC236}">
                <a16:creationId xmlns:a16="http://schemas.microsoft.com/office/drawing/2014/main" id="{C0A4228D-C9B2-4DF6-ADE5-EA509A72BEA2}"/>
              </a:ext>
            </a:extLst>
          </p:cNvPr>
          <p:cNvSpPr/>
          <p:nvPr/>
        </p:nvSpPr>
        <p:spPr>
          <a:xfrm flipV="1">
            <a:off x="0" y="563911"/>
            <a:ext cx="12192000" cy="94715"/>
          </a:xfrm>
          <a:prstGeom prst="rect">
            <a:avLst/>
          </a:prstGeom>
          <a:solidFill>
            <a:srgbClr val="0065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132" name="文本框 131">
            <a:extLst>
              <a:ext uri="{FF2B5EF4-FFF2-40B4-BE49-F238E27FC236}">
                <a16:creationId xmlns:a16="http://schemas.microsoft.com/office/drawing/2014/main" id="{47E2E811-D5FA-4E64-9B3A-0F9D21BB1D0C}"/>
              </a:ext>
            </a:extLst>
          </p:cNvPr>
          <p:cNvSpPr txBox="1"/>
          <p:nvPr/>
        </p:nvSpPr>
        <p:spPr>
          <a:xfrm>
            <a:off x="-4356" y="0"/>
            <a:ext cx="9261122" cy="584775"/>
          </a:xfrm>
          <a:prstGeom prst="rect">
            <a:avLst/>
          </a:prstGeom>
        </p:spPr>
        <p:txBody>
          <a:bodyPr wrap="square" rtlCol="0" anchor="t">
            <a:spAutoFit/>
          </a:bodyPr>
          <a:lstStyle/>
          <a:p>
            <a:pPr algn="l"/>
            <a:r>
              <a:rPr lang="zh-CN" altLang="en-US" sz="3200" b="1" dirty="0">
                <a:solidFill>
                  <a:srgbClr val="0F1115"/>
                </a:solidFill>
                <a:effectLst/>
                <a:latin typeface="quote-cjk-patch"/>
              </a:rPr>
              <a:t>自适应文本规划</a:t>
            </a:r>
          </a:p>
        </p:txBody>
      </p:sp>
      <p:sp>
        <p:nvSpPr>
          <p:cNvPr id="133" name="Text 0">
            <a:extLst>
              <a:ext uri="{FF2B5EF4-FFF2-40B4-BE49-F238E27FC236}">
                <a16:creationId xmlns:a16="http://schemas.microsoft.com/office/drawing/2014/main" id="{29F306BF-CB06-453E-87CD-ED9CD49AB1E9}"/>
              </a:ext>
            </a:extLst>
          </p:cNvPr>
          <p:cNvSpPr/>
          <p:nvPr/>
        </p:nvSpPr>
        <p:spPr>
          <a:xfrm>
            <a:off x="2459305" y="479264"/>
            <a:ext cx="3049055" cy="60688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>
              <a:lnSpc>
                <a:spcPct val="90000"/>
              </a:lnSpc>
            </a:pPr>
            <a:r>
              <a:rPr lang="en-US" sz="4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Sans" pitchFamily="34" charset="-120"/>
              </a:rPr>
              <a:t> </a:t>
            </a:r>
            <a:endParaRPr lang="en-US" sz="1600" dirty="0"/>
          </a:p>
        </p:txBody>
      </p:sp>
      <p:sp>
        <p:nvSpPr>
          <p:cNvPr id="134" name="Shape 23">
            <a:extLst>
              <a:ext uri="{FF2B5EF4-FFF2-40B4-BE49-F238E27FC236}">
                <a16:creationId xmlns:a16="http://schemas.microsoft.com/office/drawing/2014/main" id="{947C43CF-6D32-48B2-9323-C8D3B84B6689}"/>
              </a:ext>
            </a:extLst>
          </p:cNvPr>
          <p:cNvSpPr/>
          <p:nvPr/>
        </p:nvSpPr>
        <p:spPr>
          <a:xfrm flipH="1">
            <a:off x="3094762" y="766446"/>
            <a:ext cx="78105" cy="71755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5" name="Text 24">
            <a:extLst>
              <a:ext uri="{FF2B5EF4-FFF2-40B4-BE49-F238E27FC236}">
                <a16:creationId xmlns:a16="http://schemas.microsoft.com/office/drawing/2014/main" id="{FC410578-49C6-4062-B42C-AB4DFE848D9F}"/>
              </a:ext>
            </a:extLst>
          </p:cNvPr>
          <p:cNvSpPr/>
          <p:nvPr/>
        </p:nvSpPr>
        <p:spPr>
          <a:xfrm>
            <a:off x="3094762" y="766446"/>
            <a:ext cx="78105" cy="7175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endParaRPr lang="en-US" sz="1600" dirty="0"/>
          </a:p>
        </p:txBody>
      </p:sp>
      <p:sp>
        <p:nvSpPr>
          <p:cNvPr id="136" name="Shape 25">
            <a:extLst>
              <a:ext uri="{FF2B5EF4-FFF2-40B4-BE49-F238E27FC236}">
                <a16:creationId xmlns:a16="http://schemas.microsoft.com/office/drawing/2014/main" id="{5B8EA68A-7FDB-48F6-B39F-E07E2A90ED58}"/>
              </a:ext>
            </a:extLst>
          </p:cNvPr>
          <p:cNvSpPr/>
          <p:nvPr/>
        </p:nvSpPr>
        <p:spPr>
          <a:xfrm flipH="1">
            <a:off x="2966492" y="766446"/>
            <a:ext cx="78105" cy="71755"/>
          </a:xfrm>
          <a:prstGeom prst="ellipse">
            <a:avLst/>
          </a:prstGeom>
          <a:solidFill>
            <a:srgbClr val="FFFFFF">
              <a:alpha val="56471"/>
            </a:srgbClr>
          </a:solidFill>
          <a:ln/>
        </p:spPr>
      </p:sp>
      <p:sp>
        <p:nvSpPr>
          <p:cNvPr id="137" name="Text 26">
            <a:extLst>
              <a:ext uri="{FF2B5EF4-FFF2-40B4-BE49-F238E27FC236}">
                <a16:creationId xmlns:a16="http://schemas.microsoft.com/office/drawing/2014/main" id="{A43D0174-B3BA-4797-A602-5502C8C941C3}"/>
              </a:ext>
            </a:extLst>
          </p:cNvPr>
          <p:cNvSpPr/>
          <p:nvPr/>
        </p:nvSpPr>
        <p:spPr>
          <a:xfrm>
            <a:off x="2966492" y="766446"/>
            <a:ext cx="78105" cy="7175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endParaRPr lang="en-US" sz="1600" dirty="0"/>
          </a:p>
        </p:txBody>
      </p:sp>
      <p:sp>
        <p:nvSpPr>
          <p:cNvPr id="138" name="Shape 27">
            <a:extLst>
              <a:ext uri="{FF2B5EF4-FFF2-40B4-BE49-F238E27FC236}">
                <a16:creationId xmlns:a16="http://schemas.microsoft.com/office/drawing/2014/main" id="{37AE5155-4F56-41F9-831C-5CA7223FB399}"/>
              </a:ext>
            </a:extLst>
          </p:cNvPr>
          <p:cNvSpPr/>
          <p:nvPr/>
        </p:nvSpPr>
        <p:spPr>
          <a:xfrm flipH="1">
            <a:off x="2835047" y="766446"/>
            <a:ext cx="78105" cy="71755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9" name="Text 28">
            <a:extLst>
              <a:ext uri="{FF2B5EF4-FFF2-40B4-BE49-F238E27FC236}">
                <a16:creationId xmlns:a16="http://schemas.microsoft.com/office/drawing/2014/main" id="{D329E221-2854-4782-81D9-D01713BC20A0}"/>
              </a:ext>
            </a:extLst>
          </p:cNvPr>
          <p:cNvSpPr/>
          <p:nvPr/>
        </p:nvSpPr>
        <p:spPr>
          <a:xfrm>
            <a:off x="2835047" y="766446"/>
            <a:ext cx="78105" cy="7175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endParaRPr lang="en-US" sz="1600" dirty="0"/>
          </a:p>
        </p:txBody>
      </p:sp>
      <p:sp>
        <p:nvSpPr>
          <p:cNvPr id="140" name="Shape 29">
            <a:extLst>
              <a:ext uri="{FF2B5EF4-FFF2-40B4-BE49-F238E27FC236}">
                <a16:creationId xmlns:a16="http://schemas.microsoft.com/office/drawing/2014/main" id="{B8E85980-0220-4FE3-ACD5-72469EE7A87B}"/>
              </a:ext>
            </a:extLst>
          </p:cNvPr>
          <p:cNvSpPr/>
          <p:nvPr/>
        </p:nvSpPr>
        <p:spPr>
          <a:xfrm flipH="1">
            <a:off x="2704237" y="766446"/>
            <a:ext cx="78105" cy="71755"/>
          </a:xfrm>
          <a:prstGeom prst="ellipse">
            <a:avLst/>
          </a:prstGeom>
          <a:solidFill>
            <a:srgbClr val="FFFFFF">
              <a:alpha val="56471"/>
            </a:srgbClr>
          </a:solidFill>
          <a:ln/>
        </p:spPr>
      </p:sp>
      <p:sp>
        <p:nvSpPr>
          <p:cNvPr id="141" name="Text 30">
            <a:extLst>
              <a:ext uri="{FF2B5EF4-FFF2-40B4-BE49-F238E27FC236}">
                <a16:creationId xmlns:a16="http://schemas.microsoft.com/office/drawing/2014/main" id="{189A7C4C-B83F-4371-AC8F-06B4585CCB88}"/>
              </a:ext>
            </a:extLst>
          </p:cNvPr>
          <p:cNvSpPr/>
          <p:nvPr/>
        </p:nvSpPr>
        <p:spPr>
          <a:xfrm>
            <a:off x="2704237" y="766446"/>
            <a:ext cx="78105" cy="7175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endParaRPr lang="en-US" sz="1600" dirty="0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B5E26F9D-6DFC-4FD0-B586-7103AB888509}"/>
              </a:ext>
            </a:extLst>
          </p:cNvPr>
          <p:cNvSpPr txBox="1"/>
          <p:nvPr/>
        </p:nvSpPr>
        <p:spPr>
          <a:xfrm>
            <a:off x="0" y="6598656"/>
            <a:ext cx="1078853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100" dirty="0">
                <a:latin typeface="Times New Roman" panose="02020603050405020304" pitchFamily="18" charset="0"/>
                <a:ea typeface="FangSong" panose="02010609060101010101" pitchFamily="49" charset="-122"/>
                <a:cs typeface="Times New Roman" panose="02020603050405020304" pitchFamily="18" charset="0"/>
              </a:rPr>
              <a:t>[1] MapGPT: Map-Guided Prompting with Adaptive Path Planning for Vision-and-Language Navigation,</a:t>
            </a:r>
            <a:r>
              <a:rPr kumimoji="1" lang="zh-CN" altLang="en-US" sz="1100" dirty="0">
                <a:latin typeface="Times New Roman" panose="02020603050405020304" pitchFamily="18" charset="0"/>
                <a:ea typeface="FangSong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1100" dirty="0">
                <a:latin typeface="Times New Roman" panose="02020603050405020304" pitchFamily="18" charset="0"/>
                <a:ea typeface="FangSong" panose="02010609060101010101" pitchFamily="49" charset="-122"/>
                <a:cs typeface="Times New Roman" panose="02020603050405020304" pitchFamily="18" charset="0"/>
              </a:rPr>
              <a:t>ACL</a:t>
            </a:r>
            <a:r>
              <a:rPr kumimoji="1" lang="zh-CN" altLang="en-US" sz="1100" dirty="0">
                <a:latin typeface="Times New Roman" panose="02020603050405020304" pitchFamily="18" charset="0"/>
                <a:ea typeface="FangSong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1100" dirty="0">
                <a:latin typeface="Times New Roman" panose="02020603050405020304" pitchFamily="18" charset="0"/>
                <a:ea typeface="FangSong" panose="02010609060101010101" pitchFamily="49" charset="-122"/>
                <a:cs typeface="Times New Roman" panose="02020603050405020304" pitchFamily="18" charset="0"/>
              </a:rPr>
              <a:t>2024,</a:t>
            </a:r>
            <a:r>
              <a:rPr kumimoji="1" lang="zh-CN" altLang="en-US" sz="1100" dirty="0">
                <a:latin typeface="Times New Roman" panose="02020603050405020304" pitchFamily="18" charset="0"/>
                <a:ea typeface="FangSong" panose="02010609060101010101" pitchFamily="49" charset="-122"/>
                <a:cs typeface="Times New Roman" panose="02020603050405020304" pitchFamily="18" charset="0"/>
              </a:rPr>
              <a:t> 中山大学</a:t>
            </a:r>
            <a:r>
              <a:rPr kumimoji="1" lang="en-US" altLang="zh-CN" sz="1100" dirty="0">
                <a:latin typeface="Times New Roman" panose="02020603050405020304" pitchFamily="18" charset="0"/>
                <a:ea typeface="FangSong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kumimoji="1" lang="zh-CN" altLang="en-US" sz="1100" dirty="0">
                <a:latin typeface="Times New Roman" panose="02020603050405020304" pitchFamily="18" charset="0"/>
                <a:ea typeface="FangSong" panose="02010609060101010101" pitchFamily="49" charset="-122"/>
                <a:cs typeface="Times New Roman" panose="02020603050405020304" pitchFamily="18" charset="0"/>
              </a:rPr>
              <a:t>深圳</a:t>
            </a:r>
            <a:r>
              <a:rPr kumimoji="1" lang="en-US" altLang="zh-CN" sz="1100" dirty="0">
                <a:latin typeface="Times New Roman" panose="02020603050405020304" pitchFamily="18" charset="0"/>
                <a:ea typeface="FangSong" panose="02010609060101010101" pitchFamily="49" charset="-122"/>
                <a:cs typeface="Times New Roman" panose="02020603050405020304" pitchFamily="18" charset="0"/>
              </a:rPr>
              <a:t>), </a:t>
            </a:r>
            <a:r>
              <a:rPr kumimoji="1" lang="zh-CN" altLang="en-US" sz="1100" dirty="0">
                <a:latin typeface="Times New Roman" panose="02020603050405020304" pitchFamily="18" charset="0"/>
                <a:ea typeface="FangSong" panose="02010609060101010101" pitchFamily="49" charset="-122"/>
                <a:cs typeface="Times New Roman" panose="02020603050405020304" pitchFamily="18" charset="0"/>
              </a:rPr>
              <a:t>香港大学</a:t>
            </a:r>
            <a:r>
              <a:rPr kumimoji="1" lang="en-US" altLang="zh-CN" sz="1100" dirty="0">
                <a:latin typeface="Times New Roman" panose="02020603050405020304" pitchFamily="18" charset="0"/>
                <a:ea typeface="FangSong" panose="02010609060101010101" pitchFamily="49" charset="-122"/>
                <a:cs typeface="Times New Roman" panose="02020603050405020304" pitchFamily="18" charset="0"/>
              </a:rPr>
              <a:t>, https://github.com/</a:t>
            </a:r>
            <a:r>
              <a:rPr kumimoji="1" lang="en-US" altLang="zh-CN" sz="1100" dirty="0" err="1">
                <a:latin typeface="Times New Roman" panose="02020603050405020304" pitchFamily="18" charset="0"/>
                <a:ea typeface="FangSong" panose="02010609060101010101" pitchFamily="49" charset="-122"/>
                <a:cs typeface="Times New Roman" panose="02020603050405020304" pitchFamily="18" charset="0"/>
              </a:rPr>
              <a:t>chen</a:t>
            </a:r>
            <a:r>
              <a:rPr kumimoji="1" lang="en-US" altLang="zh-CN" sz="1100" dirty="0">
                <a:latin typeface="Times New Roman" panose="02020603050405020304" pitchFamily="18" charset="0"/>
                <a:ea typeface="FangSong" panose="02010609060101010101" pitchFamily="49" charset="-122"/>
                <a:cs typeface="Times New Roman" panose="02020603050405020304" pitchFamily="18" charset="0"/>
              </a:rPr>
              <a:t>-judge/MapGPT/</a:t>
            </a:r>
            <a:endParaRPr kumimoji="1" lang="zh-CN" altLang="en-US" sz="1100" dirty="0">
              <a:latin typeface="Times New Roman" panose="02020603050405020304" pitchFamily="18" charset="0"/>
              <a:ea typeface="FangSong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1" name="Text 9">
            <a:extLst>
              <a:ext uri="{FF2B5EF4-FFF2-40B4-BE49-F238E27FC236}">
                <a16:creationId xmlns:a16="http://schemas.microsoft.com/office/drawing/2014/main" id="{3DCF293D-FA50-466B-B555-03C0435DD6CB}"/>
              </a:ext>
            </a:extLst>
          </p:cNvPr>
          <p:cNvSpPr/>
          <p:nvPr/>
        </p:nvSpPr>
        <p:spPr>
          <a:xfrm>
            <a:off x="7340642" y="773241"/>
            <a:ext cx="4851357" cy="295189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优势：</a:t>
            </a:r>
          </a:p>
          <a:p>
            <a:pPr algn="just"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1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、动态更新：规划随新观测而调整。</a:t>
            </a:r>
          </a:p>
          <a:p>
            <a:pPr algn="just"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2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、多目标关注：同时跟踪多个候选目标。</a:t>
            </a:r>
          </a:p>
          <a:p>
            <a:pPr algn="just"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3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、显式纠错：规划中可包含“如果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...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就回溯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...”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的逻辑。</a:t>
            </a:r>
          </a:p>
          <a:p>
            <a:pPr algn="just"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4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、发挥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GPT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长处：将规划转化为其最擅长的语言生成与逻辑推理任务。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97256164-C620-47C5-AFE5-FB9D9D0295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3272" y="658626"/>
            <a:ext cx="7303749" cy="4593169"/>
          </a:xfrm>
          <a:prstGeom prst="rect">
            <a:avLst/>
          </a:prstGeom>
        </p:spPr>
      </p:pic>
      <p:sp>
        <p:nvSpPr>
          <p:cNvPr id="32" name="Text 9">
            <a:extLst>
              <a:ext uri="{FF2B5EF4-FFF2-40B4-BE49-F238E27FC236}">
                <a16:creationId xmlns:a16="http://schemas.microsoft.com/office/drawing/2014/main" id="{CD84A0EC-63B0-44BF-9EC4-F5152581DD99}"/>
              </a:ext>
            </a:extLst>
          </p:cNvPr>
          <p:cNvSpPr/>
          <p:nvPr/>
        </p:nvSpPr>
        <p:spPr>
          <a:xfrm>
            <a:off x="192000" y="5425196"/>
            <a:ext cx="11284440" cy="87440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DUET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：做“全局动作规划”，即计算一个最优节点并“传送”过去。这本质是一次性计算，不灵活。</a:t>
            </a:r>
          </a:p>
          <a:p>
            <a:pPr algn="just">
              <a:lnSpc>
                <a:spcPct val="150000"/>
              </a:lnSpc>
            </a:pP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MapGPT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：要求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GPT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每步输出一段多步文本规划（如：“先探索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A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，若无果则回溯至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B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再试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C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D”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）。</a:t>
            </a:r>
          </a:p>
        </p:txBody>
      </p:sp>
    </p:spTree>
    <p:extLst>
      <p:ext uri="{BB962C8B-B14F-4D97-AF65-F5344CB8AC3E}">
        <p14:creationId xmlns:p14="http://schemas.microsoft.com/office/powerpoint/2010/main" val="32715852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hape 3">
            <a:extLst>
              <a:ext uri="{FF2B5EF4-FFF2-40B4-BE49-F238E27FC236}">
                <a16:creationId xmlns:a16="http://schemas.microsoft.com/office/drawing/2014/main" id="{CCB4A4D2-2BB4-4DA9-B43E-27137BDB5339}"/>
              </a:ext>
            </a:extLst>
          </p:cNvPr>
          <p:cNvSpPr/>
          <p:nvPr/>
        </p:nvSpPr>
        <p:spPr>
          <a:xfrm>
            <a:off x="-677785" y="6900072"/>
            <a:ext cx="0" cy="115582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39" name="Shape 4">
            <a:extLst>
              <a:ext uri="{FF2B5EF4-FFF2-40B4-BE49-F238E27FC236}">
                <a16:creationId xmlns:a16="http://schemas.microsoft.com/office/drawing/2014/main" id="{629F0BF3-9C1D-455A-989D-5662A6554E75}"/>
              </a:ext>
            </a:extLst>
          </p:cNvPr>
          <p:cNvSpPr/>
          <p:nvPr/>
        </p:nvSpPr>
        <p:spPr>
          <a:xfrm>
            <a:off x="-590155" y="6900072"/>
            <a:ext cx="0" cy="115582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40" name="Shape 5">
            <a:extLst>
              <a:ext uri="{FF2B5EF4-FFF2-40B4-BE49-F238E27FC236}">
                <a16:creationId xmlns:a16="http://schemas.microsoft.com/office/drawing/2014/main" id="{4BAB1488-3927-454B-91C5-92DB9E2C140C}"/>
              </a:ext>
            </a:extLst>
          </p:cNvPr>
          <p:cNvSpPr/>
          <p:nvPr/>
        </p:nvSpPr>
        <p:spPr>
          <a:xfrm>
            <a:off x="-501890" y="6802934"/>
            <a:ext cx="0" cy="20256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41" name="Shape 6">
            <a:extLst>
              <a:ext uri="{FF2B5EF4-FFF2-40B4-BE49-F238E27FC236}">
                <a16:creationId xmlns:a16="http://schemas.microsoft.com/office/drawing/2014/main" id="{C48C4EE8-1A5E-4C21-8CC8-98EC0C7FCE10}"/>
              </a:ext>
            </a:extLst>
          </p:cNvPr>
          <p:cNvSpPr/>
          <p:nvPr/>
        </p:nvSpPr>
        <p:spPr>
          <a:xfrm>
            <a:off x="-414260" y="6900072"/>
            <a:ext cx="0" cy="115582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42" name="Shape 7">
            <a:extLst>
              <a:ext uri="{FF2B5EF4-FFF2-40B4-BE49-F238E27FC236}">
                <a16:creationId xmlns:a16="http://schemas.microsoft.com/office/drawing/2014/main" id="{24CFC9BC-4D96-4575-A5D7-EB3F61E4DD11}"/>
              </a:ext>
            </a:extLst>
          </p:cNvPr>
          <p:cNvSpPr/>
          <p:nvPr/>
        </p:nvSpPr>
        <p:spPr>
          <a:xfrm>
            <a:off x="-325995" y="6900072"/>
            <a:ext cx="0" cy="115582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64" name="Shape 3">
            <a:extLst>
              <a:ext uri="{FF2B5EF4-FFF2-40B4-BE49-F238E27FC236}">
                <a16:creationId xmlns:a16="http://schemas.microsoft.com/office/drawing/2014/main" id="{99A245DD-B593-4960-8CB9-B4E714DCA42B}"/>
              </a:ext>
            </a:extLst>
          </p:cNvPr>
          <p:cNvSpPr/>
          <p:nvPr/>
        </p:nvSpPr>
        <p:spPr>
          <a:xfrm>
            <a:off x="-251241" y="5944477"/>
            <a:ext cx="0" cy="101467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65" name="Shape 4">
            <a:extLst>
              <a:ext uri="{FF2B5EF4-FFF2-40B4-BE49-F238E27FC236}">
                <a16:creationId xmlns:a16="http://schemas.microsoft.com/office/drawing/2014/main" id="{D285B36B-BA6B-47E7-912C-C69A480B5E7B}"/>
              </a:ext>
            </a:extLst>
          </p:cNvPr>
          <p:cNvSpPr/>
          <p:nvPr/>
        </p:nvSpPr>
        <p:spPr>
          <a:xfrm>
            <a:off x="-163611" y="5944477"/>
            <a:ext cx="0" cy="101467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66" name="Shape 5">
            <a:extLst>
              <a:ext uri="{FF2B5EF4-FFF2-40B4-BE49-F238E27FC236}">
                <a16:creationId xmlns:a16="http://schemas.microsoft.com/office/drawing/2014/main" id="{B162677F-4236-4123-9675-D9B75B9DA17D}"/>
              </a:ext>
            </a:extLst>
          </p:cNvPr>
          <p:cNvSpPr/>
          <p:nvPr/>
        </p:nvSpPr>
        <p:spPr>
          <a:xfrm>
            <a:off x="-142354" y="5338681"/>
            <a:ext cx="0" cy="177823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67" name="Shape 6">
            <a:extLst>
              <a:ext uri="{FF2B5EF4-FFF2-40B4-BE49-F238E27FC236}">
                <a16:creationId xmlns:a16="http://schemas.microsoft.com/office/drawing/2014/main" id="{D66491B3-BD94-495F-831E-04A11DBB22E1}"/>
              </a:ext>
            </a:extLst>
          </p:cNvPr>
          <p:cNvSpPr/>
          <p:nvPr/>
        </p:nvSpPr>
        <p:spPr>
          <a:xfrm>
            <a:off x="-54724" y="5425196"/>
            <a:ext cx="0" cy="101467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68" name="Shape 7">
            <a:extLst>
              <a:ext uri="{FF2B5EF4-FFF2-40B4-BE49-F238E27FC236}">
                <a16:creationId xmlns:a16="http://schemas.microsoft.com/office/drawing/2014/main" id="{F2F52D77-5E21-4FCB-A0B3-B7F1B9C1E5EC}"/>
              </a:ext>
            </a:extLst>
          </p:cNvPr>
          <p:cNvSpPr/>
          <p:nvPr/>
        </p:nvSpPr>
        <p:spPr>
          <a:xfrm>
            <a:off x="1557541" y="5425196"/>
            <a:ext cx="0" cy="101467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112" name="Shape 20">
            <a:extLst>
              <a:ext uri="{FF2B5EF4-FFF2-40B4-BE49-F238E27FC236}">
                <a16:creationId xmlns:a16="http://schemas.microsoft.com/office/drawing/2014/main" id="{907E2114-B18D-4CC1-9BE5-04231D8060F1}"/>
              </a:ext>
            </a:extLst>
          </p:cNvPr>
          <p:cNvSpPr/>
          <p:nvPr/>
        </p:nvSpPr>
        <p:spPr>
          <a:xfrm>
            <a:off x="4727155" y="5630950"/>
            <a:ext cx="652471" cy="54102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131" name="矩形 130">
            <a:extLst>
              <a:ext uri="{FF2B5EF4-FFF2-40B4-BE49-F238E27FC236}">
                <a16:creationId xmlns:a16="http://schemas.microsoft.com/office/drawing/2014/main" id="{C0A4228D-C9B2-4DF6-ADE5-EA509A72BEA2}"/>
              </a:ext>
            </a:extLst>
          </p:cNvPr>
          <p:cNvSpPr/>
          <p:nvPr/>
        </p:nvSpPr>
        <p:spPr>
          <a:xfrm flipV="1">
            <a:off x="0" y="563911"/>
            <a:ext cx="12192000" cy="94715"/>
          </a:xfrm>
          <a:prstGeom prst="rect">
            <a:avLst/>
          </a:prstGeom>
          <a:solidFill>
            <a:srgbClr val="0065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132" name="文本框 131">
            <a:extLst>
              <a:ext uri="{FF2B5EF4-FFF2-40B4-BE49-F238E27FC236}">
                <a16:creationId xmlns:a16="http://schemas.microsoft.com/office/drawing/2014/main" id="{47E2E811-D5FA-4E64-9B3A-0F9D21BB1D0C}"/>
              </a:ext>
            </a:extLst>
          </p:cNvPr>
          <p:cNvSpPr txBox="1"/>
          <p:nvPr/>
        </p:nvSpPr>
        <p:spPr>
          <a:xfrm>
            <a:off x="-4356" y="0"/>
            <a:ext cx="9261122" cy="584775"/>
          </a:xfrm>
          <a:prstGeom prst="rect">
            <a:avLst/>
          </a:prstGeom>
        </p:spPr>
        <p:txBody>
          <a:bodyPr wrap="square" rtlCol="0" anchor="t">
            <a:spAutoFit/>
          </a:bodyPr>
          <a:lstStyle/>
          <a:p>
            <a:pPr algn="l"/>
            <a:r>
              <a:rPr lang="zh-CN" altLang="en-US" sz="3200" b="1" dirty="0">
                <a:solidFill>
                  <a:srgbClr val="0F1115"/>
                </a:solidFill>
                <a:latin typeface="quote-cjk-patch"/>
              </a:rPr>
              <a:t>实验结果</a:t>
            </a:r>
            <a:endParaRPr lang="zh-CN" altLang="en-US" sz="3200" b="1" dirty="0">
              <a:solidFill>
                <a:srgbClr val="0F1115"/>
              </a:solidFill>
              <a:effectLst/>
              <a:latin typeface="quote-cjk-patch"/>
            </a:endParaRPr>
          </a:p>
        </p:txBody>
      </p:sp>
      <p:sp>
        <p:nvSpPr>
          <p:cNvPr id="133" name="Text 0">
            <a:extLst>
              <a:ext uri="{FF2B5EF4-FFF2-40B4-BE49-F238E27FC236}">
                <a16:creationId xmlns:a16="http://schemas.microsoft.com/office/drawing/2014/main" id="{29F306BF-CB06-453E-87CD-ED9CD49AB1E9}"/>
              </a:ext>
            </a:extLst>
          </p:cNvPr>
          <p:cNvSpPr/>
          <p:nvPr/>
        </p:nvSpPr>
        <p:spPr>
          <a:xfrm>
            <a:off x="2459305" y="479264"/>
            <a:ext cx="3049055" cy="60688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>
              <a:lnSpc>
                <a:spcPct val="90000"/>
              </a:lnSpc>
            </a:pPr>
            <a:r>
              <a:rPr lang="en-US" sz="4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Sans" pitchFamily="34" charset="-120"/>
              </a:rPr>
              <a:t> </a:t>
            </a:r>
            <a:endParaRPr lang="en-US" sz="1600" dirty="0"/>
          </a:p>
        </p:txBody>
      </p:sp>
      <p:sp>
        <p:nvSpPr>
          <p:cNvPr id="134" name="Shape 23">
            <a:extLst>
              <a:ext uri="{FF2B5EF4-FFF2-40B4-BE49-F238E27FC236}">
                <a16:creationId xmlns:a16="http://schemas.microsoft.com/office/drawing/2014/main" id="{947C43CF-6D32-48B2-9323-C8D3B84B6689}"/>
              </a:ext>
            </a:extLst>
          </p:cNvPr>
          <p:cNvSpPr/>
          <p:nvPr/>
        </p:nvSpPr>
        <p:spPr>
          <a:xfrm flipH="1">
            <a:off x="3094762" y="766446"/>
            <a:ext cx="78105" cy="71755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5" name="Text 24">
            <a:extLst>
              <a:ext uri="{FF2B5EF4-FFF2-40B4-BE49-F238E27FC236}">
                <a16:creationId xmlns:a16="http://schemas.microsoft.com/office/drawing/2014/main" id="{FC410578-49C6-4062-B42C-AB4DFE848D9F}"/>
              </a:ext>
            </a:extLst>
          </p:cNvPr>
          <p:cNvSpPr/>
          <p:nvPr/>
        </p:nvSpPr>
        <p:spPr>
          <a:xfrm>
            <a:off x="3094762" y="766446"/>
            <a:ext cx="78105" cy="7175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endParaRPr lang="en-US" sz="1600" dirty="0"/>
          </a:p>
        </p:txBody>
      </p:sp>
      <p:sp>
        <p:nvSpPr>
          <p:cNvPr id="136" name="Shape 25">
            <a:extLst>
              <a:ext uri="{FF2B5EF4-FFF2-40B4-BE49-F238E27FC236}">
                <a16:creationId xmlns:a16="http://schemas.microsoft.com/office/drawing/2014/main" id="{5B8EA68A-7FDB-48F6-B39F-E07E2A90ED58}"/>
              </a:ext>
            </a:extLst>
          </p:cNvPr>
          <p:cNvSpPr/>
          <p:nvPr/>
        </p:nvSpPr>
        <p:spPr>
          <a:xfrm flipH="1">
            <a:off x="2966492" y="766446"/>
            <a:ext cx="78105" cy="71755"/>
          </a:xfrm>
          <a:prstGeom prst="ellipse">
            <a:avLst/>
          </a:prstGeom>
          <a:solidFill>
            <a:srgbClr val="FFFFFF">
              <a:alpha val="56471"/>
            </a:srgbClr>
          </a:solidFill>
          <a:ln/>
        </p:spPr>
      </p:sp>
      <p:sp>
        <p:nvSpPr>
          <p:cNvPr id="137" name="Text 26">
            <a:extLst>
              <a:ext uri="{FF2B5EF4-FFF2-40B4-BE49-F238E27FC236}">
                <a16:creationId xmlns:a16="http://schemas.microsoft.com/office/drawing/2014/main" id="{A43D0174-B3BA-4797-A602-5502C8C941C3}"/>
              </a:ext>
            </a:extLst>
          </p:cNvPr>
          <p:cNvSpPr/>
          <p:nvPr/>
        </p:nvSpPr>
        <p:spPr>
          <a:xfrm>
            <a:off x="2966492" y="766446"/>
            <a:ext cx="78105" cy="7175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endParaRPr lang="en-US" sz="1600" dirty="0"/>
          </a:p>
        </p:txBody>
      </p:sp>
      <p:sp>
        <p:nvSpPr>
          <p:cNvPr id="138" name="Shape 27">
            <a:extLst>
              <a:ext uri="{FF2B5EF4-FFF2-40B4-BE49-F238E27FC236}">
                <a16:creationId xmlns:a16="http://schemas.microsoft.com/office/drawing/2014/main" id="{37AE5155-4F56-41F9-831C-5CA7223FB399}"/>
              </a:ext>
            </a:extLst>
          </p:cNvPr>
          <p:cNvSpPr/>
          <p:nvPr/>
        </p:nvSpPr>
        <p:spPr>
          <a:xfrm flipH="1">
            <a:off x="2835047" y="766446"/>
            <a:ext cx="78105" cy="71755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9" name="Text 28">
            <a:extLst>
              <a:ext uri="{FF2B5EF4-FFF2-40B4-BE49-F238E27FC236}">
                <a16:creationId xmlns:a16="http://schemas.microsoft.com/office/drawing/2014/main" id="{D329E221-2854-4782-81D9-D01713BC20A0}"/>
              </a:ext>
            </a:extLst>
          </p:cNvPr>
          <p:cNvSpPr/>
          <p:nvPr/>
        </p:nvSpPr>
        <p:spPr>
          <a:xfrm>
            <a:off x="2835047" y="766446"/>
            <a:ext cx="78105" cy="7175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endParaRPr lang="en-US" sz="1600" dirty="0"/>
          </a:p>
        </p:txBody>
      </p:sp>
      <p:sp>
        <p:nvSpPr>
          <p:cNvPr id="140" name="Shape 29">
            <a:extLst>
              <a:ext uri="{FF2B5EF4-FFF2-40B4-BE49-F238E27FC236}">
                <a16:creationId xmlns:a16="http://schemas.microsoft.com/office/drawing/2014/main" id="{B8E85980-0220-4FE3-ACD5-72469EE7A87B}"/>
              </a:ext>
            </a:extLst>
          </p:cNvPr>
          <p:cNvSpPr/>
          <p:nvPr/>
        </p:nvSpPr>
        <p:spPr>
          <a:xfrm flipH="1">
            <a:off x="2704237" y="766446"/>
            <a:ext cx="78105" cy="71755"/>
          </a:xfrm>
          <a:prstGeom prst="ellipse">
            <a:avLst/>
          </a:prstGeom>
          <a:solidFill>
            <a:srgbClr val="FFFFFF">
              <a:alpha val="56471"/>
            </a:srgbClr>
          </a:solidFill>
          <a:ln/>
        </p:spPr>
      </p:sp>
      <p:sp>
        <p:nvSpPr>
          <p:cNvPr id="141" name="Text 30">
            <a:extLst>
              <a:ext uri="{FF2B5EF4-FFF2-40B4-BE49-F238E27FC236}">
                <a16:creationId xmlns:a16="http://schemas.microsoft.com/office/drawing/2014/main" id="{189A7C4C-B83F-4371-AC8F-06B4585CCB88}"/>
              </a:ext>
            </a:extLst>
          </p:cNvPr>
          <p:cNvSpPr/>
          <p:nvPr/>
        </p:nvSpPr>
        <p:spPr>
          <a:xfrm>
            <a:off x="2704237" y="766446"/>
            <a:ext cx="78105" cy="7175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endParaRPr lang="en-US" sz="1600" dirty="0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B5E26F9D-6DFC-4FD0-B586-7103AB888509}"/>
              </a:ext>
            </a:extLst>
          </p:cNvPr>
          <p:cNvSpPr txBox="1"/>
          <p:nvPr/>
        </p:nvSpPr>
        <p:spPr>
          <a:xfrm>
            <a:off x="0" y="6598656"/>
            <a:ext cx="1078853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100" dirty="0">
                <a:latin typeface="Times New Roman" panose="02020603050405020304" pitchFamily="18" charset="0"/>
                <a:ea typeface="FangSong" panose="02010609060101010101" pitchFamily="49" charset="-122"/>
                <a:cs typeface="Times New Roman" panose="02020603050405020304" pitchFamily="18" charset="0"/>
              </a:rPr>
              <a:t>[1] MapGPT: Map-Guided Prompting with Adaptive Path Planning for Vision-and-Language Navigation,</a:t>
            </a:r>
            <a:r>
              <a:rPr kumimoji="1" lang="zh-CN" altLang="en-US" sz="1100" dirty="0">
                <a:latin typeface="Times New Roman" panose="02020603050405020304" pitchFamily="18" charset="0"/>
                <a:ea typeface="FangSong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1100" dirty="0">
                <a:latin typeface="Times New Roman" panose="02020603050405020304" pitchFamily="18" charset="0"/>
                <a:ea typeface="FangSong" panose="02010609060101010101" pitchFamily="49" charset="-122"/>
                <a:cs typeface="Times New Roman" panose="02020603050405020304" pitchFamily="18" charset="0"/>
              </a:rPr>
              <a:t>ACL</a:t>
            </a:r>
            <a:r>
              <a:rPr kumimoji="1" lang="zh-CN" altLang="en-US" sz="1100" dirty="0">
                <a:latin typeface="Times New Roman" panose="02020603050405020304" pitchFamily="18" charset="0"/>
                <a:ea typeface="FangSong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1100" dirty="0">
                <a:latin typeface="Times New Roman" panose="02020603050405020304" pitchFamily="18" charset="0"/>
                <a:ea typeface="FangSong" panose="02010609060101010101" pitchFamily="49" charset="-122"/>
                <a:cs typeface="Times New Roman" panose="02020603050405020304" pitchFamily="18" charset="0"/>
              </a:rPr>
              <a:t>2024,</a:t>
            </a:r>
            <a:r>
              <a:rPr kumimoji="1" lang="zh-CN" altLang="en-US" sz="1100" dirty="0">
                <a:latin typeface="Times New Roman" panose="02020603050405020304" pitchFamily="18" charset="0"/>
                <a:ea typeface="FangSong" panose="02010609060101010101" pitchFamily="49" charset="-122"/>
                <a:cs typeface="Times New Roman" panose="02020603050405020304" pitchFamily="18" charset="0"/>
              </a:rPr>
              <a:t> 中山大学</a:t>
            </a:r>
            <a:r>
              <a:rPr kumimoji="1" lang="en-US" altLang="zh-CN" sz="1100" dirty="0">
                <a:latin typeface="Times New Roman" panose="02020603050405020304" pitchFamily="18" charset="0"/>
                <a:ea typeface="FangSong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kumimoji="1" lang="zh-CN" altLang="en-US" sz="1100" dirty="0">
                <a:latin typeface="Times New Roman" panose="02020603050405020304" pitchFamily="18" charset="0"/>
                <a:ea typeface="FangSong" panose="02010609060101010101" pitchFamily="49" charset="-122"/>
                <a:cs typeface="Times New Roman" panose="02020603050405020304" pitchFamily="18" charset="0"/>
              </a:rPr>
              <a:t>深圳</a:t>
            </a:r>
            <a:r>
              <a:rPr kumimoji="1" lang="en-US" altLang="zh-CN" sz="1100" dirty="0">
                <a:latin typeface="Times New Roman" panose="02020603050405020304" pitchFamily="18" charset="0"/>
                <a:ea typeface="FangSong" panose="02010609060101010101" pitchFamily="49" charset="-122"/>
                <a:cs typeface="Times New Roman" panose="02020603050405020304" pitchFamily="18" charset="0"/>
              </a:rPr>
              <a:t>), </a:t>
            </a:r>
            <a:r>
              <a:rPr kumimoji="1" lang="zh-CN" altLang="en-US" sz="1100" dirty="0">
                <a:latin typeface="Times New Roman" panose="02020603050405020304" pitchFamily="18" charset="0"/>
                <a:ea typeface="FangSong" panose="02010609060101010101" pitchFamily="49" charset="-122"/>
                <a:cs typeface="Times New Roman" panose="02020603050405020304" pitchFamily="18" charset="0"/>
              </a:rPr>
              <a:t>香港大学</a:t>
            </a:r>
            <a:r>
              <a:rPr kumimoji="1" lang="en-US" altLang="zh-CN" sz="1100" dirty="0">
                <a:latin typeface="Times New Roman" panose="02020603050405020304" pitchFamily="18" charset="0"/>
                <a:ea typeface="FangSong" panose="02010609060101010101" pitchFamily="49" charset="-122"/>
                <a:cs typeface="Times New Roman" panose="02020603050405020304" pitchFamily="18" charset="0"/>
              </a:rPr>
              <a:t>, https://github.com/</a:t>
            </a:r>
            <a:r>
              <a:rPr kumimoji="1" lang="en-US" altLang="zh-CN" sz="1100" dirty="0" err="1">
                <a:latin typeface="Times New Roman" panose="02020603050405020304" pitchFamily="18" charset="0"/>
                <a:ea typeface="FangSong" panose="02010609060101010101" pitchFamily="49" charset="-122"/>
                <a:cs typeface="Times New Roman" panose="02020603050405020304" pitchFamily="18" charset="0"/>
              </a:rPr>
              <a:t>chen</a:t>
            </a:r>
            <a:r>
              <a:rPr kumimoji="1" lang="en-US" altLang="zh-CN" sz="1100" dirty="0">
                <a:latin typeface="Times New Roman" panose="02020603050405020304" pitchFamily="18" charset="0"/>
                <a:ea typeface="FangSong" panose="02010609060101010101" pitchFamily="49" charset="-122"/>
                <a:cs typeface="Times New Roman" panose="02020603050405020304" pitchFamily="18" charset="0"/>
              </a:rPr>
              <a:t>-judge/MapGPT/</a:t>
            </a:r>
            <a:endParaRPr kumimoji="1" lang="zh-CN" altLang="en-US" sz="1100" dirty="0">
              <a:latin typeface="Times New Roman" panose="02020603050405020304" pitchFamily="18" charset="0"/>
              <a:ea typeface="FangSong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50DF74E0-5CBA-4287-82C6-BBCE49D766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86030"/>
            <a:ext cx="6477000" cy="2238375"/>
          </a:xfrm>
          <a:prstGeom prst="rect">
            <a:avLst/>
          </a:prstGeom>
        </p:spPr>
      </p:pic>
      <p:sp>
        <p:nvSpPr>
          <p:cNvPr id="33" name="Text 9">
            <a:extLst>
              <a:ext uri="{FF2B5EF4-FFF2-40B4-BE49-F238E27FC236}">
                <a16:creationId xmlns:a16="http://schemas.microsoft.com/office/drawing/2014/main" id="{2640BB0E-164B-47FC-9D58-8557B1FB2D33}"/>
              </a:ext>
            </a:extLst>
          </p:cNvPr>
          <p:cNvSpPr/>
          <p:nvPr/>
        </p:nvSpPr>
        <p:spPr>
          <a:xfrm>
            <a:off x="32906" y="2868954"/>
            <a:ext cx="12191999" cy="295189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局限：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  <a:cs typeface="MiSans" panose="02010600030101010101" charset="-122"/>
            </a:endParaRPr>
          </a:p>
          <a:p>
            <a:pPr algn="just"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1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、信息丢失问题：</a:t>
            </a:r>
          </a:p>
          <a:p>
            <a:pPr algn="just"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基于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GPT-4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的双阶段系统因需将图像转为文本，存在信息损失，导致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SPL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指标较低（盲目探索）。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MiSans" panose="02010600030101010101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而使用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GPT-4V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的单阶段系统可避免此问题，但依赖更强的多模态模型。</a:t>
            </a:r>
          </a:p>
          <a:p>
            <a:pPr algn="just"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2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、指令理解仍会出错：</a:t>
            </a:r>
          </a:p>
          <a:p>
            <a:pPr algn="just"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论文提到，智能体仍会误解指令细节（如错误停止在相似房间）。</a:t>
            </a:r>
          </a:p>
          <a:p>
            <a:pPr algn="just"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这反映了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GPT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在复杂空间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-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语言对齐任务上的固有不确定性，并非单纯靠地图和规划能完全解决。</a:t>
            </a:r>
          </a:p>
        </p:txBody>
      </p:sp>
    </p:spTree>
    <p:extLst>
      <p:ext uri="{BB962C8B-B14F-4D97-AF65-F5344CB8AC3E}">
        <p14:creationId xmlns:p14="http://schemas.microsoft.com/office/powerpoint/2010/main" val="251792730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a19b34fa-850a-4f5b-9bd4-3e0419e52f74"/>
  <p:tag name="COMMONDATA" val="eyJoZGlkIjoiNDJlYjk4ZjQ2NzA1ZGEzMzYyZTZmODkzY2Q4ZDg0ZGY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10800,&quot;width&quot;:5074.685039370079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cdac9fd9-164d-4dc8-9a8d-e31483b9f66e}"/>
</p:tagLst>
</file>

<file path=ppt/theme/theme1.xml><?xml version="1.0" encoding="utf-8"?>
<a:theme xmlns:a="http://schemas.openxmlformats.org/drawingml/2006/main" name="Office Theme 2013 - 2022">
  <a:themeElements>
    <a:clrScheme name="Office Theme 2013 - 202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 2013 - 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 2013 - 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8670</TotalTime>
  <Words>860</Words>
  <Application>Microsoft Office PowerPoint</Application>
  <PresentationFormat>宽屏</PresentationFormat>
  <Paragraphs>56</Paragraphs>
  <Slides>5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4" baseType="lpstr">
      <vt:lpstr>inpin heiti</vt:lpstr>
      <vt:lpstr>quote-cjk-patch</vt:lpstr>
      <vt:lpstr>等线</vt:lpstr>
      <vt:lpstr>微软雅黑</vt:lpstr>
      <vt:lpstr>Arial</vt:lpstr>
      <vt:lpstr>Calibri</vt:lpstr>
      <vt:lpstr>Calibri Light</vt:lpstr>
      <vt:lpstr>Times New Roman</vt:lpstr>
      <vt:lpstr>Office Theme 2013 - 2022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dkx</dc:creator>
  <cp:lastModifiedBy>2115875948@qq.com</cp:lastModifiedBy>
  <cp:revision>821</cp:revision>
  <dcterms:created xsi:type="dcterms:W3CDTF">2022-11-14T06:38:00Z</dcterms:created>
  <dcterms:modified xsi:type="dcterms:W3CDTF">2026-01-20T05:43:23Z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4E26A404E4B34345815899A7963F5C06</vt:lpwstr>
  </property>
  <property fmtid="{D5CDD505-2E9C-101B-9397-08002B2CF9AE}" pid="3" name="KSOProductBuildVer">
    <vt:lpwstr>2052-12.1.0.15374</vt:lpwstr>
  </property>
</Properties>
</file>