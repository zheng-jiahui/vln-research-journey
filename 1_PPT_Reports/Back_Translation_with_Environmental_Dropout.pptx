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8"/>
  </p:notesMasterIdLst>
  <p:handoutMasterIdLst>
    <p:handoutMasterId r:id="rId9"/>
  </p:handoutMasterIdLst>
  <p:sldIdLst>
    <p:sldId id="256" r:id="rId2"/>
    <p:sldId id="502" r:id="rId3"/>
    <p:sldId id="526" r:id="rId4"/>
    <p:sldId id="528" r:id="rId5"/>
    <p:sldId id="530" r:id="rId6"/>
    <p:sldId id="529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153" autoAdjust="0"/>
  </p:normalViewPr>
  <p:slideViewPr>
    <p:cSldViewPr>
      <p:cViewPr varScale="1">
        <p:scale>
          <a:sx n="80" d="100"/>
          <a:sy n="80" d="100"/>
        </p:scale>
        <p:origin x="739" y="-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1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309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149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940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0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Learning to Navigate Unseen Environments: Back Translation with Environmental Dropout</a:t>
            </a:r>
          </a:p>
          <a:p>
            <a:pPr algn="ctr"/>
            <a:r>
              <a:rPr lang="zh-CN" altLang="en-US" sz="20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作者：</a:t>
            </a:r>
            <a:r>
              <a:rPr lang="en-US" altLang="zh-CN" sz="20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Hao Tan, </a:t>
            </a:r>
            <a:r>
              <a:rPr lang="en-US" altLang="zh-CN" sz="20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Licheng</a:t>
            </a:r>
            <a:r>
              <a:rPr lang="en-US" altLang="zh-CN" sz="20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Yu, Mohit Bansal (UNC Chapel Hill)</a:t>
            </a:r>
            <a:endParaRPr lang="zh-CN" altLang="en-US" sz="20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000" y="1426052"/>
            <a:ext cx="10944000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任务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视觉语言导航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根据自然语言指令在真实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环境中导航。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核心挑战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智能体在已见环境 中表现良好，但在未见环境 中性能急剧下降 → 泛化能力差。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根本原因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训练时所使用的环境数量有限，导致智能体过拟合于训练环境的特定布局与视觉特征。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核心贡献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、提出两阶段训练框架（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IL+RL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监督学习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回译半监督学习）。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、创新性地提出环境丢弃方法，模拟无限多样的新环境，打破数据瓶颈。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竞赛排行榜的未见测试集上取得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SOTA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结果。</a:t>
            </a: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041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43856" y="4365000"/>
            <a:ext cx="12028143" cy="29518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Stage 1: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监督学习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预训练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模仿学习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和强化学习混合训练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两个智能体共享权重但独立导航，合并损失，兼顾效率与探索。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Stage 2: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半监督学习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微调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利用无标注数据提升在未见环境中的表现。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回译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传统回译瓶颈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只能在有限的已见环境中生成新数据，环境多样性不足。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创新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环境丢弃 → 突破瓶颈的关键。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10132356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方法总览 </a:t>
            </a:r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两阶段训练框架  </a:t>
            </a:r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Based On : speaker-follower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EDA823-0AD0-4450-BC38-024DACA6E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422"/>
            <a:ext cx="12192000" cy="380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3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核心创新 </a:t>
            </a:r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环境丢弃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D1D0F1-B4D3-47B7-8C5F-B7923D0D2153}"/>
              </a:ext>
            </a:extLst>
          </p:cNvPr>
          <p:cNvSpPr/>
          <p:nvPr/>
        </p:nvSpPr>
        <p:spPr>
          <a:xfrm>
            <a:off x="192000" y="1170797"/>
            <a:ext cx="11231999" cy="46138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从有限的已见环境中，创造大量多样的“虚拟”未见环境。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传统特征丢弃的失败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对每个视图特征进行独立随机丢弃。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不一致！同一个物体在不同视图或不同位置时隐时现，造成混乱。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本文的环境丢弃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操作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f‘_{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t,i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 = f_{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t,i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} ⊙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ξ^E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在整个环境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中，对所有时间步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和所有视图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，共享同一个丢弃掩码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ξ^E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效果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一致地“移除”某些视觉元素（如所有椅子），从而生成一个结构不变但视觉外观全新的环境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关键设计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在回译中，指令生成器和导航智能体必须使用相同的环境丢弃掩码，确保指令与环境自洽。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D5EC2B-278A-44EF-BA7D-0A31AC4C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521" y="981000"/>
            <a:ext cx="4320478" cy="178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7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Speaker</a:t>
            </a:r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模型的改进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F42F5981-A169-4B46-B6DB-716D3873B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52705"/>
              </p:ext>
            </p:extLst>
          </p:nvPr>
        </p:nvGraphicFramePr>
        <p:xfrm>
          <a:off x="34425" y="641590"/>
          <a:ext cx="11895095" cy="62072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87094">
                  <a:extLst>
                    <a:ext uri="{9D8B030D-6E8A-4147-A177-3AD203B41FA5}">
                      <a16:colId xmlns:a16="http://schemas.microsoft.com/office/drawing/2014/main" val="1335416718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3327200831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2278800650"/>
                    </a:ext>
                  </a:extLst>
                </a:gridCol>
                <a:gridCol w="3096001">
                  <a:extLst>
                    <a:ext uri="{9D8B030D-6E8A-4147-A177-3AD203B41FA5}">
                      <a16:colId xmlns:a16="http://schemas.microsoft.com/office/drawing/2014/main" val="940617943"/>
                    </a:ext>
                  </a:extLst>
                </a:gridCol>
              </a:tblGrid>
              <a:tr h="1027543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方面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b="0">
                          <a:effectLst/>
                          <a:latin typeface="quote-cjk-patch"/>
                        </a:rPr>
                        <a:t>普通Speaker (如Fried et al.)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 dirty="0">
                          <a:effectLst/>
                          <a:latin typeface="quote-cjk-patch"/>
                        </a:rPr>
                        <a:t>改进版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Speaker (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本文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  <a:latin typeface="quote-cjk-patch"/>
                        </a:rPr>
                        <a:t>改进带来的优势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113922580"/>
                  </a:ext>
                </a:extLst>
              </a:tr>
              <a:tr h="186282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effectLst/>
                          <a:latin typeface="quote-cjk-patch"/>
                        </a:rPr>
                        <a:t>1. 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视觉编码架构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  <a:latin typeface="quote-cjk-patch"/>
                        </a:rPr>
                        <a:t>单层编码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：通常使用一个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RNN/Transformer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编码动作和视觉序列。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quote-cjk-patch"/>
                        </a:rPr>
                        <a:t>双重编码器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1. 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路由编码器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：一个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Bi-LSTM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，专门编码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路径序列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{</a:t>
                      </a:r>
                      <a:r>
                        <a:rPr lang="en-US" altLang="zh-CN" b="0" dirty="0" err="1">
                          <a:effectLst/>
                          <a:latin typeface="quote-cjk-patch"/>
                        </a:rPr>
                        <a:t>g_t,a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*_t}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，输出路径上下文 </a:t>
                      </a:r>
                      <a:r>
                        <a:rPr lang="en-US" altLang="zh-CN" b="0" dirty="0" err="1">
                          <a:effectLst/>
                          <a:latin typeface="quote-cjk-patch"/>
                        </a:rPr>
                        <a:t>r_t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。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2. 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上下文编码器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：另一个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Bi-LSTM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，读取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注意力加权的视觉特征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{</a:t>
                      </a:r>
                      <a:r>
                        <a:rPr lang="en-US" altLang="zh-CN" b="0" dirty="0" err="1">
                          <a:effectLst/>
                          <a:latin typeface="quote-cjk-patch"/>
                        </a:rPr>
                        <a:t>f̂_t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}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，输出最终编码 </a:t>
                      </a:r>
                      <a:r>
                        <a:rPr lang="en-US" altLang="zh-CN" b="0" dirty="0" err="1">
                          <a:effectLst/>
                          <a:latin typeface="quote-cjk-patch"/>
                        </a:rPr>
                        <a:t>c_t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  <a:latin typeface="quote-cjk-patch"/>
                        </a:rPr>
                        <a:t>解耦与深化理解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：将“路径记忆”与“视觉感知”分离，并进行深层融合，使模型对路径和环境的理解更深刻。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95405265"/>
                  </a:ext>
                </a:extLst>
              </a:tr>
              <a:tr h="1747911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effectLst/>
                          <a:latin typeface="quote-cjk-patch"/>
                        </a:rPr>
                        <a:t>2. 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视觉注意力机制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  <a:latin typeface="quote-cjk-patch"/>
                        </a:rPr>
                        <a:t>全局注意力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：解码时，直接对原始视图特征 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{f_t,i} 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计算注意力。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quote-cjk-patch"/>
                        </a:rPr>
                        <a:t>分层注意力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1. 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路径感知视觉注意力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：在编码阶段，让路径上下文 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r_t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与当前全景视图 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{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f_t,i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} 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计算注意力，得到聚焦的视觉特征 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f̂_t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。</a:t>
                      </a:r>
                      <a:br>
                        <a:rPr lang="en-US" b="0" dirty="0">
                          <a:effectLst/>
                          <a:latin typeface="quote-cjk-patch"/>
                        </a:rPr>
                      </a:br>
                      <a:r>
                        <a:rPr lang="el-GR" b="0" dirty="0">
                          <a:effectLst/>
                          <a:latin typeface="quote-cjk-patch"/>
                        </a:rPr>
                        <a:t>γ_{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t,i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} =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softmax_i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(f_{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t,i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}^T W_R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r_t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)</a:t>
                      </a:r>
                      <a:br>
                        <a:rPr lang="en-US" b="0" dirty="0">
                          <a:effectLst/>
                          <a:latin typeface="quote-cjk-patch"/>
                        </a:rPr>
                      </a:br>
                      <a:r>
                        <a:rPr lang="en-US" b="0" dirty="0" err="1">
                          <a:effectLst/>
                          <a:latin typeface="quote-cjk-patch"/>
                        </a:rPr>
                        <a:t>f̂_t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= </a:t>
                      </a:r>
                      <a:r>
                        <a:rPr lang="el-GR" b="0" dirty="0">
                          <a:effectLst/>
                          <a:latin typeface="quote-cjk-patch"/>
                        </a:rPr>
                        <a:t>Σ_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l-GR" b="0" dirty="0">
                          <a:effectLst/>
                          <a:latin typeface="quote-cjk-patch"/>
                        </a:rPr>
                        <a:t>γ_{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t,i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} f_{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t,i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}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quote-cjk-patch"/>
                        </a:rPr>
                        <a:t>关键信息聚焦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：在生成指令前，先根据</a:t>
                      </a:r>
                      <a:r>
                        <a:rPr lang="zh-CN" altLang="en-US" b="1" dirty="0">
                          <a:effectLst/>
                          <a:latin typeface="quote-cjk-patch"/>
                        </a:rPr>
                        <a:t>整条路径的上下文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来确定每个位置最需要关注的视觉地标，生成更具判别性和准确性的指令。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82769975"/>
                  </a:ext>
                </a:extLst>
              </a:tr>
              <a:tr h="1518518">
                <a:tc>
                  <a:txBody>
                    <a:bodyPr/>
                    <a:lstStyle/>
                    <a:p>
                      <a:r>
                        <a:rPr lang="en-US" altLang="zh-CN" b="1">
                          <a:effectLst/>
                          <a:latin typeface="quote-cjk-patch"/>
                        </a:rPr>
                        <a:t>3. </a:t>
                      </a:r>
                      <a:r>
                        <a:rPr lang="zh-CN" altLang="en-US" b="1">
                          <a:effectLst/>
                          <a:latin typeface="quote-cjk-patch"/>
                        </a:rPr>
                        <a:t>信息流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quote-cjk-patch"/>
                        </a:rPr>
                        <a:t>相对直接：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路径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,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环境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) →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编码器 → 解码器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  <a:latin typeface="quote-cjk-patch"/>
                        </a:rPr>
                        <a:t>更丰富、更具上下文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：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(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路径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,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环境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) → 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路由编码器 → 路径感知视觉注意力 → 上下文编码器 → 解码器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quote-cjk-patch"/>
                        </a:rPr>
                        <a:t>指令质量提升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：生成的指令与路径和环境的关联更紧密、更一致。论文指出，此改进将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BLEU-4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分数提升了约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3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点。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3827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5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语义视图验证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D1D0F1-B4D3-47B7-8C5F-B7923D0D2153}"/>
              </a:ext>
            </a:extLst>
          </p:cNvPr>
          <p:cNvSpPr/>
          <p:nvPr/>
        </p:nvSpPr>
        <p:spPr>
          <a:xfrm>
            <a:off x="192000" y="1170797"/>
            <a:ext cx="11231999" cy="3367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语义视图验证实验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在理想可控环境下，验证环境丢弃有效的核心直觉（即“一致地移除物体”是关键）。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设置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RGB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图像特征替换为物体级别的语义分割特征（不同颜色代表不同物体类别）。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结果与结论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环境丢弃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(52.0%) 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特征丢弃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(50.2%) ≈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基础回译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(50.5%)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这证明了环境丢弃的成功，确实源于其一致地模拟“物体出现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消失” 的能力，而非随机噪声。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5891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8469</TotalTime>
  <Words>946</Words>
  <Application>Microsoft Office PowerPoint</Application>
  <PresentationFormat>宽屏</PresentationFormat>
  <Paragraphs>70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789</cp:revision>
  <dcterms:created xsi:type="dcterms:W3CDTF">2022-11-14T06:38:00Z</dcterms:created>
  <dcterms:modified xsi:type="dcterms:W3CDTF">2025-11-05T02:54:11Z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