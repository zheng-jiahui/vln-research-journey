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</p:sldMasterIdLst>
  <p:notesMasterIdLst>
    <p:notesMasterId r:id="rId9"/>
  </p:notesMasterIdLst>
  <p:handoutMasterIdLst>
    <p:handoutMasterId r:id="rId10"/>
  </p:handoutMasterIdLst>
  <p:sldIdLst>
    <p:sldId id="256" r:id="rId2"/>
    <p:sldId id="502" r:id="rId3"/>
    <p:sldId id="526" r:id="rId4"/>
    <p:sldId id="528" r:id="rId5"/>
    <p:sldId id="527" r:id="rId6"/>
    <p:sldId id="529" r:id="rId7"/>
    <p:sldId id="530" r:id="rId8"/>
  </p:sldIdLst>
  <p:sldSz cx="12192000" cy="6858000"/>
  <p:notesSz cx="6858000" cy="9144000"/>
  <p:custDataLst>
    <p:tags r:id="rId1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fkx" initials="w" lastIdx="1" clrIdx="0"/>
  <p:cmAuthor id="2" name="2115875948@qq.com" initials="2" lastIdx="3" clrIdx="1">
    <p:extLst>
      <p:ext uri="{19B8F6BF-5375-455C-9EA6-DF929625EA0E}">
        <p15:presenceInfo xmlns:p15="http://schemas.microsoft.com/office/powerpoint/2012/main" userId="77d56f992319ea5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58F"/>
    <a:srgbClr val="5B9BD5"/>
    <a:srgbClr val="FF9966"/>
    <a:srgbClr val="FF9800"/>
    <a:srgbClr val="00AFF0"/>
    <a:srgbClr val="FF0000"/>
    <a:srgbClr val="1212F0"/>
    <a:srgbClr val="FFB014"/>
    <a:srgbClr val="AAAAFF"/>
    <a:srgbClr val="55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153" autoAdjust="0"/>
  </p:normalViewPr>
  <p:slideViewPr>
    <p:cSldViewPr>
      <p:cViewPr varScale="1">
        <p:scale>
          <a:sx n="80" d="100"/>
          <a:sy n="80" d="100"/>
        </p:scale>
        <p:origin x="739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A0B522-843A-4E8E-A647-AF429A9C9E7B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6659DB-8BA6-4AD3-9C6C-00F0DE7EB8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6659DB-8BA6-4AD3-9C6C-00F0DE7EB856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0A12A2-0C94-4ACB-BC57-F09E82DBA60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98193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0A12A2-0C94-4ACB-BC57-F09E82DBA60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33090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0A12A2-0C94-4ACB-BC57-F09E82DBA60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01491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0A12A2-0C94-4ACB-BC57-F09E82DBA60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36302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0A12A2-0C94-4ACB-BC57-F09E82DBA60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4695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0A12A2-0C94-4ACB-BC57-F09E82DBA60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2575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156636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614284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027611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329097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499334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392298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46897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791908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335469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712480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305259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平行四边形 7"/>
          <p:cNvSpPr/>
          <p:nvPr userDrawn="1"/>
        </p:nvSpPr>
        <p:spPr>
          <a:xfrm>
            <a:off x="-65252" y="-921"/>
            <a:ext cx="1961103" cy="692150"/>
          </a:xfrm>
          <a:prstGeom prst="parallelogram">
            <a:avLst>
              <a:gd name="adj" fmla="val 57289"/>
            </a:avLst>
          </a:prstGeom>
          <a:solidFill>
            <a:srgbClr val="354B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062" y="16480"/>
            <a:ext cx="944487" cy="659190"/>
          </a:xfrm>
          <a:prstGeom prst="rect">
            <a:avLst/>
          </a:prstGeom>
        </p:spPr>
      </p:pic>
      <p:sp>
        <p:nvSpPr>
          <p:cNvPr id="4" name="平行四边形 3"/>
          <p:cNvSpPr/>
          <p:nvPr userDrawn="1"/>
        </p:nvSpPr>
        <p:spPr>
          <a:xfrm>
            <a:off x="1387544" y="647450"/>
            <a:ext cx="10848000" cy="36000"/>
          </a:xfrm>
          <a:prstGeom prst="parallelogram">
            <a:avLst>
              <a:gd name="adj" fmla="val 57289"/>
            </a:avLst>
          </a:prstGeom>
          <a:solidFill>
            <a:srgbClr val="354B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 userDrawn="1"/>
        </p:nvSpPr>
        <p:spPr>
          <a:xfrm>
            <a:off x="11717597" y="6583996"/>
            <a:ext cx="666936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1B2D83C-3CD3-4CBF-B268-3EDB8087C524}" type="slidenum">
              <a:rPr lang="zh-CN" altLang="en-US" sz="1200" b="1" smtClean="0">
                <a:solidFill>
                  <a:srgbClr val="354B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sz="1200" b="1" dirty="0">
              <a:solidFill>
                <a:srgbClr val="354B7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2230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6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组合 156"/>
          <p:cNvGrpSpPr/>
          <p:nvPr/>
        </p:nvGrpSpPr>
        <p:grpSpPr>
          <a:xfrm>
            <a:off x="3576061" y="-8561"/>
            <a:ext cx="5393514" cy="1515659"/>
            <a:chOff x="5295900" y="2146300"/>
            <a:chExt cx="2552700" cy="1181100"/>
          </a:xfrm>
          <a:solidFill>
            <a:schemeClr val="bg1">
              <a:lumMod val="85000"/>
              <a:alpha val="58000"/>
            </a:schemeClr>
          </a:solidFill>
        </p:grpSpPr>
        <p:grpSp>
          <p:nvGrpSpPr>
            <p:cNvPr id="164" name="组合 163"/>
            <p:cNvGrpSpPr/>
            <p:nvPr/>
          </p:nvGrpSpPr>
          <p:grpSpPr>
            <a:xfrm>
              <a:off x="5295900" y="21463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291" name="矩形 290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2" name="矩形 291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3" name="矩形 292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4" name="矩形 293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5" name="矩形 294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6" name="矩形 295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7" name="矩形 296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8" name="矩形 297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9" name="矩形 298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0" name="矩形 299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1" name="矩形 300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2" name="矩形 301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3" name="矩形 302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4" name="矩形 303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5" name="矩形 304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6" name="矩形 305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7" name="矩形 306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65" name="组合 164"/>
            <p:cNvGrpSpPr/>
            <p:nvPr/>
          </p:nvGrpSpPr>
          <p:grpSpPr>
            <a:xfrm>
              <a:off x="5295900" y="22987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274" name="矩形 273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5" name="矩形 274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6" name="矩形 275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7" name="矩形 276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8" name="矩形 277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9" name="矩形 278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0" name="矩形 279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1" name="矩形 280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2" name="矩形 281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3" name="矩形 282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4" name="矩形 283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5" name="矩形 284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6" name="矩形 285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7" name="矩形 286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8" name="矩形 287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9" name="矩形 288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0" name="矩形 289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66" name="组合 165"/>
            <p:cNvGrpSpPr/>
            <p:nvPr/>
          </p:nvGrpSpPr>
          <p:grpSpPr>
            <a:xfrm>
              <a:off x="5295900" y="24511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257" name="矩形 256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8" name="矩形 257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9" name="矩形 258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0" name="矩形 259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1" name="矩形 260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2" name="矩形 261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3" name="矩形 262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4" name="矩形 263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5" name="矩形 264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6" name="矩形 265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7" name="矩形 266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8" name="矩形 267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9" name="矩形 268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0" name="矩形 269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1" name="矩形 270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2" name="矩形 271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3" name="矩形 272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67" name="组合 166"/>
            <p:cNvGrpSpPr/>
            <p:nvPr/>
          </p:nvGrpSpPr>
          <p:grpSpPr>
            <a:xfrm>
              <a:off x="5295900" y="26035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240" name="矩形 239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1" name="矩形 240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2" name="矩形 241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3" name="矩形 242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4" name="矩形 243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5" name="矩形 244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6" name="矩形 245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7" name="矩形 246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8" name="矩形 247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9" name="矩形 248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0" name="矩形 249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1" name="矩形 250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2" name="矩形 251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3" name="矩形 252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4" name="矩形 253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5" name="矩形 254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6" name="矩形 255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68" name="组合 167"/>
            <p:cNvGrpSpPr/>
            <p:nvPr/>
          </p:nvGrpSpPr>
          <p:grpSpPr>
            <a:xfrm>
              <a:off x="5295900" y="27559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223" name="矩形 222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4" name="矩形 223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5" name="矩形 224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6" name="矩形 225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7" name="矩形 226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8" name="矩形 227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9" name="矩形 228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0" name="矩形 229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1" name="矩形 230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2" name="矩形 231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3" name="矩形 232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4" name="矩形 233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5" name="矩形 234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6" name="矩形 235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7" name="矩形 236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8" name="矩形 237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9" name="矩形 238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69" name="组合 168"/>
            <p:cNvGrpSpPr/>
            <p:nvPr/>
          </p:nvGrpSpPr>
          <p:grpSpPr>
            <a:xfrm>
              <a:off x="5295900" y="29083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206" name="矩形 205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7" name="矩形 206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8" name="矩形 207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9" name="矩形 208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0" name="矩形 209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1" name="矩形 210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2" name="矩形 211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3" name="矩形 212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4" name="矩形 213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5" name="矩形 214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6" name="矩形 215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7" name="矩形 216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8" name="矩形 217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9" name="矩形 218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0" name="矩形 219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1" name="矩形 220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2" name="矩形 221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70" name="组合 169"/>
            <p:cNvGrpSpPr/>
            <p:nvPr/>
          </p:nvGrpSpPr>
          <p:grpSpPr>
            <a:xfrm>
              <a:off x="5295900" y="30607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189" name="矩形 188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0" name="矩形 189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1" name="矩形 190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2" name="矩形 191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3" name="矩形 192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4" name="矩形 193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5" name="矩形 194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6" name="矩形 195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7" name="矩形 196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8" name="矩形 197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9" name="矩形 198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0" name="矩形 199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1" name="矩形 200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2" name="矩形 201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3" name="矩形 202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4" name="矩形 203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5" name="矩形 204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71" name="组合 170"/>
            <p:cNvGrpSpPr/>
            <p:nvPr/>
          </p:nvGrpSpPr>
          <p:grpSpPr>
            <a:xfrm>
              <a:off x="5295900" y="32131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172" name="矩形 171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73" name="矩形 172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74" name="矩形 173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75" name="矩形 174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76" name="矩形 175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77" name="矩形 176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78" name="矩形 177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79" name="矩形 178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0" name="矩形 179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1" name="矩形 180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2" name="矩形 181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3" name="矩形 182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4" name="矩形 183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5" name="矩形 184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6" name="矩形 185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7" name="矩形 186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8" name="矩形 187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</p:grpSp>
      <p:sp>
        <p:nvSpPr>
          <p:cNvPr id="158" name="矩形 157"/>
          <p:cNvSpPr/>
          <p:nvPr/>
        </p:nvSpPr>
        <p:spPr>
          <a:xfrm>
            <a:off x="-12326" y="11038"/>
            <a:ext cx="3589020" cy="1498600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b="1" dirty="0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59" name="文本框 333"/>
          <p:cNvSpPr txBox="1"/>
          <p:nvPr/>
        </p:nvSpPr>
        <p:spPr>
          <a:xfrm>
            <a:off x="119999" y="1654419"/>
            <a:ext cx="8849575" cy="176602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b="1" dirty="0">
                <a:solidFill>
                  <a:srgbClr val="0065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  <a:sym typeface="inpin heiti" panose="00000500000000000000" pitchFamily="2" charset="-122"/>
              </a:rPr>
              <a:t> Scaling Data Generation in Vision-and-Language Navigation</a:t>
            </a:r>
            <a:endParaRPr lang="zh-CN" altLang="en-US" sz="3200" b="1" dirty="0">
              <a:solidFill>
                <a:srgbClr val="0065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  <a:sym typeface="inpin heiti" panose="00000500000000000000" pitchFamily="2" charset="-122"/>
            </a:endParaRPr>
          </a:p>
        </p:txBody>
      </p:sp>
      <p:sp>
        <p:nvSpPr>
          <p:cNvPr id="162" name="矩形 161"/>
          <p:cNvSpPr/>
          <p:nvPr/>
        </p:nvSpPr>
        <p:spPr>
          <a:xfrm flipV="1">
            <a:off x="0" y="3860999"/>
            <a:ext cx="8969573" cy="97896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pic>
        <p:nvPicPr>
          <p:cNvPr id="161" name="图片 160" descr="校徽-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0" y="155819"/>
            <a:ext cx="3467735" cy="1152525"/>
          </a:xfrm>
          <a:prstGeom prst="rect">
            <a:avLst/>
          </a:prstGeom>
        </p:spPr>
      </p:pic>
      <p:pic>
        <p:nvPicPr>
          <p:cNvPr id="308" name="图片 30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9575" y="-8561"/>
            <a:ext cx="3222425" cy="6858000"/>
          </a:xfrm>
          <a:prstGeom prst="rect">
            <a:avLst/>
          </a:prstGeom>
        </p:spPr>
      </p:pic>
      <p:graphicFrame>
        <p:nvGraphicFramePr>
          <p:cNvPr id="311" name="表格 310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70576194"/>
              </p:ext>
            </p:extLst>
          </p:nvPr>
        </p:nvGraphicFramePr>
        <p:xfrm>
          <a:off x="2783755" y="4494960"/>
          <a:ext cx="341793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8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9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dist" defTabSz="914400" rtl="0" eaLnBrk="1" latinLnBrk="0" hangingPunct="1"/>
                      <a:r>
                        <a:rPr lang="zh-CN" altLang="en-US" sz="18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报   告   人：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8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dist" defTabSz="914400" rtl="0" eaLnBrk="1" latinLnBrk="0" hangingPunct="1"/>
                      <a:r>
                        <a:rPr lang="zh-CN" altLang="en-US" sz="18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学     号：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8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dist" defTabSz="914400" rtl="0" eaLnBrk="1" latinLnBrk="0" hangingPunct="1"/>
                      <a:r>
                        <a:rPr lang="zh-CN" altLang="en-US" sz="18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指导教师：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8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dist" defTabSz="914400" rtl="0" eaLnBrk="1" latinLnBrk="0" hangingPunct="1"/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报告日期：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8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">
            <a:extLst>
              <a:ext uri="{FF2B5EF4-FFF2-40B4-BE49-F238E27FC236}">
                <a16:creationId xmlns:a16="http://schemas.microsoft.com/office/drawing/2014/main" id="{CCB4A4D2-2BB4-4DA9-B43E-27137BDB5339}"/>
              </a:ext>
            </a:extLst>
          </p:cNvPr>
          <p:cNvSpPr/>
          <p:nvPr/>
        </p:nvSpPr>
        <p:spPr>
          <a:xfrm>
            <a:off x="-67778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629F0BF3-9C1D-455A-989D-5662A6554E75}"/>
              </a:ext>
            </a:extLst>
          </p:cNvPr>
          <p:cNvSpPr/>
          <p:nvPr/>
        </p:nvSpPr>
        <p:spPr>
          <a:xfrm>
            <a:off x="-59015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4BAB1488-3927-454B-91C5-92DB9E2C140C}"/>
              </a:ext>
            </a:extLst>
          </p:cNvPr>
          <p:cNvSpPr/>
          <p:nvPr/>
        </p:nvSpPr>
        <p:spPr>
          <a:xfrm>
            <a:off x="-501890" y="6802934"/>
            <a:ext cx="0" cy="20256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C48C4EE8-1A5E-4C21-8CC8-98EC0C7FCE10}"/>
              </a:ext>
            </a:extLst>
          </p:cNvPr>
          <p:cNvSpPr/>
          <p:nvPr/>
        </p:nvSpPr>
        <p:spPr>
          <a:xfrm>
            <a:off x="-414260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24CFC9BC-4D96-4575-A5D7-EB3F61E4DD11}"/>
              </a:ext>
            </a:extLst>
          </p:cNvPr>
          <p:cNvSpPr/>
          <p:nvPr/>
        </p:nvSpPr>
        <p:spPr>
          <a:xfrm>
            <a:off x="-32599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4" name="Shape 3">
            <a:extLst>
              <a:ext uri="{FF2B5EF4-FFF2-40B4-BE49-F238E27FC236}">
                <a16:creationId xmlns:a16="http://schemas.microsoft.com/office/drawing/2014/main" id="{99A245DD-B593-4960-8CB9-B4E714DCA42B}"/>
              </a:ext>
            </a:extLst>
          </p:cNvPr>
          <p:cNvSpPr/>
          <p:nvPr/>
        </p:nvSpPr>
        <p:spPr>
          <a:xfrm>
            <a:off x="-25124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5" name="Shape 4">
            <a:extLst>
              <a:ext uri="{FF2B5EF4-FFF2-40B4-BE49-F238E27FC236}">
                <a16:creationId xmlns:a16="http://schemas.microsoft.com/office/drawing/2014/main" id="{D285B36B-BA6B-47E7-912C-C69A480B5E7B}"/>
              </a:ext>
            </a:extLst>
          </p:cNvPr>
          <p:cNvSpPr/>
          <p:nvPr/>
        </p:nvSpPr>
        <p:spPr>
          <a:xfrm>
            <a:off x="-16361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6" name="Shape 5">
            <a:extLst>
              <a:ext uri="{FF2B5EF4-FFF2-40B4-BE49-F238E27FC236}">
                <a16:creationId xmlns:a16="http://schemas.microsoft.com/office/drawing/2014/main" id="{B162677F-4236-4123-9675-D9B75B9DA17D}"/>
              </a:ext>
            </a:extLst>
          </p:cNvPr>
          <p:cNvSpPr/>
          <p:nvPr/>
        </p:nvSpPr>
        <p:spPr>
          <a:xfrm>
            <a:off x="-142354" y="5338681"/>
            <a:ext cx="0" cy="177823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7" name="Shape 6">
            <a:extLst>
              <a:ext uri="{FF2B5EF4-FFF2-40B4-BE49-F238E27FC236}">
                <a16:creationId xmlns:a16="http://schemas.microsoft.com/office/drawing/2014/main" id="{D66491B3-BD94-495F-831E-04A11DBB22E1}"/>
              </a:ext>
            </a:extLst>
          </p:cNvPr>
          <p:cNvSpPr/>
          <p:nvPr/>
        </p:nvSpPr>
        <p:spPr>
          <a:xfrm>
            <a:off x="-54724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8" name="Shape 7">
            <a:extLst>
              <a:ext uri="{FF2B5EF4-FFF2-40B4-BE49-F238E27FC236}">
                <a16:creationId xmlns:a16="http://schemas.microsoft.com/office/drawing/2014/main" id="{F2F52D77-5E21-4FCB-A0B3-B7F1B9C1E5EC}"/>
              </a:ext>
            </a:extLst>
          </p:cNvPr>
          <p:cNvSpPr/>
          <p:nvPr/>
        </p:nvSpPr>
        <p:spPr>
          <a:xfrm>
            <a:off x="1557541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01" name="Text 9">
            <a:extLst>
              <a:ext uri="{FF2B5EF4-FFF2-40B4-BE49-F238E27FC236}">
                <a16:creationId xmlns:a16="http://schemas.microsoft.com/office/drawing/2014/main" id="{E87E747E-4DCF-42B6-B18D-A5F3AEA62EE4}"/>
              </a:ext>
            </a:extLst>
          </p:cNvPr>
          <p:cNvSpPr/>
          <p:nvPr/>
        </p:nvSpPr>
        <p:spPr>
          <a:xfrm>
            <a:off x="120000" y="1201333"/>
            <a:ext cx="10082701" cy="37828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核心问题：视觉与语言导航任务中，数据稀缺与多样性不足限制了智能体的泛化能力。</a:t>
            </a:r>
          </a:p>
          <a:p>
            <a:pPr algn="just"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核心方案：提出一个自动化、可扩展的数据生成范式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ScaleVLN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。</a:t>
            </a:r>
          </a:p>
          <a:p>
            <a:pPr algn="just"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关键成果：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	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、生成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4.9 Million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高质量指令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轨迹对（比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R2R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大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352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倍）。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	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、在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R2R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上达到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80%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单次运行成功率，将所见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未所见环境泛化差距缩小至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&lt;1%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。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	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、在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REVERIE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CVDN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R2R-CE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上均取得新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SOTA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。</a:t>
            </a:r>
          </a:p>
          <a:p>
            <a:pPr algn="just"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</p:txBody>
      </p:sp>
      <p:sp>
        <p:nvSpPr>
          <p:cNvPr id="112" name="Shape 20">
            <a:extLst>
              <a:ext uri="{FF2B5EF4-FFF2-40B4-BE49-F238E27FC236}">
                <a16:creationId xmlns:a16="http://schemas.microsoft.com/office/drawing/2014/main" id="{907E2114-B18D-4CC1-9BE5-04231D8060F1}"/>
              </a:ext>
            </a:extLst>
          </p:cNvPr>
          <p:cNvSpPr/>
          <p:nvPr/>
        </p:nvSpPr>
        <p:spPr>
          <a:xfrm>
            <a:off x="4727155" y="5630950"/>
            <a:ext cx="652471" cy="5410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C0A4228D-C9B2-4DF6-ADE5-EA509A72BEA2}"/>
              </a:ext>
            </a:extLst>
          </p:cNvPr>
          <p:cNvSpPr/>
          <p:nvPr/>
        </p:nvSpPr>
        <p:spPr>
          <a:xfrm flipV="1">
            <a:off x="0" y="563911"/>
            <a:ext cx="12192000" cy="94715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47E2E811-D5FA-4E64-9B3A-0F9D21BB1D0C}"/>
              </a:ext>
            </a:extLst>
          </p:cNvPr>
          <p:cNvSpPr txBox="1"/>
          <p:nvPr/>
        </p:nvSpPr>
        <p:spPr>
          <a:xfrm>
            <a:off x="-4356" y="0"/>
            <a:ext cx="9261122" cy="58477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r>
              <a:rPr lang="en-US" altLang="zh-CN" sz="3200" b="1" i="0" dirty="0" err="1">
                <a:solidFill>
                  <a:srgbClr val="0F1115"/>
                </a:solidFill>
                <a:effectLst/>
                <a:latin typeface="quote-cjk-patch"/>
              </a:rPr>
              <a:t>ScaleVLN</a:t>
            </a:r>
            <a:r>
              <a:rPr lang="zh-CN" altLang="en-US" sz="3200" b="1" i="0" dirty="0">
                <a:solidFill>
                  <a:srgbClr val="0F1115"/>
                </a:solidFill>
                <a:effectLst/>
                <a:latin typeface="quote-cjk-patch"/>
              </a:rPr>
              <a:t>：视觉与语言导航的大规模数据生成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</p:txBody>
      </p:sp>
      <p:sp>
        <p:nvSpPr>
          <p:cNvPr id="133" name="Text 0">
            <a:extLst>
              <a:ext uri="{FF2B5EF4-FFF2-40B4-BE49-F238E27FC236}">
                <a16:creationId xmlns:a16="http://schemas.microsoft.com/office/drawing/2014/main" id="{29F306BF-CB06-453E-87CD-ED9CD49AB1E9}"/>
              </a:ext>
            </a:extLst>
          </p:cNvPr>
          <p:cNvSpPr/>
          <p:nvPr/>
        </p:nvSpPr>
        <p:spPr>
          <a:xfrm>
            <a:off x="2459305" y="479264"/>
            <a:ext cx="3049055" cy="6068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4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34" name="Shape 23">
            <a:extLst>
              <a:ext uri="{FF2B5EF4-FFF2-40B4-BE49-F238E27FC236}">
                <a16:creationId xmlns:a16="http://schemas.microsoft.com/office/drawing/2014/main" id="{947C43CF-6D32-48B2-9323-C8D3B84B6689}"/>
              </a:ext>
            </a:extLst>
          </p:cNvPr>
          <p:cNvSpPr/>
          <p:nvPr/>
        </p:nvSpPr>
        <p:spPr>
          <a:xfrm flipH="1">
            <a:off x="3094762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5" name="Text 24">
            <a:extLst>
              <a:ext uri="{FF2B5EF4-FFF2-40B4-BE49-F238E27FC236}">
                <a16:creationId xmlns:a16="http://schemas.microsoft.com/office/drawing/2014/main" id="{FC410578-49C6-4062-B42C-AB4DFE848D9F}"/>
              </a:ext>
            </a:extLst>
          </p:cNvPr>
          <p:cNvSpPr/>
          <p:nvPr/>
        </p:nvSpPr>
        <p:spPr>
          <a:xfrm>
            <a:off x="309476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6" name="Shape 25">
            <a:extLst>
              <a:ext uri="{FF2B5EF4-FFF2-40B4-BE49-F238E27FC236}">
                <a16:creationId xmlns:a16="http://schemas.microsoft.com/office/drawing/2014/main" id="{5B8EA68A-7FDB-48F6-B39F-E07E2A90ED58}"/>
              </a:ext>
            </a:extLst>
          </p:cNvPr>
          <p:cNvSpPr/>
          <p:nvPr/>
        </p:nvSpPr>
        <p:spPr>
          <a:xfrm flipH="1">
            <a:off x="2966492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37" name="Text 26">
            <a:extLst>
              <a:ext uri="{FF2B5EF4-FFF2-40B4-BE49-F238E27FC236}">
                <a16:creationId xmlns:a16="http://schemas.microsoft.com/office/drawing/2014/main" id="{A43D0174-B3BA-4797-A602-5502C8C941C3}"/>
              </a:ext>
            </a:extLst>
          </p:cNvPr>
          <p:cNvSpPr/>
          <p:nvPr/>
        </p:nvSpPr>
        <p:spPr>
          <a:xfrm>
            <a:off x="296649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8" name="Shape 27">
            <a:extLst>
              <a:ext uri="{FF2B5EF4-FFF2-40B4-BE49-F238E27FC236}">
                <a16:creationId xmlns:a16="http://schemas.microsoft.com/office/drawing/2014/main" id="{37AE5155-4F56-41F9-831C-5CA7223FB399}"/>
              </a:ext>
            </a:extLst>
          </p:cNvPr>
          <p:cNvSpPr/>
          <p:nvPr/>
        </p:nvSpPr>
        <p:spPr>
          <a:xfrm flipH="1">
            <a:off x="2835047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9" name="Text 28">
            <a:extLst>
              <a:ext uri="{FF2B5EF4-FFF2-40B4-BE49-F238E27FC236}">
                <a16:creationId xmlns:a16="http://schemas.microsoft.com/office/drawing/2014/main" id="{D329E221-2854-4782-81D9-D01713BC20A0}"/>
              </a:ext>
            </a:extLst>
          </p:cNvPr>
          <p:cNvSpPr/>
          <p:nvPr/>
        </p:nvSpPr>
        <p:spPr>
          <a:xfrm>
            <a:off x="283504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40" name="Shape 29">
            <a:extLst>
              <a:ext uri="{FF2B5EF4-FFF2-40B4-BE49-F238E27FC236}">
                <a16:creationId xmlns:a16="http://schemas.microsoft.com/office/drawing/2014/main" id="{B8E85980-0220-4FE3-ACD5-72469EE7A87B}"/>
              </a:ext>
            </a:extLst>
          </p:cNvPr>
          <p:cNvSpPr/>
          <p:nvPr/>
        </p:nvSpPr>
        <p:spPr>
          <a:xfrm flipH="1">
            <a:off x="2704237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41" name="Text 30">
            <a:extLst>
              <a:ext uri="{FF2B5EF4-FFF2-40B4-BE49-F238E27FC236}">
                <a16:creationId xmlns:a16="http://schemas.microsoft.com/office/drawing/2014/main" id="{189A7C4C-B83F-4371-AC8F-06B4585CCB88}"/>
              </a:ext>
            </a:extLst>
          </p:cNvPr>
          <p:cNvSpPr/>
          <p:nvPr/>
        </p:nvSpPr>
        <p:spPr>
          <a:xfrm>
            <a:off x="270423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20419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">
            <a:extLst>
              <a:ext uri="{FF2B5EF4-FFF2-40B4-BE49-F238E27FC236}">
                <a16:creationId xmlns:a16="http://schemas.microsoft.com/office/drawing/2014/main" id="{CCB4A4D2-2BB4-4DA9-B43E-27137BDB5339}"/>
              </a:ext>
            </a:extLst>
          </p:cNvPr>
          <p:cNvSpPr/>
          <p:nvPr/>
        </p:nvSpPr>
        <p:spPr>
          <a:xfrm>
            <a:off x="-67778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629F0BF3-9C1D-455A-989D-5662A6554E75}"/>
              </a:ext>
            </a:extLst>
          </p:cNvPr>
          <p:cNvSpPr/>
          <p:nvPr/>
        </p:nvSpPr>
        <p:spPr>
          <a:xfrm>
            <a:off x="-59015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4BAB1488-3927-454B-91C5-92DB9E2C140C}"/>
              </a:ext>
            </a:extLst>
          </p:cNvPr>
          <p:cNvSpPr/>
          <p:nvPr/>
        </p:nvSpPr>
        <p:spPr>
          <a:xfrm>
            <a:off x="-501890" y="6802934"/>
            <a:ext cx="0" cy="20256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C48C4EE8-1A5E-4C21-8CC8-98EC0C7FCE10}"/>
              </a:ext>
            </a:extLst>
          </p:cNvPr>
          <p:cNvSpPr/>
          <p:nvPr/>
        </p:nvSpPr>
        <p:spPr>
          <a:xfrm>
            <a:off x="-414260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24CFC9BC-4D96-4575-A5D7-EB3F61E4DD11}"/>
              </a:ext>
            </a:extLst>
          </p:cNvPr>
          <p:cNvSpPr/>
          <p:nvPr/>
        </p:nvSpPr>
        <p:spPr>
          <a:xfrm>
            <a:off x="-32599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4" name="Shape 3">
            <a:extLst>
              <a:ext uri="{FF2B5EF4-FFF2-40B4-BE49-F238E27FC236}">
                <a16:creationId xmlns:a16="http://schemas.microsoft.com/office/drawing/2014/main" id="{99A245DD-B593-4960-8CB9-B4E714DCA42B}"/>
              </a:ext>
            </a:extLst>
          </p:cNvPr>
          <p:cNvSpPr/>
          <p:nvPr/>
        </p:nvSpPr>
        <p:spPr>
          <a:xfrm>
            <a:off x="-25124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5" name="Shape 4">
            <a:extLst>
              <a:ext uri="{FF2B5EF4-FFF2-40B4-BE49-F238E27FC236}">
                <a16:creationId xmlns:a16="http://schemas.microsoft.com/office/drawing/2014/main" id="{D285B36B-BA6B-47E7-912C-C69A480B5E7B}"/>
              </a:ext>
            </a:extLst>
          </p:cNvPr>
          <p:cNvSpPr/>
          <p:nvPr/>
        </p:nvSpPr>
        <p:spPr>
          <a:xfrm>
            <a:off x="-16361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6" name="Shape 5">
            <a:extLst>
              <a:ext uri="{FF2B5EF4-FFF2-40B4-BE49-F238E27FC236}">
                <a16:creationId xmlns:a16="http://schemas.microsoft.com/office/drawing/2014/main" id="{B162677F-4236-4123-9675-D9B75B9DA17D}"/>
              </a:ext>
            </a:extLst>
          </p:cNvPr>
          <p:cNvSpPr/>
          <p:nvPr/>
        </p:nvSpPr>
        <p:spPr>
          <a:xfrm>
            <a:off x="-142354" y="5338681"/>
            <a:ext cx="0" cy="177823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7" name="Shape 6">
            <a:extLst>
              <a:ext uri="{FF2B5EF4-FFF2-40B4-BE49-F238E27FC236}">
                <a16:creationId xmlns:a16="http://schemas.microsoft.com/office/drawing/2014/main" id="{D66491B3-BD94-495F-831E-04A11DBB22E1}"/>
              </a:ext>
            </a:extLst>
          </p:cNvPr>
          <p:cNvSpPr/>
          <p:nvPr/>
        </p:nvSpPr>
        <p:spPr>
          <a:xfrm>
            <a:off x="-54724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8" name="Shape 7">
            <a:extLst>
              <a:ext uri="{FF2B5EF4-FFF2-40B4-BE49-F238E27FC236}">
                <a16:creationId xmlns:a16="http://schemas.microsoft.com/office/drawing/2014/main" id="{F2F52D77-5E21-4FCB-A0B3-B7F1B9C1E5EC}"/>
              </a:ext>
            </a:extLst>
          </p:cNvPr>
          <p:cNvSpPr/>
          <p:nvPr/>
        </p:nvSpPr>
        <p:spPr>
          <a:xfrm>
            <a:off x="1557541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01" name="Text 9">
            <a:extLst>
              <a:ext uri="{FF2B5EF4-FFF2-40B4-BE49-F238E27FC236}">
                <a16:creationId xmlns:a16="http://schemas.microsoft.com/office/drawing/2014/main" id="{E87E747E-4DCF-42B6-B18D-A5F3AEA62EE4}"/>
              </a:ext>
            </a:extLst>
          </p:cNvPr>
          <p:cNvSpPr/>
          <p:nvPr/>
        </p:nvSpPr>
        <p:spPr>
          <a:xfrm>
            <a:off x="43856" y="4326176"/>
            <a:ext cx="10082701" cy="2536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、环境采集：利用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1,291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HM3D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Gibson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3D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场景。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、构建导航图：提出一种高覆盖率、全连通、无碰撞的导航图构建方法。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对比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AutoVLN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：节点密度更高，碰撞边比例为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0%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。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、图像修复：使用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Co-Mod GAN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修复渲染图像中的破损、扭曲区域，提升视觉质量。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、轨迹采样：在图上采样数百万条最短路径。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、指令生成：使用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EnvDrop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 Speaker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为每条轨迹生成对应导航指令。</a:t>
            </a:r>
          </a:p>
        </p:txBody>
      </p:sp>
      <p:sp>
        <p:nvSpPr>
          <p:cNvPr id="112" name="Shape 20">
            <a:extLst>
              <a:ext uri="{FF2B5EF4-FFF2-40B4-BE49-F238E27FC236}">
                <a16:creationId xmlns:a16="http://schemas.microsoft.com/office/drawing/2014/main" id="{907E2114-B18D-4CC1-9BE5-04231D8060F1}"/>
              </a:ext>
            </a:extLst>
          </p:cNvPr>
          <p:cNvSpPr/>
          <p:nvPr/>
        </p:nvSpPr>
        <p:spPr>
          <a:xfrm>
            <a:off x="4727155" y="5630950"/>
            <a:ext cx="652471" cy="5410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C0A4228D-C9B2-4DF6-ADE5-EA509A72BEA2}"/>
              </a:ext>
            </a:extLst>
          </p:cNvPr>
          <p:cNvSpPr/>
          <p:nvPr/>
        </p:nvSpPr>
        <p:spPr>
          <a:xfrm flipV="1">
            <a:off x="0" y="563911"/>
            <a:ext cx="12192000" cy="94715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47E2E811-D5FA-4E64-9B3A-0F9D21BB1D0C}"/>
              </a:ext>
            </a:extLst>
          </p:cNvPr>
          <p:cNvSpPr txBox="1"/>
          <p:nvPr/>
        </p:nvSpPr>
        <p:spPr>
          <a:xfrm>
            <a:off x="-4356" y="0"/>
            <a:ext cx="9261122" cy="58477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3200" b="1" dirty="0">
                <a:solidFill>
                  <a:srgbClr val="0F1115"/>
                </a:solidFill>
                <a:effectLst/>
                <a:latin typeface="quote-cjk-patch"/>
              </a:rPr>
              <a:t>方法总览：</a:t>
            </a:r>
            <a:r>
              <a:rPr lang="en-US" altLang="zh-CN" sz="3200" b="1" dirty="0" err="1">
                <a:solidFill>
                  <a:srgbClr val="0F1115"/>
                </a:solidFill>
                <a:effectLst/>
                <a:latin typeface="quote-cjk-patch"/>
              </a:rPr>
              <a:t>ScaleVLN</a:t>
            </a:r>
            <a:r>
              <a:rPr lang="zh-CN" altLang="en-US" sz="3200" b="1" dirty="0">
                <a:solidFill>
                  <a:srgbClr val="0F1115"/>
                </a:solidFill>
                <a:effectLst/>
                <a:latin typeface="quote-cjk-patch"/>
              </a:rPr>
              <a:t>数据生成流水线</a:t>
            </a:r>
          </a:p>
        </p:txBody>
      </p:sp>
      <p:sp>
        <p:nvSpPr>
          <p:cNvPr id="133" name="Text 0">
            <a:extLst>
              <a:ext uri="{FF2B5EF4-FFF2-40B4-BE49-F238E27FC236}">
                <a16:creationId xmlns:a16="http://schemas.microsoft.com/office/drawing/2014/main" id="{29F306BF-CB06-453E-87CD-ED9CD49AB1E9}"/>
              </a:ext>
            </a:extLst>
          </p:cNvPr>
          <p:cNvSpPr/>
          <p:nvPr/>
        </p:nvSpPr>
        <p:spPr>
          <a:xfrm>
            <a:off x="2459305" y="479264"/>
            <a:ext cx="3049055" cy="6068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4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34" name="Shape 23">
            <a:extLst>
              <a:ext uri="{FF2B5EF4-FFF2-40B4-BE49-F238E27FC236}">
                <a16:creationId xmlns:a16="http://schemas.microsoft.com/office/drawing/2014/main" id="{947C43CF-6D32-48B2-9323-C8D3B84B6689}"/>
              </a:ext>
            </a:extLst>
          </p:cNvPr>
          <p:cNvSpPr/>
          <p:nvPr/>
        </p:nvSpPr>
        <p:spPr>
          <a:xfrm flipH="1">
            <a:off x="3094762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5" name="Text 24">
            <a:extLst>
              <a:ext uri="{FF2B5EF4-FFF2-40B4-BE49-F238E27FC236}">
                <a16:creationId xmlns:a16="http://schemas.microsoft.com/office/drawing/2014/main" id="{FC410578-49C6-4062-B42C-AB4DFE848D9F}"/>
              </a:ext>
            </a:extLst>
          </p:cNvPr>
          <p:cNvSpPr/>
          <p:nvPr/>
        </p:nvSpPr>
        <p:spPr>
          <a:xfrm>
            <a:off x="309476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6" name="Shape 25">
            <a:extLst>
              <a:ext uri="{FF2B5EF4-FFF2-40B4-BE49-F238E27FC236}">
                <a16:creationId xmlns:a16="http://schemas.microsoft.com/office/drawing/2014/main" id="{5B8EA68A-7FDB-48F6-B39F-E07E2A90ED58}"/>
              </a:ext>
            </a:extLst>
          </p:cNvPr>
          <p:cNvSpPr/>
          <p:nvPr/>
        </p:nvSpPr>
        <p:spPr>
          <a:xfrm flipH="1">
            <a:off x="2966492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37" name="Text 26">
            <a:extLst>
              <a:ext uri="{FF2B5EF4-FFF2-40B4-BE49-F238E27FC236}">
                <a16:creationId xmlns:a16="http://schemas.microsoft.com/office/drawing/2014/main" id="{A43D0174-B3BA-4797-A602-5502C8C941C3}"/>
              </a:ext>
            </a:extLst>
          </p:cNvPr>
          <p:cNvSpPr/>
          <p:nvPr/>
        </p:nvSpPr>
        <p:spPr>
          <a:xfrm>
            <a:off x="296649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8" name="Shape 27">
            <a:extLst>
              <a:ext uri="{FF2B5EF4-FFF2-40B4-BE49-F238E27FC236}">
                <a16:creationId xmlns:a16="http://schemas.microsoft.com/office/drawing/2014/main" id="{37AE5155-4F56-41F9-831C-5CA7223FB399}"/>
              </a:ext>
            </a:extLst>
          </p:cNvPr>
          <p:cNvSpPr/>
          <p:nvPr/>
        </p:nvSpPr>
        <p:spPr>
          <a:xfrm flipH="1">
            <a:off x="2835047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9" name="Text 28">
            <a:extLst>
              <a:ext uri="{FF2B5EF4-FFF2-40B4-BE49-F238E27FC236}">
                <a16:creationId xmlns:a16="http://schemas.microsoft.com/office/drawing/2014/main" id="{D329E221-2854-4782-81D9-D01713BC20A0}"/>
              </a:ext>
            </a:extLst>
          </p:cNvPr>
          <p:cNvSpPr/>
          <p:nvPr/>
        </p:nvSpPr>
        <p:spPr>
          <a:xfrm>
            <a:off x="283504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40" name="Shape 29">
            <a:extLst>
              <a:ext uri="{FF2B5EF4-FFF2-40B4-BE49-F238E27FC236}">
                <a16:creationId xmlns:a16="http://schemas.microsoft.com/office/drawing/2014/main" id="{B8E85980-0220-4FE3-ACD5-72469EE7A87B}"/>
              </a:ext>
            </a:extLst>
          </p:cNvPr>
          <p:cNvSpPr/>
          <p:nvPr/>
        </p:nvSpPr>
        <p:spPr>
          <a:xfrm flipH="1">
            <a:off x="2704237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41" name="Text 30">
            <a:extLst>
              <a:ext uri="{FF2B5EF4-FFF2-40B4-BE49-F238E27FC236}">
                <a16:creationId xmlns:a16="http://schemas.microsoft.com/office/drawing/2014/main" id="{189A7C4C-B83F-4371-AC8F-06B4585CCB88}"/>
              </a:ext>
            </a:extLst>
          </p:cNvPr>
          <p:cNvSpPr/>
          <p:nvPr/>
        </p:nvSpPr>
        <p:spPr>
          <a:xfrm>
            <a:off x="270423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4C3E0E8-DF9F-441B-AE29-64FB04CC1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50" y="642497"/>
            <a:ext cx="12192000" cy="3683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737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">
            <a:extLst>
              <a:ext uri="{FF2B5EF4-FFF2-40B4-BE49-F238E27FC236}">
                <a16:creationId xmlns:a16="http://schemas.microsoft.com/office/drawing/2014/main" id="{CCB4A4D2-2BB4-4DA9-B43E-27137BDB5339}"/>
              </a:ext>
            </a:extLst>
          </p:cNvPr>
          <p:cNvSpPr/>
          <p:nvPr/>
        </p:nvSpPr>
        <p:spPr>
          <a:xfrm>
            <a:off x="-67778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629F0BF3-9C1D-455A-989D-5662A6554E75}"/>
              </a:ext>
            </a:extLst>
          </p:cNvPr>
          <p:cNvSpPr/>
          <p:nvPr/>
        </p:nvSpPr>
        <p:spPr>
          <a:xfrm>
            <a:off x="-59015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4BAB1488-3927-454B-91C5-92DB9E2C140C}"/>
              </a:ext>
            </a:extLst>
          </p:cNvPr>
          <p:cNvSpPr/>
          <p:nvPr/>
        </p:nvSpPr>
        <p:spPr>
          <a:xfrm>
            <a:off x="-501890" y="6802934"/>
            <a:ext cx="0" cy="20256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C48C4EE8-1A5E-4C21-8CC8-98EC0C7FCE10}"/>
              </a:ext>
            </a:extLst>
          </p:cNvPr>
          <p:cNvSpPr/>
          <p:nvPr/>
        </p:nvSpPr>
        <p:spPr>
          <a:xfrm>
            <a:off x="-414260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24CFC9BC-4D96-4575-A5D7-EB3F61E4DD11}"/>
              </a:ext>
            </a:extLst>
          </p:cNvPr>
          <p:cNvSpPr/>
          <p:nvPr/>
        </p:nvSpPr>
        <p:spPr>
          <a:xfrm>
            <a:off x="-32599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4" name="Shape 3">
            <a:extLst>
              <a:ext uri="{FF2B5EF4-FFF2-40B4-BE49-F238E27FC236}">
                <a16:creationId xmlns:a16="http://schemas.microsoft.com/office/drawing/2014/main" id="{99A245DD-B593-4960-8CB9-B4E714DCA42B}"/>
              </a:ext>
            </a:extLst>
          </p:cNvPr>
          <p:cNvSpPr/>
          <p:nvPr/>
        </p:nvSpPr>
        <p:spPr>
          <a:xfrm>
            <a:off x="-25124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5" name="Shape 4">
            <a:extLst>
              <a:ext uri="{FF2B5EF4-FFF2-40B4-BE49-F238E27FC236}">
                <a16:creationId xmlns:a16="http://schemas.microsoft.com/office/drawing/2014/main" id="{D285B36B-BA6B-47E7-912C-C69A480B5E7B}"/>
              </a:ext>
            </a:extLst>
          </p:cNvPr>
          <p:cNvSpPr/>
          <p:nvPr/>
        </p:nvSpPr>
        <p:spPr>
          <a:xfrm>
            <a:off x="-16361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6" name="Shape 5">
            <a:extLst>
              <a:ext uri="{FF2B5EF4-FFF2-40B4-BE49-F238E27FC236}">
                <a16:creationId xmlns:a16="http://schemas.microsoft.com/office/drawing/2014/main" id="{B162677F-4236-4123-9675-D9B75B9DA17D}"/>
              </a:ext>
            </a:extLst>
          </p:cNvPr>
          <p:cNvSpPr/>
          <p:nvPr/>
        </p:nvSpPr>
        <p:spPr>
          <a:xfrm>
            <a:off x="-142354" y="5338681"/>
            <a:ext cx="0" cy="177823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7" name="Shape 6">
            <a:extLst>
              <a:ext uri="{FF2B5EF4-FFF2-40B4-BE49-F238E27FC236}">
                <a16:creationId xmlns:a16="http://schemas.microsoft.com/office/drawing/2014/main" id="{D66491B3-BD94-495F-831E-04A11DBB22E1}"/>
              </a:ext>
            </a:extLst>
          </p:cNvPr>
          <p:cNvSpPr/>
          <p:nvPr/>
        </p:nvSpPr>
        <p:spPr>
          <a:xfrm>
            <a:off x="-54724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8" name="Shape 7">
            <a:extLst>
              <a:ext uri="{FF2B5EF4-FFF2-40B4-BE49-F238E27FC236}">
                <a16:creationId xmlns:a16="http://schemas.microsoft.com/office/drawing/2014/main" id="{F2F52D77-5E21-4FCB-A0B3-B7F1B9C1E5EC}"/>
              </a:ext>
            </a:extLst>
          </p:cNvPr>
          <p:cNvSpPr/>
          <p:nvPr/>
        </p:nvSpPr>
        <p:spPr>
          <a:xfrm>
            <a:off x="1557541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12" name="Shape 20">
            <a:extLst>
              <a:ext uri="{FF2B5EF4-FFF2-40B4-BE49-F238E27FC236}">
                <a16:creationId xmlns:a16="http://schemas.microsoft.com/office/drawing/2014/main" id="{907E2114-B18D-4CC1-9BE5-04231D8060F1}"/>
              </a:ext>
            </a:extLst>
          </p:cNvPr>
          <p:cNvSpPr/>
          <p:nvPr/>
        </p:nvSpPr>
        <p:spPr>
          <a:xfrm>
            <a:off x="4727155" y="5630950"/>
            <a:ext cx="652471" cy="5410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C0A4228D-C9B2-4DF6-ADE5-EA509A72BEA2}"/>
              </a:ext>
            </a:extLst>
          </p:cNvPr>
          <p:cNvSpPr/>
          <p:nvPr/>
        </p:nvSpPr>
        <p:spPr>
          <a:xfrm flipV="1">
            <a:off x="0" y="563911"/>
            <a:ext cx="12192000" cy="94715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47E2E811-D5FA-4E64-9B3A-0F9D21BB1D0C}"/>
              </a:ext>
            </a:extLst>
          </p:cNvPr>
          <p:cNvSpPr txBox="1"/>
          <p:nvPr/>
        </p:nvSpPr>
        <p:spPr>
          <a:xfrm>
            <a:off x="-4356" y="0"/>
            <a:ext cx="9261122" cy="58477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3200" b="1" dirty="0">
                <a:solidFill>
                  <a:srgbClr val="0F1115"/>
                </a:solidFill>
                <a:effectLst/>
                <a:latin typeface="quote-cjk-patch"/>
              </a:rPr>
              <a:t>关键组件分析与消融实验</a:t>
            </a:r>
          </a:p>
        </p:txBody>
      </p:sp>
      <p:sp>
        <p:nvSpPr>
          <p:cNvPr id="133" name="Text 0">
            <a:extLst>
              <a:ext uri="{FF2B5EF4-FFF2-40B4-BE49-F238E27FC236}">
                <a16:creationId xmlns:a16="http://schemas.microsoft.com/office/drawing/2014/main" id="{29F306BF-CB06-453E-87CD-ED9CD49AB1E9}"/>
              </a:ext>
            </a:extLst>
          </p:cNvPr>
          <p:cNvSpPr/>
          <p:nvPr/>
        </p:nvSpPr>
        <p:spPr>
          <a:xfrm>
            <a:off x="2459305" y="479264"/>
            <a:ext cx="3049055" cy="6068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4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34" name="Shape 23">
            <a:extLst>
              <a:ext uri="{FF2B5EF4-FFF2-40B4-BE49-F238E27FC236}">
                <a16:creationId xmlns:a16="http://schemas.microsoft.com/office/drawing/2014/main" id="{947C43CF-6D32-48B2-9323-C8D3B84B6689}"/>
              </a:ext>
            </a:extLst>
          </p:cNvPr>
          <p:cNvSpPr/>
          <p:nvPr/>
        </p:nvSpPr>
        <p:spPr>
          <a:xfrm flipH="1">
            <a:off x="3094762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5" name="Text 24">
            <a:extLst>
              <a:ext uri="{FF2B5EF4-FFF2-40B4-BE49-F238E27FC236}">
                <a16:creationId xmlns:a16="http://schemas.microsoft.com/office/drawing/2014/main" id="{FC410578-49C6-4062-B42C-AB4DFE848D9F}"/>
              </a:ext>
            </a:extLst>
          </p:cNvPr>
          <p:cNvSpPr/>
          <p:nvPr/>
        </p:nvSpPr>
        <p:spPr>
          <a:xfrm>
            <a:off x="309476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6" name="Shape 25">
            <a:extLst>
              <a:ext uri="{FF2B5EF4-FFF2-40B4-BE49-F238E27FC236}">
                <a16:creationId xmlns:a16="http://schemas.microsoft.com/office/drawing/2014/main" id="{5B8EA68A-7FDB-48F6-B39F-E07E2A90ED58}"/>
              </a:ext>
            </a:extLst>
          </p:cNvPr>
          <p:cNvSpPr/>
          <p:nvPr/>
        </p:nvSpPr>
        <p:spPr>
          <a:xfrm flipH="1">
            <a:off x="2966492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37" name="Text 26">
            <a:extLst>
              <a:ext uri="{FF2B5EF4-FFF2-40B4-BE49-F238E27FC236}">
                <a16:creationId xmlns:a16="http://schemas.microsoft.com/office/drawing/2014/main" id="{A43D0174-B3BA-4797-A602-5502C8C941C3}"/>
              </a:ext>
            </a:extLst>
          </p:cNvPr>
          <p:cNvSpPr/>
          <p:nvPr/>
        </p:nvSpPr>
        <p:spPr>
          <a:xfrm>
            <a:off x="296649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8" name="Shape 27">
            <a:extLst>
              <a:ext uri="{FF2B5EF4-FFF2-40B4-BE49-F238E27FC236}">
                <a16:creationId xmlns:a16="http://schemas.microsoft.com/office/drawing/2014/main" id="{37AE5155-4F56-41F9-831C-5CA7223FB399}"/>
              </a:ext>
            </a:extLst>
          </p:cNvPr>
          <p:cNvSpPr/>
          <p:nvPr/>
        </p:nvSpPr>
        <p:spPr>
          <a:xfrm flipH="1">
            <a:off x="2835047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9" name="Text 28">
            <a:extLst>
              <a:ext uri="{FF2B5EF4-FFF2-40B4-BE49-F238E27FC236}">
                <a16:creationId xmlns:a16="http://schemas.microsoft.com/office/drawing/2014/main" id="{D329E221-2854-4782-81D9-D01713BC20A0}"/>
              </a:ext>
            </a:extLst>
          </p:cNvPr>
          <p:cNvSpPr/>
          <p:nvPr/>
        </p:nvSpPr>
        <p:spPr>
          <a:xfrm>
            <a:off x="283504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40" name="Shape 29">
            <a:extLst>
              <a:ext uri="{FF2B5EF4-FFF2-40B4-BE49-F238E27FC236}">
                <a16:creationId xmlns:a16="http://schemas.microsoft.com/office/drawing/2014/main" id="{B8E85980-0220-4FE3-ACD5-72469EE7A87B}"/>
              </a:ext>
            </a:extLst>
          </p:cNvPr>
          <p:cNvSpPr/>
          <p:nvPr/>
        </p:nvSpPr>
        <p:spPr>
          <a:xfrm flipH="1">
            <a:off x="2704237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41" name="Text 30">
            <a:extLst>
              <a:ext uri="{FF2B5EF4-FFF2-40B4-BE49-F238E27FC236}">
                <a16:creationId xmlns:a16="http://schemas.microsoft.com/office/drawing/2014/main" id="{189A7C4C-B83F-4371-AC8F-06B4585CCB88}"/>
              </a:ext>
            </a:extLst>
          </p:cNvPr>
          <p:cNvSpPr/>
          <p:nvPr/>
        </p:nvSpPr>
        <p:spPr>
          <a:xfrm>
            <a:off x="270423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ED99441-2C5E-47AE-B6B5-70414D1F7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45" y="974573"/>
            <a:ext cx="6953250" cy="1543050"/>
          </a:xfrm>
          <a:prstGeom prst="rect">
            <a:avLst/>
          </a:prstGeom>
        </p:spPr>
      </p:pic>
      <p:sp>
        <p:nvSpPr>
          <p:cNvPr id="27" name="Text 9">
            <a:extLst>
              <a:ext uri="{FF2B5EF4-FFF2-40B4-BE49-F238E27FC236}">
                <a16:creationId xmlns:a16="http://schemas.microsoft.com/office/drawing/2014/main" id="{7ED1D0F1-B4D3-47B7-8C5F-B7923D0D2153}"/>
              </a:ext>
            </a:extLst>
          </p:cNvPr>
          <p:cNvSpPr/>
          <p:nvPr/>
        </p:nvSpPr>
        <p:spPr>
          <a:xfrm>
            <a:off x="7097808" y="669422"/>
            <a:ext cx="5094192" cy="213277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导航图质量至关重要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从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AutoVLN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的图生成增强数据并不能使智能体在未见环境中的性能受益。可能主要是由于穿过障碍物的边的比例很高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导致下游导航图中不存在的嘈杂和误导性轨迹。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AAA801-648A-4A64-A5A1-C8FE0E696B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70" y="3415004"/>
            <a:ext cx="7010400" cy="2171700"/>
          </a:xfrm>
          <a:prstGeom prst="rect">
            <a:avLst/>
          </a:prstGeom>
        </p:spPr>
      </p:pic>
      <p:sp>
        <p:nvSpPr>
          <p:cNvPr id="30" name="Text 9">
            <a:extLst>
              <a:ext uri="{FF2B5EF4-FFF2-40B4-BE49-F238E27FC236}">
                <a16:creationId xmlns:a16="http://schemas.microsoft.com/office/drawing/2014/main" id="{B5B47D72-BB98-466E-A20E-FCED672960AD}"/>
              </a:ext>
            </a:extLst>
          </p:cNvPr>
          <p:cNvSpPr/>
          <p:nvPr/>
        </p:nvSpPr>
        <p:spPr>
          <a:xfrm>
            <a:off x="7221063" y="4489180"/>
            <a:ext cx="3816000" cy="4589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数据规模与多样性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&gt;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单纯数据量</a:t>
            </a:r>
          </a:p>
        </p:txBody>
      </p:sp>
    </p:spTree>
    <p:extLst>
      <p:ext uri="{BB962C8B-B14F-4D97-AF65-F5344CB8AC3E}">
        <p14:creationId xmlns:p14="http://schemas.microsoft.com/office/powerpoint/2010/main" val="2061676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">
            <a:extLst>
              <a:ext uri="{FF2B5EF4-FFF2-40B4-BE49-F238E27FC236}">
                <a16:creationId xmlns:a16="http://schemas.microsoft.com/office/drawing/2014/main" id="{CCB4A4D2-2BB4-4DA9-B43E-27137BDB5339}"/>
              </a:ext>
            </a:extLst>
          </p:cNvPr>
          <p:cNvSpPr/>
          <p:nvPr/>
        </p:nvSpPr>
        <p:spPr>
          <a:xfrm>
            <a:off x="-67778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629F0BF3-9C1D-455A-989D-5662A6554E75}"/>
              </a:ext>
            </a:extLst>
          </p:cNvPr>
          <p:cNvSpPr/>
          <p:nvPr/>
        </p:nvSpPr>
        <p:spPr>
          <a:xfrm>
            <a:off x="-59015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4BAB1488-3927-454B-91C5-92DB9E2C140C}"/>
              </a:ext>
            </a:extLst>
          </p:cNvPr>
          <p:cNvSpPr/>
          <p:nvPr/>
        </p:nvSpPr>
        <p:spPr>
          <a:xfrm>
            <a:off x="-501890" y="6802934"/>
            <a:ext cx="0" cy="20256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C48C4EE8-1A5E-4C21-8CC8-98EC0C7FCE10}"/>
              </a:ext>
            </a:extLst>
          </p:cNvPr>
          <p:cNvSpPr/>
          <p:nvPr/>
        </p:nvSpPr>
        <p:spPr>
          <a:xfrm>
            <a:off x="-414260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24CFC9BC-4D96-4575-A5D7-EB3F61E4DD11}"/>
              </a:ext>
            </a:extLst>
          </p:cNvPr>
          <p:cNvSpPr/>
          <p:nvPr/>
        </p:nvSpPr>
        <p:spPr>
          <a:xfrm>
            <a:off x="-32599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4" name="Shape 3">
            <a:extLst>
              <a:ext uri="{FF2B5EF4-FFF2-40B4-BE49-F238E27FC236}">
                <a16:creationId xmlns:a16="http://schemas.microsoft.com/office/drawing/2014/main" id="{99A245DD-B593-4960-8CB9-B4E714DCA42B}"/>
              </a:ext>
            </a:extLst>
          </p:cNvPr>
          <p:cNvSpPr/>
          <p:nvPr/>
        </p:nvSpPr>
        <p:spPr>
          <a:xfrm>
            <a:off x="-25124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5" name="Shape 4">
            <a:extLst>
              <a:ext uri="{FF2B5EF4-FFF2-40B4-BE49-F238E27FC236}">
                <a16:creationId xmlns:a16="http://schemas.microsoft.com/office/drawing/2014/main" id="{D285B36B-BA6B-47E7-912C-C69A480B5E7B}"/>
              </a:ext>
            </a:extLst>
          </p:cNvPr>
          <p:cNvSpPr/>
          <p:nvPr/>
        </p:nvSpPr>
        <p:spPr>
          <a:xfrm>
            <a:off x="-16361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6" name="Shape 5">
            <a:extLst>
              <a:ext uri="{FF2B5EF4-FFF2-40B4-BE49-F238E27FC236}">
                <a16:creationId xmlns:a16="http://schemas.microsoft.com/office/drawing/2014/main" id="{B162677F-4236-4123-9675-D9B75B9DA17D}"/>
              </a:ext>
            </a:extLst>
          </p:cNvPr>
          <p:cNvSpPr/>
          <p:nvPr/>
        </p:nvSpPr>
        <p:spPr>
          <a:xfrm>
            <a:off x="-142354" y="5338681"/>
            <a:ext cx="0" cy="177823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7" name="Shape 6">
            <a:extLst>
              <a:ext uri="{FF2B5EF4-FFF2-40B4-BE49-F238E27FC236}">
                <a16:creationId xmlns:a16="http://schemas.microsoft.com/office/drawing/2014/main" id="{D66491B3-BD94-495F-831E-04A11DBB22E1}"/>
              </a:ext>
            </a:extLst>
          </p:cNvPr>
          <p:cNvSpPr/>
          <p:nvPr/>
        </p:nvSpPr>
        <p:spPr>
          <a:xfrm>
            <a:off x="-54724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8" name="Shape 7">
            <a:extLst>
              <a:ext uri="{FF2B5EF4-FFF2-40B4-BE49-F238E27FC236}">
                <a16:creationId xmlns:a16="http://schemas.microsoft.com/office/drawing/2014/main" id="{F2F52D77-5E21-4FCB-A0B3-B7F1B9C1E5EC}"/>
              </a:ext>
            </a:extLst>
          </p:cNvPr>
          <p:cNvSpPr/>
          <p:nvPr/>
        </p:nvSpPr>
        <p:spPr>
          <a:xfrm>
            <a:off x="1557541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12" name="Shape 20">
            <a:extLst>
              <a:ext uri="{FF2B5EF4-FFF2-40B4-BE49-F238E27FC236}">
                <a16:creationId xmlns:a16="http://schemas.microsoft.com/office/drawing/2014/main" id="{907E2114-B18D-4CC1-9BE5-04231D8060F1}"/>
              </a:ext>
            </a:extLst>
          </p:cNvPr>
          <p:cNvSpPr/>
          <p:nvPr/>
        </p:nvSpPr>
        <p:spPr>
          <a:xfrm>
            <a:off x="4727155" y="5630950"/>
            <a:ext cx="652471" cy="5410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C0A4228D-C9B2-4DF6-ADE5-EA509A72BEA2}"/>
              </a:ext>
            </a:extLst>
          </p:cNvPr>
          <p:cNvSpPr/>
          <p:nvPr/>
        </p:nvSpPr>
        <p:spPr>
          <a:xfrm flipV="1">
            <a:off x="0" y="563911"/>
            <a:ext cx="12192000" cy="94715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47E2E811-D5FA-4E64-9B3A-0F9D21BB1D0C}"/>
              </a:ext>
            </a:extLst>
          </p:cNvPr>
          <p:cNvSpPr txBox="1"/>
          <p:nvPr/>
        </p:nvSpPr>
        <p:spPr>
          <a:xfrm>
            <a:off x="-4356" y="0"/>
            <a:ext cx="9261122" cy="58477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3200" b="1" dirty="0">
                <a:solidFill>
                  <a:srgbClr val="0F1115"/>
                </a:solidFill>
                <a:effectLst/>
                <a:latin typeface="quote-cjk-patch"/>
              </a:rPr>
              <a:t>关键组件分析与消融实验</a:t>
            </a:r>
          </a:p>
        </p:txBody>
      </p:sp>
      <p:sp>
        <p:nvSpPr>
          <p:cNvPr id="134" name="Shape 23">
            <a:extLst>
              <a:ext uri="{FF2B5EF4-FFF2-40B4-BE49-F238E27FC236}">
                <a16:creationId xmlns:a16="http://schemas.microsoft.com/office/drawing/2014/main" id="{947C43CF-6D32-48B2-9323-C8D3B84B6689}"/>
              </a:ext>
            </a:extLst>
          </p:cNvPr>
          <p:cNvSpPr/>
          <p:nvPr/>
        </p:nvSpPr>
        <p:spPr>
          <a:xfrm flipH="1">
            <a:off x="3094762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5" name="Text 24">
            <a:extLst>
              <a:ext uri="{FF2B5EF4-FFF2-40B4-BE49-F238E27FC236}">
                <a16:creationId xmlns:a16="http://schemas.microsoft.com/office/drawing/2014/main" id="{FC410578-49C6-4062-B42C-AB4DFE848D9F}"/>
              </a:ext>
            </a:extLst>
          </p:cNvPr>
          <p:cNvSpPr/>
          <p:nvPr/>
        </p:nvSpPr>
        <p:spPr>
          <a:xfrm>
            <a:off x="309476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6" name="Shape 25">
            <a:extLst>
              <a:ext uri="{FF2B5EF4-FFF2-40B4-BE49-F238E27FC236}">
                <a16:creationId xmlns:a16="http://schemas.microsoft.com/office/drawing/2014/main" id="{5B8EA68A-7FDB-48F6-B39F-E07E2A90ED58}"/>
              </a:ext>
            </a:extLst>
          </p:cNvPr>
          <p:cNvSpPr/>
          <p:nvPr/>
        </p:nvSpPr>
        <p:spPr>
          <a:xfrm flipH="1">
            <a:off x="2966492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37" name="Text 26">
            <a:extLst>
              <a:ext uri="{FF2B5EF4-FFF2-40B4-BE49-F238E27FC236}">
                <a16:creationId xmlns:a16="http://schemas.microsoft.com/office/drawing/2014/main" id="{A43D0174-B3BA-4797-A602-5502C8C941C3}"/>
              </a:ext>
            </a:extLst>
          </p:cNvPr>
          <p:cNvSpPr/>
          <p:nvPr/>
        </p:nvSpPr>
        <p:spPr>
          <a:xfrm>
            <a:off x="296649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8" name="Shape 27">
            <a:extLst>
              <a:ext uri="{FF2B5EF4-FFF2-40B4-BE49-F238E27FC236}">
                <a16:creationId xmlns:a16="http://schemas.microsoft.com/office/drawing/2014/main" id="{37AE5155-4F56-41F9-831C-5CA7223FB399}"/>
              </a:ext>
            </a:extLst>
          </p:cNvPr>
          <p:cNvSpPr/>
          <p:nvPr/>
        </p:nvSpPr>
        <p:spPr>
          <a:xfrm flipH="1">
            <a:off x="2835047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9" name="Text 28">
            <a:extLst>
              <a:ext uri="{FF2B5EF4-FFF2-40B4-BE49-F238E27FC236}">
                <a16:creationId xmlns:a16="http://schemas.microsoft.com/office/drawing/2014/main" id="{D329E221-2854-4782-81D9-D01713BC20A0}"/>
              </a:ext>
            </a:extLst>
          </p:cNvPr>
          <p:cNvSpPr/>
          <p:nvPr/>
        </p:nvSpPr>
        <p:spPr>
          <a:xfrm>
            <a:off x="283504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40" name="Shape 29">
            <a:extLst>
              <a:ext uri="{FF2B5EF4-FFF2-40B4-BE49-F238E27FC236}">
                <a16:creationId xmlns:a16="http://schemas.microsoft.com/office/drawing/2014/main" id="{B8E85980-0220-4FE3-ACD5-72469EE7A87B}"/>
              </a:ext>
            </a:extLst>
          </p:cNvPr>
          <p:cNvSpPr/>
          <p:nvPr/>
        </p:nvSpPr>
        <p:spPr>
          <a:xfrm flipH="1">
            <a:off x="2704237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41" name="Text 30">
            <a:extLst>
              <a:ext uri="{FF2B5EF4-FFF2-40B4-BE49-F238E27FC236}">
                <a16:creationId xmlns:a16="http://schemas.microsoft.com/office/drawing/2014/main" id="{189A7C4C-B83F-4371-AC8F-06B4585CCB88}"/>
              </a:ext>
            </a:extLst>
          </p:cNvPr>
          <p:cNvSpPr/>
          <p:nvPr/>
        </p:nvSpPr>
        <p:spPr>
          <a:xfrm>
            <a:off x="270423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F7D62087-602B-4CD2-B9A5-62A0FB251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247" y="864826"/>
            <a:ext cx="5600700" cy="1285875"/>
          </a:xfrm>
          <a:prstGeom prst="rect">
            <a:avLst/>
          </a:prstGeom>
        </p:spPr>
      </p:pic>
      <p:sp>
        <p:nvSpPr>
          <p:cNvPr id="45" name="Text 9">
            <a:extLst>
              <a:ext uri="{FF2B5EF4-FFF2-40B4-BE49-F238E27FC236}">
                <a16:creationId xmlns:a16="http://schemas.microsoft.com/office/drawing/2014/main" id="{C2FD5AC6-790B-4FD6-9603-92A97B202188}"/>
              </a:ext>
            </a:extLst>
          </p:cNvPr>
          <p:cNvSpPr/>
          <p:nvPr/>
        </p:nvSpPr>
        <p:spPr>
          <a:xfrm>
            <a:off x="6168000" y="1222537"/>
            <a:ext cx="4536000" cy="4589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指令生成：简单模型已足够，但仍是瓶颈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961528EA-9FCC-4E04-B26C-3E953D1CEF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56" y="3040150"/>
            <a:ext cx="6991350" cy="2590800"/>
          </a:xfrm>
          <a:prstGeom prst="rect">
            <a:avLst/>
          </a:prstGeom>
        </p:spPr>
      </p:pic>
      <p:sp>
        <p:nvSpPr>
          <p:cNvPr id="46" name="Text 9">
            <a:extLst>
              <a:ext uri="{FF2B5EF4-FFF2-40B4-BE49-F238E27FC236}">
                <a16:creationId xmlns:a16="http://schemas.microsoft.com/office/drawing/2014/main" id="{D97F69E1-FCE3-4625-AF9C-C550AAC4CA13}"/>
              </a:ext>
            </a:extLst>
          </p:cNvPr>
          <p:cNvSpPr/>
          <p:nvPr/>
        </p:nvSpPr>
        <p:spPr>
          <a:xfrm>
            <a:off x="7151185" y="3645000"/>
            <a:ext cx="4884804" cy="128990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即使有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61%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更多不同的环境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,HM-E(R)+Gib-E(F)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的结果比单独的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HM-E(R)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更  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这表明拥有高质量视觉数据的重要性。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4BD7B93-E44D-46B7-B187-CFC8E4E42ECD}"/>
              </a:ext>
            </a:extLst>
          </p:cNvPr>
          <p:cNvSpPr/>
          <p:nvPr/>
        </p:nvSpPr>
        <p:spPr>
          <a:xfrm>
            <a:off x="156011" y="3892739"/>
            <a:ext cx="6803988" cy="4574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1985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">
            <a:extLst>
              <a:ext uri="{FF2B5EF4-FFF2-40B4-BE49-F238E27FC236}">
                <a16:creationId xmlns:a16="http://schemas.microsoft.com/office/drawing/2014/main" id="{CCB4A4D2-2BB4-4DA9-B43E-27137BDB5339}"/>
              </a:ext>
            </a:extLst>
          </p:cNvPr>
          <p:cNvSpPr/>
          <p:nvPr/>
        </p:nvSpPr>
        <p:spPr>
          <a:xfrm>
            <a:off x="-67778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629F0BF3-9C1D-455A-989D-5662A6554E75}"/>
              </a:ext>
            </a:extLst>
          </p:cNvPr>
          <p:cNvSpPr/>
          <p:nvPr/>
        </p:nvSpPr>
        <p:spPr>
          <a:xfrm>
            <a:off x="-59015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4BAB1488-3927-454B-91C5-92DB9E2C140C}"/>
              </a:ext>
            </a:extLst>
          </p:cNvPr>
          <p:cNvSpPr/>
          <p:nvPr/>
        </p:nvSpPr>
        <p:spPr>
          <a:xfrm>
            <a:off x="-501890" y="6802934"/>
            <a:ext cx="0" cy="20256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C48C4EE8-1A5E-4C21-8CC8-98EC0C7FCE10}"/>
              </a:ext>
            </a:extLst>
          </p:cNvPr>
          <p:cNvSpPr/>
          <p:nvPr/>
        </p:nvSpPr>
        <p:spPr>
          <a:xfrm>
            <a:off x="-414260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24CFC9BC-4D96-4575-A5D7-EB3F61E4DD11}"/>
              </a:ext>
            </a:extLst>
          </p:cNvPr>
          <p:cNvSpPr/>
          <p:nvPr/>
        </p:nvSpPr>
        <p:spPr>
          <a:xfrm>
            <a:off x="-32599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4" name="Shape 3">
            <a:extLst>
              <a:ext uri="{FF2B5EF4-FFF2-40B4-BE49-F238E27FC236}">
                <a16:creationId xmlns:a16="http://schemas.microsoft.com/office/drawing/2014/main" id="{99A245DD-B593-4960-8CB9-B4E714DCA42B}"/>
              </a:ext>
            </a:extLst>
          </p:cNvPr>
          <p:cNvSpPr/>
          <p:nvPr/>
        </p:nvSpPr>
        <p:spPr>
          <a:xfrm>
            <a:off x="-25124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5" name="Shape 4">
            <a:extLst>
              <a:ext uri="{FF2B5EF4-FFF2-40B4-BE49-F238E27FC236}">
                <a16:creationId xmlns:a16="http://schemas.microsoft.com/office/drawing/2014/main" id="{D285B36B-BA6B-47E7-912C-C69A480B5E7B}"/>
              </a:ext>
            </a:extLst>
          </p:cNvPr>
          <p:cNvSpPr/>
          <p:nvPr/>
        </p:nvSpPr>
        <p:spPr>
          <a:xfrm>
            <a:off x="-16361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6" name="Shape 5">
            <a:extLst>
              <a:ext uri="{FF2B5EF4-FFF2-40B4-BE49-F238E27FC236}">
                <a16:creationId xmlns:a16="http://schemas.microsoft.com/office/drawing/2014/main" id="{B162677F-4236-4123-9675-D9B75B9DA17D}"/>
              </a:ext>
            </a:extLst>
          </p:cNvPr>
          <p:cNvSpPr/>
          <p:nvPr/>
        </p:nvSpPr>
        <p:spPr>
          <a:xfrm>
            <a:off x="-142354" y="5338681"/>
            <a:ext cx="0" cy="177823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7" name="Shape 6">
            <a:extLst>
              <a:ext uri="{FF2B5EF4-FFF2-40B4-BE49-F238E27FC236}">
                <a16:creationId xmlns:a16="http://schemas.microsoft.com/office/drawing/2014/main" id="{D66491B3-BD94-495F-831E-04A11DBB22E1}"/>
              </a:ext>
            </a:extLst>
          </p:cNvPr>
          <p:cNvSpPr/>
          <p:nvPr/>
        </p:nvSpPr>
        <p:spPr>
          <a:xfrm>
            <a:off x="-54724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8" name="Shape 7">
            <a:extLst>
              <a:ext uri="{FF2B5EF4-FFF2-40B4-BE49-F238E27FC236}">
                <a16:creationId xmlns:a16="http://schemas.microsoft.com/office/drawing/2014/main" id="{F2F52D77-5E21-4FCB-A0B3-B7F1B9C1E5EC}"/>
              </a:ext>
            </a:extLst>
          </p:cNvPr>
          <p:cNvSpPr/>
          <p:nvPr/>
        </p:nvSpPr>
        <p:spPr>
          <a:xfrm>
            <a:off x="1557541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12" name="Shape 20">
            <a:extLst>
              <a:ext uri="{FF2B5EF4-FFF2-40B4-BE49-F238E27FC236}">
                <a16:creationId xmlns:a16="http://schemas.microsoft.com/office/drawing/2014/main" id="{907E2114-B18D-4CC1-9BE5-04231D8060F1}"/>
              </a:ext>
            </a:extLst>
          </p:cNvPr>
          <p:cNvSpPr/>
          <p:nvPr/>
        </p:nvSpPr>
        <p:spPr>
          <a:xfrm>
            <a:off x="4727155" y="5630950"/>
            <a:ext cx="652471" cy="5410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C0A4228D-C9B2-4DF6-ADE5-EA509A72BEA2}"/>
              </a:ext>
            </a:extLst>
          </p:cNvPr>
          <p:cNvSpPr/>
          <p:nvPr/>
        </p:nvSpPr>
        <p:spPr>
          <a:xfrm flipV="1">
            <a:off x="0" y="563911"/>
            <a:ext cx="12192000" cy="94715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47E2E811-D5FA-4E64-9B3A-0F9D21BB1D0C}"/>
              </a:ext>
            </a:extLst>
          </p:cNvPr>
          <p:cNvSpPr txBox="1"/>
          <p:nvPr/>
        </p:nvSpPr>
        <p:spPr>
          <a:xfrm>
            <a:off x="-4356" y="0"/>
            <a:ext cx="9261122" cy="58477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3200" b="1" dirty="0">
                <a:solidFill>
                  <a:srgbClr val="0F1115"/>
                </a:solidFill>
                <a:effectLst/>
                <a:latin typeface="quote-cjk-patch"/>
              </a:rPr>
              <a:t>主实验结果：刷新多项</a:t>
            </a:r>
            <a:r>
              <a:rPr lang="en-US" altLang="zh-CN" sz="3200" b="1" dirty="0">
                <a:solidFill>
                  <a:srgbClr val="0F1115"/>
                </a:solidFill>
                <a:effectLst/>
                <a:latin typeface="quote-cjk-patch"/>
              </a:rPr>
              <a:t>SOTA</a:t>
            </a:r>
          </a:p>
        </p:txBody>
      </p:sp>
      <p:sp>
        <p:nvSpPr>
          <p:cNvPr id="134" name="Shape 23">
            <a:extLst>
              <a:ext uri="{FF2B5EF4-FFF2-40B4-BE49-F238E27FC236}">
                <a16:creationId xmlns:a16="http://schemas.microsoft.com/office/drawing/2014/main" id="{947C43CF-6D32-48B2-9323-C8D3B84B6689}"/>
              </a:ext>
            </a:extLst>
          </p:cNvPr>
          <p:cNvSpPr/>
          <p:nvPr/>
        </p:nvSpPr>
        <p:spPr>
          <a:xfrm flipH="1">
            <a:off x="3094762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5" name="Text 24">
            <a:extLst>
              <a:ext uri="{FF2B5EF4-FFF2-40B4-BE49-F238E27FC236}">
                <a16:creationId xmlns:a16="http://schemas.microsoft.com/office/drawing/2014/main" id="{FC410578-49C6-4062-B42C-AB4DFE848D9F}"/>
              </a:ext>
            </a:extLst>
          </p:cNvPr>
          <p:cNvSpPr/>
          <p:nvPr/>
        </p:nvSpPr>
        <p:spPr>
          <a:xfrm>
            <a:off x="309476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6" name="Shape 25">
            <a:extLst>
              <a:ext uri="{FF2B5EF4-FFF2-40B4-BE49-F238E27FC236}">
                <a16:creationId xmlns:a16="http://schemas.microsoft.com/office/drawing/2014/main" id="{5B8EA68A-7FDB-48F6-B39F-E07E2A90ED58}"/>
              </a:ext>
            </a:extLst>
          </p:cNvPr>
          <p:cNvSpPr/>
          <p:nvPr/>
        </p:nvSpPr>
        <p:spPr>
          <a:xfrm flipH="1">
            <a:off x="2966492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37" name="Text 26">
            <a:extLst>
              <a:ext uri="{FF2B5EF4-FFF2-40B4-BE49-F238E27FC236}">
                <a16:creationId xmlns:a16="http://schemas.microsoft.com/office/drawing/2014/main" id="{A43D0174-B3BA-4797-A602-5502C8C941C3}"/>
              </a:ext>
            </a:extLst>
          </p:cNvPr>
          <p:cNvSpPr/>
          <p:nvPr/>
        </p:nvSpPr>
        <p:spPr>
          <a:xfrm>
            <a:off x="296649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8" name="Shape 27">
            <a:extLst>
              <a:ext uri="{FF2B5EF4-FFF2-40B4-BE49-F238E27FC236}">
                <a16:creationId xmlns:a16="http://schemas.microsoft.com/office/drawing/2014/main" id="{37AE5155-4F56-41F9-831C-5CA7223FB399}"/>
              </a:ext>
            </a:extLst>
          </p:cNvPr>
          <p:cNvSpPr/>
          <p:nvPr/>
        </p:nvSpPr>
        <p:spPr>
          <a:xfrm flipH="1">
            <a:off x="2835047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9" name="Text 28">
            <a:extLst>
              <a:ext uri="{FF2B5EF4-FFF2-40B4-BE49-F238E27FC236}">
                <a16:creationId xmlns:a16="http://schemas.microsoft.com/office/drawing/2014/main" id="{D329E221-2854-4782-81D9-D01713BC20A0}"/>
              </a:ext>
            </a:extLst>
          </p:cNvPr>
          <p:cNvSpPr/>
          <p:nvPr/>
        </p:nvSpPr>
        <p:spPr>
          <a:xfrm>
            <a:off x="283504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40" name="Shape 29">
            <a:extLst>
              <a:ext uri="{FF2B5EF4-FFF2-40B4-BE49-F238E27FC236}">
                <a16:creationId xmlns:a16="http://schemas.microsoft.com/office/drawing/2014/main" id="{B8E85980-0220-4FE3-ACD5-72469EE7A87B}"/>
              </a:ext>
            </a:extLst>
          </p:cNvPr>
          <p:cNvSpPr/>
          <p:nvPr/>
        </p:nvSpPr>
        <p:spPr>
          <a:xfrm flipH="1">
            <a:off x="2704237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41" name="Text 30">
            <a:extLst>
              <a:ext uri="{FF2B5EF4-FFF2-40B4-BE49-F238E27FC236}">
                <a16:creationId xmlns:a16="http://schemas.microsoft.com/office/drawing/2014/main" id="{189A7C4C-B83F-4371-AC8F-06B4585CCB88}"/>
              </a:ext>
            </a:extLst>
          </p:cNvPr>
          <p:cNvSpPr/>
          <p:nvPr/>
        </p:nvSpPr>
        <p:spPr>
          <a:xfrm>
            <a:off x="270423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8738644-A344-495C-BC2C-B3FFE384C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06" y="686030"/>
            <a:ext cx="12192000" cy="5702838"/>
          </a:xfrm>
          <a:prstGeom prst="rect">
            <a:avLst/>
          </a:prstGeom>
        </p:spPr>
      </p:pic>
      <p:sp>
        <p:nvSpPr>
          <p:cNvPr id="30" name="Text 9">
            <a:extLst>
              <a:ext uri="{FF2B5EF4-FFF2-40B4-BE49-F238E27FC236}">
                <a16:creationId xmlns:a16="http://schemas.microsoft.com/office/drawing/2014/main" id="{9A729D8C-4778-45F9-8EEF-5C30A6D6C47E}"/>
              </a:ext>
            </a:extLst>
          </p:cNvPr>
          <p:cNvSpPr/>
          <p:nvPr/>
        </p:nvSpPr>
        <p:spPr>
          <a:xfrm>
            <a:off x="191154" y="6388868"/>
            <a:ext cx="8280837" cy="4589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里程碑：首次将单一模型在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R2R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上的成功率推至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80%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，逼近人类水平（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86%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）。</a:t>
            </a:r>
          </a:p>
        </p:txBody>
      </p:sp>
    </p:spTree>
    <p:extLst>
      <p:ext uri="{BB962C8B-B14F-4D97-AF65-F5344CB8AC3E}">
        <p14:creationId xmlns:p14="http://schemas.microsoft.com/office/powerpoint/2010/main" val="1672547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">
            <a:extLst>
              <a:ext uri="{FF2B5EF4-FFF2-40B4-BE49-F238E27FC236}">
                <a16:creationId xmlns:a16="http://schemas.microsoft.com/office/drawing/2014/main" id="{CCB4A4D2-2BB4-4DA9-B43E-27137BDB5339}"/>
              </a:ext>
            </a:extLst>
          </p:cNvPr>
          <p:cNvSpPr/>
          <p:nvPr/>
        </p:nvSpPr>
        <p:spPr>
          <a:xfrm>
            <a:off x="-67778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629F0BF3-9C1D-455A-989D-5662A6554E75}"/>
              </a:ext>
            </a:extLst>
          </p:cNvPr>
          <p:cNvSpPr/>
          <p:nvPr/>
        </p:nvSpPr>
        <p:spPr>
          <a:xfrm>
            <a:off x="-59015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4BAB1488-3927-454B-91C5-92DB9E2C140C}"/>
              </a:ext>
            </a:extLst>
          </p:cNvPr>
          <p:cNvSpPr/>
          <p:nvPr/>
        </p:nvSpPr>
        <p:spPr>
          <a:xfrm>
            <a:off x="-501890" y="6802934"/>
            <a:ext cx="0" cy="20256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C48C4EE8-1A5E-4C21-8CC8-98EC0C7FCE10}"/>
              </a:ext>
            </a:extLst>
          </p:cNvPr>
          <p:cNvSpPr/>
          <p:nvPr/>
        </p:nvSpPr>
        <p:spPr>
          <a:xfrm>
            <a:off x="-414260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24CFC9BC-4D96-4575-A5D7-EB3F61E4DD11}"/>
              </a:ext>
            </a:extLst>
          </p:cNvPr>
          <p:cNvSpPr/>
          <p:nvPr/>
        </p:nvSpPr>
        <p:spPr>
          <a:xfrm>
            <a:off x="-32599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4" name="Shape 3">
            <a:extLst>
              <a:ext uri="{FF2B5EF4-FFF2-40B4-BE49-F238E27FC236}">
                <a16:creationId xmlns:a16="http://schemas.microsoft.com/office/drawing/2014/main" id="{99A245DD-B593-4960-8CB9-B4E714DCA42B}"/>
              </a:ext>
            </a:extLst>
          </p:cNvPr>
          <p:cNvSpPr/>
          <p:nvPr/>
        </p:nvSpPr>
        <p:spPr>
          <a:xfrm>
            <a:off x="-25124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5" name="Shape 4">
            <a:extLst>
              <a:ext uri="{FF2B5EF4-FFF2-40B4-BE49-F238E27FC236}">
                <a16:creationId xmlns:a16="http://schemas.microsoft.com/office/drawing/2014/main" id="{D285B36B-BA6B-47E7-912C-C69A480B5E7B}"/>
              </a:ext>
            </a:extLst>
          </p:cNvPr>
          <p:cNvSpPr/>
          <p:nvPr/>
        </p:nvSpPr>
        <p:spPr>
          <a:xfrm>
            <a:off x="-16361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6" name="Shape 5">
            <a:extLst>
              <a:ext uri="{FF2B5EF4-FFF2-40B4-BE49-F238E27FC236}">
                <a16:creationId xmlns:a16="http://schemas.microsoft.com/office/drawing/2014/main" id="{B162677F-4236-4123-9675-D9B75B9DA17D}"/>
              </a:ext>
            </a:extLst>
          </p:cNvPr>
          <p:cNvSpPr/>
          <p:nvPr/>
        </p:nvSpPr>
        <p:spPr>
          <a:xfrm>
            <a:off x="-142354" y="5338681"/>
            <a:ext cx="0" cy="177823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7" name="Shape 6">
            <a:extLst>
              <a:ext uri="{FF2B5EF4-FFF2-40B4-BE49-F238E27FC236}">
                <a16:creationId xmlns:a16="http://schemas.microsoft.com/office/drawing/2014/main" id="{D66491B3-BD94-495F-831E-04A11DBB22E1}"/>
              </a:ext>
            </a:extLst>
          </p:cNvPr>
          <p:cNvSpPr/>
          <p:nvPr/>
        </p:nvSpPr>
        <p:spPr>
          <a:xfrm>
            <a:off x="-54724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8" name="Shape 7">
            <a:extLst>
              <a:ext uri="{FF2B5EF4-FFF2-40B4-BE49-F238E27FC236}">
                <a16:creationId xmlns:a16="http://schemas.microsoft.com/office/drawing/2014/main" id="{F2F52D77-5E21-4FCB-A0B3-B7F1B9C1E5EC}"/>
              </a:ext>
            </a:extLst>
          </p:cNvPr>
          <p:cNvSpPr/>
          <p:nvPr/>
        </p:nvSpPr>
        <p:spPr>
          <a:xfrm>
            <a:off x="1557541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12" name="Shape 20">
            <a:extLst>
              <a:ext uri="{FF2B5EF4-FFF2-40B4-BE49-F238E27FC236}">
                <a16:creationId xmlns:a16="http://schemas.microsoft.com/office/drawing/2014/main" id="{907E2114-B18D-4CC1-9BE5-04231D8060F1}"/>
              </a:ext>
            </a:extLst>
          </p:cNvPr>
          <p:cNvSpPr/>
          <p:nvPr/>
        </p:nvSpPr>
        <p:spPr>
          <a:xfrm>
            <a:off x="4727155" y="5630950"/>
            <a:ext cx="652471" cy="5410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C0A4228D-C9B2-4DF6-ADE5-EA509A72BEA2}"/>
              </a:ext>
            </a:extLst>
          </p:cNvPr>
          <p:cNvSpPr/>
          <p:nvPr/>
        </p:nvSpPr>
        <p:spPr>
          <a:xfrm flipV="1">
            <a:off x="0" y="563911"/>
            <a:ext cx="12192000" cy="94715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47E2E811-D5FA-4E64-9B3A-0F9D21BB1D0C}"/>
              </a:ext>
            </a:extLst>
          </p:cNvPr>
          <p:cNvSpPr txBox="1"/>
          <p:nvPr/>
        </p:nvSpPr>
        <p:spPr>
          <a:xfrm>
            <a:off x="-4356" y="0"/>
            <a:ext cx="9261122" cy="58477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3200" b="1" dirty="0">
                <a:solidFill>
                  <a:srgbClr val="0F1115"/>
                </a:solidFill>
                <a:effectLst/>
                <a:latin typeface="quote-cjk-patch"/>
              </a:rPr>
              <a:t>主实验结果：刷新多项</a:t>
            </a:r>
            <a:r>
              <a:rPr lang="en-US" altLang="zh-CN" sz="3200" b="1" dirty="0">
                <a:solidFill>
                  <a:srgbClr val="0F1115"/>
                </a:solidFill>
                <a:effectLst/>
                <a:latin typeface="quote-cjk-patch"/>
              </a:rPr>
              <a:t>SOTA</a:t>
            </a:r>
          </a:p>
        </p:txBody>
      </p:sp>
      <p:sp>
        <p:nvSpPr>
          <p:cNvPr id="134" name="Shape 23">
            <a:extLst>
              <a:ext uri="{FF2B5EF4-FFF2-40B4-BE49-F238E27FC236}">
                <a16:creationId xmlns:a16="http://schemas.microsoft.com/office/drawing/2014/main" id="{947C43CF-6D32-48B2-9323-C8D3B84B6689}"/>
              </a:ext>
            </a:extLst>
          </p:cNvPr>
          <p:cNvSpPr/>
          <p:nvPr/>
        </p:nvSpPr>
        <p:spPr>
          <a:xfrm flipH="1">
            <a:off x="3094762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5" name="Text 24">
            <a:extLst>
              <a:ext uri="{FF2B5EF4-FFF2-40B4-BE49-F238E27FC236}">
                <a16:creationId xmlns:a16="http://schemas.microsoft.com/office/drawing/2014/main" id="{FC410578-49C6-4062-B42C-AB4DFE848D9F}"/>
              </a:ext>
            </a:extLst>
          </p:cNvPr>
          <p:cNvSpPr/>
          <p:nvPr/>
        </p:nvSpPr>
        <p:spPr>
          <a:xfrm>
            <a:off x="309476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6" name="Shape 25">
            <a:extLst>
              <a:ext uri="{FF2B5EF4-FFF2-40B4-BE49-F238E27FC236}">
                <a16:creationId xmlns:a16="http://schemas.microsoft.com/office/drawing/2014/main" id="{5B8EA68A-7FDB-48F6-B39F-E07E2A90ED58}"/>
              </a:ext>
            </a:extLst>
          </p:cNvPr>
          <p:cNvSpPr/>
          <p:nvPr/>
        </p:nvSpPr>
        <p:spPr>
          <a:xfrm flipH="1">
            <a:off x="2966492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37" name="Text 26">
            <a:extLst>
              <a:ext uri="{FF2B5EF4-FFF2-40B4-BE49-F238E27FC236}">
                <a16:creationId xmlns:a16="http://schemas.microsoft.com/office/drawing/2014/main" id="{A43D0174-B3BA-4797-A602-5502C8C941C3}"/>
              </a:ext>
            </a:extLst>
          </p:cNvPr>
          <p:cNvSpPr/>
          <p:nvPr/>
        </p:nvSpPr>
        <p:spPr>
          <a:xfrm>
            <a:off x="296649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8" name="Shape 27">
            <a:extLst>
              <a:ext uri="{FF2B5EF4-FFF2-40B4-BE49-F238E27FC236}">
                <a16:creationId xmlns:a16="http://schemas.microsoft.com/office/drawing/2014/main" id="{37AE5155-4F56-41F9-831C-5CA7223FB399}"/>
              </a:ext>
            </a:extLst>
          </p:cNvPr>
          <p:cNvSpPr/>
          <p:nvPr/>
        </p:nvSpPr>
        <p:spPr>
          <a:xfrm flipH="1">
            <a:off x="2835047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9" name="Text 28">
            <a:extLst>
              <a:ext uri="{FF2B5EF4-FFF2-40B4-BE49-F238E27FC236}">
                <a16:creationId xmlns:a16="http://schemas.microsoft.com/office/drawing/2014/main" id="{D329E221-2854-4782-81D9-D01713BC20A0}"/>
              </a:ext>
            </a:extLst>
          </p:cNvPr>
          <p:cNvSpPr/>
          <p:nvPr/>
        </p:nvSpPr>
        <p:spPr>
          <a:xfrm>
            <a:off x="283504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40" name="Shape 29">
            <a:extLst>
              <a:ext uri="{FF2B5EF4-FFF2-40B4-BE49-F238E27FC236}">
                <a16:creationId xmlns:a16="http://schemas.microsoft.com/office/drawing/2014/main" id="{B8E85980-0220-4FE3-ACD5-72469EE7A87B}"/>
              </a:ext>
            </a:extLst>
          </p:cNvPr>
          <p:cNvSpPr/>
          <p:nvPr/>
        </p:nvSpPr>
        <p:spPr>
          <a:xfrm flipH="1">
            <a:off x="2704237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41" name="Text 30">
            <a:extLst>
              <a:ext uri="{FF2B5EF4-FFF2-40B4-BE49-F238E27FC236}">
                <a16:creationId xmlns:a16="http://schemas.microsoft.com/office/drawing/2014/main" id="{189A7C4C-B83F-4371-AC8F-06B4585CCB88}"/>
              </a:ext>
            </a:extLst>
          </p:cNvPr>
          <p:cNvSpPr/>
          <p:nvPr/>
        </p:nvSpPr>
        <p:spPr>
          <a:xfrm>
            <a:off x="270423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9A729D8C-4778-45F9-8EEF-5C30A6D6C47E}"/>
              </a:ext>
            </a:extLst>
          </p:cNvPr>
          <p:cNvSpPr/>
          <p:nvPr/>
        </p:nvSpPr>
        <p:spPr>
          <a:xfrm>
            <a:off x="48000" y="802323"/>
            <a:ext cx="8280837" cy="50293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强大的泛化能力：</a:t>
            </a:r>
          </a:p>
          <a:p>
            <a:pPr algn="just"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REVERIE 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面向对象的导航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测试集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SR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56.13% 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超越之前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SOTA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AutoVLN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55.17%)</a:t>
            </a:r>
          </a:p>
          <a:p>
            <a:pPr algn="just">
              <a:lnSpc>
                <a:spcPct val="15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CVDN 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基于对话的导航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测试集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GP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6.97m 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超越之前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SOTA 5.58m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，相对提升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25%)</a:t>
            </a:r>
          </a:p>
          <a:p>
            <a:pPr algn="just">
              <a:lnSpc>
                <a:spcPct val="15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R2R-CE 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连续环境导航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尽管使用离散数据训练，仍能提升连续环境下的导航性能，证明其有效性与泛化性。</a:t>
            </a:r>
          </a:p>
          <a:p>
            <a:pPr algn="just"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174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a19b34fa-850a-4f5b-9bd4-3e0419e52f74"/>
  <p:tag name="COMMONDATA" val="eyJoZGlkIjoiNDJlYjk4ZjQ2NzA1ZGEzMzYyZTZmODkzY2Q4ZDg0ZG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5074.685039370079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dac9fd9-164d-4dc8-9a8d-e31483b9f66e}"/>
</p:tagLst>
</file>

<file path=ppt/theme/theme1.xml><?xml version="1.0" encoding="utf-8"?>
<a:theme xmlns:a="http://schemas.openxmlformats.org/drawingml/2006/main" name="Office Theme 2013 - 2022">
  <a:themeElements>
    <a:clrScheme name="Office Them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8445</TotalTime>
  <Words>494</Words>
  <Application>Microsoft Office PowerPoint</Application>
  <PresentationFormat>宽屏</PresentationFormat>
  <Paragraphs>51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inpin heiti</vt:lpstr>
      <vt:lpstr>quote-cjk-patch</vt:lpstr>
      <vt:lpstr>等线</vt:lpstr>
      <vt:lpstr>微软雅黑</vt:lpstr>
      <vt:lpstr>Arial</vt:lpstr>
      <vt:lpstr>Calibri</vt:lpstr>
      <vt:lpstr>Calibri Light</vt:lpstr>
      <vt:lpstr>Office Theme 2013 - 2022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dkx</dc:creator>
  <cp:lastModifiedBy>2115875948@qq.com</cp:lastModifiedBy>
  <cp:revision>782</cp:revision>
  <dcterms:created xsi:type="dcterms:W3CDTF">2022-11-14T06:38:00Z</dcterms:created>
  <dcterms:modified xsi:type="dcterms:W3CDTF">2025-11-04T10:27:22Z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4E26A404E4B34345815899A7963F5C06</vt:lpwstr>
  </property>
  <property fmtid="{D5CDD505-2E9C-101B-9397-08002B2CF9AE}" pid="3" name="KSOProductBuildVer">
    <vt:lpwstr>2052-12.1.0.15374</vt:lpwstr>
  </property>
</Properties>
</file>