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4"/>
  </p:notesMasterIdLst>
  <p:handoutMasterIdLst>
    <p:handoutMasterId r:id="rId15"/>
  </p:handoutMasterIdLst>
  <p:sldIdLst>
    <p:sldId id="502" r:id="rId2"/>
    <p:sldId id="532" r:id="rId3"/>
    <p:sldId id="531" r:id="rId4"/>
    <p:sldId id="533" r:id="rId5"/>
    <p:sldId id="535" r:id="rId6"/>
    <p:sldId id="534" r:id="rId7"/>
    <p:sldId id="536" r:id="rId8"/>
    <p:sldId id="537" r:id="rId9"/>
    <p:sldId id="538" r:id="rId10"/>
    <p:sldId id="540" r:id="rId11"/>
    <p:sldId id="539" r:id="rId12"/>
    <p:sldId id="541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fkx" initials="w" lastIdx="1" clrIdx="0"/>
  <p:cmAuthor id="2" name="2115875948@qq.com" initials="2" lastIdx="3" clrIdx="1">
    <p:extLst>
      <p:ext uri="{19B8F6BF-5375-455C-9EA6-DF929625EA0E}">
        <p15:presenceInfo xmlns:p15="http://schemas.microsoft.com/office/powerpoint/2012/main" userId="77d56f992319ea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8F"/>
    <a:srgbClr val="5B9BD5"/>
    <a:srgbClr val="FF9966"/>
    <a:srgbClr val="FF9800"/>
    <a:srgbClr val="00AFF0"/>
    <a:srgbClr val="FF0000"/>
    <a:srgbClr val="1212F0"/>
    <a:srgbClr val="FFB014"/>
    <a:srgbClr val="AAAAFF"/>
    <a:srgbClr val="5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153" autoAdjust="0"/>
  </p:normalViewPr>
  <p:slideViewPr>
    <p:cSldViewPr>
      <p:cViewPr varScale="1">
        <p:scale>
          <a:sx n="84" d="100"/>
          <a:sy n="84" d="100"/>
        </p:scale>
        <p:origin x="610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B522-843A-4E8E-A647-AF429A9C9E7B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59DB-8BA6-4AD3-9C6C-00F0DE7EB8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81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034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是窗口，最开始</a:t>
            </a:r>
            <a:r>
              <a:rPr lang="en-US" altLang="zh-CN" dirty="0" err="1"/>
              <a:t>Ot</a:t>
            </a:r>
            <a:r>
              <a:rPr lang="zh-CN" altLang="en-US" dirty="0"/>
              <a:t>是</a:t>
            </a:r>
            <a:r>
              <a:rPr lang="en-US" altLang="zh-CN" dirty="0"/>
              <a:t>k</a:t>
            </a:r>
            <a:r>
              <a:rPr lang="zh-CN" altLang="en-US" dirty="0"/>
              <a:t>张图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78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92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210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726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673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206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347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44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325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379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66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42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76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90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93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22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89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1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4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248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52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 userDrawn="1"/>
        </p:nvSpPr>
        <p:spPr>
          <a:xfrm>
            <a:off x="-65252" y="-921"/>
            <a:ext cx="1961103" cy="69215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2" y="16480"/>
            <a:ext cx="944487" cy="659190"/>
          </a:xfrm>
          <a:prstGeom prst="rect">
            <a:avLst/>
          </a:prstGeom>
        </p:spPr>
      </p:pic>
      <p:sp>
        <p:nvSpPr>
          <p:cNvPr id="4" name="平行四边形 3"/>
          <p:cNvSpPr/>
          <p:nvPr userDrawn="1"/>
        </p:nvSpPr>
        <p:spPr>
          <a:xfrm>
            <a:off x="1387544" y="647450"/>
            <a:ext cx="10848000" cy="3600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717597" y="6583996"/>
            <a:ext cx="66693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1B2D83C-3CD3-4CBF-B268-3EDB8087C524}" type="slidenum">
              <a:rPr lang="zh-CN" altLang="en-US" sz="1200" b="1" smtClean="0">
                <a:solidFill>
                  <a:srgbClr val="354B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354B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12039" y="650502"/>
            <a:ext cx="10082701" cy="3782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现有方法瓶颈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、依赖“特权输入”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全景视图、语义地图、动作序列等。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、视觉信息损失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将图像简化为文本描述，丢失空间细节。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、泛化能力弱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在未知、非结构化环境中表现不佳。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GoViG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仅第一视角的初始视觉序列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目标图像。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自然语言导航指令。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、核心思想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 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像人一样思考”，先想象路径，再描述路径。</a:t>
            </a: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800219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 err="1">
                <a:solidFill>
                  <a:srgbClr val="0F1115"/>
                </a:solidFill>
                <a:effectLst/>
                <a:latin typeface="quote-cjk-patch"/>
              </a:rPr>
              <a:t>GoViG</a:t>
            </a:r>
            <a:endParaRPr lang="zh-CN" altLang="en-US" sz="32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F. Wu, Y. Dong, Z.-Q. Cheng, Y. Dai, G. Chen, H. Wang, Q. Dai, and A. G. Hauptmann, "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GoViG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: Goal-Conditioned Visual Navigation Instruction Generation," </a:t>
            </a:r>
            <a:r>
              <a:rPr lang="en-US" altLang="zh-CN" sz="1200" b="0" i="1" dirty="0" err="1">
                <a:solidFill>
                  <a:srgbClr val="0F1115"/>
                </a:solidFill>
                <a:effectLst/>
                <a:latin typeface="quote-cjk-patch"/>
              </a:rPr>
              <a:t>arXiv</a:t>
            </a:r>
            <a:r>
              <a:rPr lang="en-US" altLang="zh-CN" sz="1200" b="0" i="1" dirty="0">
                <a:solidFill>
                  <a:srgbClr val="0F1115"/>
                </a:solidFill>
                <a:effectLst/>
                <a:latin typeface="quote-cjk-patch"/>
              </a:rPr>
              <a:t> preprint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2025.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AF686F-2247-437D-82C4-AFD1334A53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387"/>
          <a:stretch/>
        </p:blipFill>
        <p:spPr>
          <a:xfrm>
            <a:off x="28390" y="4564589"/>
            <a:ext cx="6383483" cy="190383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A7F85FC-4094-44FA-9A4E-0F2547ADC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616" y="838201"/>
            <a:ext cx="5080293" cy="3195028"/>
          </a:xfrm>
          <a:prstGeom prst="rect">
            <a:avLst/>
          </a:prstGeom>
        </p:spPr>
      </p:pic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7162636" y="4248304"/>
            <a:ext cx="4650252" cy="253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两大关键子任务分解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、导航可视化： 根据当前和目标视图，预测出中间的视觉状态。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、基于视觉线索的指令生成： 根据真实与预测的视觉序列，生成连贯的指令。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041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800219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 err="1">
                <a:solidFill>
                  <a:srgbClr val="0F1115"/>
                </a:solidFill>
                <a:effectLst/>
                <a:latin typeface="quote-cjk-patch"/>
              </a:rPr>
              <a:t>GoViG</a:t>
            </a:r>
            <a:endParaRPr lang="zh-CN" altLang="en-US" sz="32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F. Wu, Y. Dong, Z.-Q. Cheng, Y. Dai, G. Chen, H. Wang, Q. Dai, and A. G. Hauptmann, "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GoViG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: Goal-Conditioned Visual Navigation Instruction Generation," </a:t>
            </a:r>
            <a:r>
              <a:rPr lang="en-US" altLang="zh-CN" sz="1200" b="0" i="1" dirty="0" err="1">
                <a:solidFill>
                  <a:srgbClr val="0F1115"/>
                </a:solidFill>
                <a:effectLst/>
                <a:latin typeface="quote-cjk-patch"/>
              </a:rPr>
              <a:t>arXiv</a:t>
            </a:r>
            <a:r>
              <a:rPr lang="en-US" altLang="zh-CN" sz="1200" b="0" i="1" dirty="0">
                <a:solidFill>
                  <a:srgbClr val="0F1115"/>
                </a:solidFill>
                <a:effectLst/>
                <a:latin typeface="quote-cjk-patch"/>
              </a:rPr>
              <a:t> preprint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2025.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A7F85FC-4094-44FA-9A4E-0F2547ADC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696326"/>
            <a:ext cx="5080293" cy="319502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F340B9A-6A03-4A41-9382-C32BE219D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525" y="721773"/>
            <a:ext cx="4838700" cy="838200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24DCD130-BD30-43F7-B1CB-183E6182E9EE}"/>
              </a:ext>
            </a:extLst>
          </p:cNvPr>
          <p:cNvSpPr/>
          <p:nvPr/>
        </p:nvSpPr>
        <p:spPr>
          <a:xfrm>
            <a:off x="5360162" y="1364130"/>
            <a:ext cx="6566657" cy="5444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其中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Pv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 (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yi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 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token 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在位置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的预测概率，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qv (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yi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 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表示文本词汇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中关于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yi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的平滑分布，对非背景真值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应用平滑因子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微调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GAIR Anole7B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。模型参数对于两种任务共享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指标：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BLEU-4 -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衡量生成指令与参考指令的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n-gram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匹配精度。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CIDEr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基于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TF-IDF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加权的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n-gram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相似度，强调信息量。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METEOR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基于对齐和同义词匹配的召回率导向指标。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ROUGE-L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衡量最长公共子序列匹配，关注流畅性和连贯性。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9F6B7D-EB06-4C72-85DA-D27B0CB47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80" y="4269648"/>
            <a:ext cx="4181475" cy="571500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738714D4-9DF6-49F2-AB49-B58BC8F1C3B1}"/>
              </a:ext>
            </a:extLst>
          </p:cNvPr>
          <p:cNvSpPr/>
          <p:nvPr/>
        </p:nvSpPr>
        <p:spPr>
          <a:xfrm>
            <a:off x="465286" y="4913787"/>
            <a:ext cx="9808639" cy="4589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是两种生成方法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532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3200" b="1" i="0" dirty="0" err="1">
                <a:solidFill>
                  <a:srgbClr val="0F1115"/>
                </a:solidFill>
                <a:effectLst/>
                <a:latin typeface="quote-cjk-patch"/>
              </a:rPr>
              <a:t>GoViG</a:t>
            </a:r>
            <a:endParaRPr lang="en-US" altLang="zh-CN" sz="32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1BD352-076A-4F21-9EFA-F8A77D372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9" y="669422"/>
            <a:ext cx="12192000" cy="35981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4893C7-35C2-4F6A-A85C-0DD902791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6" y="4230131"/>
            <a:ext cx="5475453" cy="25728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28629D-8F6D-4B9D-B514-E47DD5DCB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799" y="4365000"/>
            <a:ext cx="6271971" cy="229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1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C-Instructor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 Kong, X., Chen, J., Wang, W.,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Su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H., Hu, X., Yang, Y., and Liu, S., "Controllable Navigation Instruction Generation with Chain of Thought Prompting ECCV, 2024.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103321" y="658626"/>
            <a:ext cx="4768680" cy="21209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思维链强化（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CoTL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——Landmark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融合文本地标 ：新场景入口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时空视觉地标：动作视图中的独特物体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指令中的名词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AD1A4C-A795-400C-8E9D-7E140ECF7F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63"/>
          <a:stretch/>
        </p:blipFill>
        <p:spPr>
          <a:xfrm>
            <a:off x="198956" y="2450794"/>
            <a:ext cx="4427249" cy="2798387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FE4A97AF-6F96-4271-B806-9C357CDBC4B8}"/>
              </a:ext>
            </a:extLst>
          </p:cNvPr>
          <p:cNvSpPr/>
          <p:nvPr/>
        </p:nvSpPr>
        <p:spPr>
          <a:xfrm>
            <a:off x="4975322" y="734532"/>
            <a:ext cx="7433777" cy="1289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两步推理：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路径 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思维链提示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] →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关键地标 → 地标 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指令提示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] →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最终指令。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8E9CF5-4E32-49EA-A67A-47DD74A3A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000" y="1770780"/>
            <a:ext cx="54292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1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C-Instructor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 Kong, X., Chen, J., Wang, W.,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Su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H., Hu, X., Yang, Y., and Liu, S., "Controllable Navigation Instruction Generation with Chain of Thought Prompting ECCV, 2024.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103321" y="658626"/>
            <a:ext cx="7072680" cy="46138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空间拓扑建模（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STMT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——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让模型理解环境的空间连接关系。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增加一个辅助训练任务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预测“如何从当前视角返回上一视角”。从而增强模型的空间认知能力，防止过拟合，指令更符合空间逻辑。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风格混合训练（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SMT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——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让单个模型学会生成多种风格的指令。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将不同风格（如逐步指令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vs.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高层描述）的数据混合训练，用不同提示词区分风格，实现风格控制（通过切换提示词），提升泛化能力和指令质量。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49B783-0A05-4C46-9D88-1AF2FAB857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0068"/>
          <a:stretch/>
        </p:blipFill>
        <p:spPr>
          <a:xfrm>
            <a:off x="7246543" y="753341"/>
            <a:ext cx="4867275" cy="33956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6E3253E-4C97-4CB0-8CD8-799049EC1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53" y="4256819"/>
            <a:ext cx="10502506" cy="207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7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C-Instructor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 Kong, X., Chen, J., Wang, W.,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Su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H., Hu, X., Yang, Y., and Liu, S., "Controllable Navigation Instruction Generation with Chain of Thought Prompting ECCV, 2024.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C5802F-91C3-4419-9EE8-9CC4AC2A5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0" y="658626"/>
            <a:ext cx="6408000" cy="46183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F128C3F-F39D-4A5E-ADB3-4C840125B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20" y="5362967"/>
            <a:ext cx="5958960" cy="952715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92A95D72-9372-4D2D-A4EF-D7EDEFC9427A}"/>
              </a:ext>
            </a:extLst>
          </p:cNvPr>
          <p:cNvSpPr/>
          <p:nvPr/>
        </p:nvSpPr>
        <p:spPr>
          <a:xfrm>
            <a:off x="6384000" y="4549862"/>
            <a:ext cx="5472000" cy="874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HAMT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DUET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在遵循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REVERIE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验证集未见数据生成的指令时的性能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621D3F75-EEBD-419B-A521-D43F454D243E}"/>
              </a:ext>
            </a:extLst>
          </p:cNvPr>
          <p:cNvSpPr/>
          <p:nvPr/>
        </p:nvSpPr>
        <p:spPr>
          <a:xfrm>
            <a:off x="6312000" y="784186"/>
            <a:ext cx="5306628" cy="1289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具有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层和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70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亿参数的多模态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LLaMA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-Adapter 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作为语言模型。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仅对模型的最后两层进行微调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同时固定其他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85829FE-C5E2-48C9-8B41-66E2543FE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344" y="2125698"/>
            <a:ext cx="4781550" cy="2390775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5BB3843C-E279-4ECE-BC6E-9695882E38D0}"/>
              </a:ext>
            </a:extLst>
          </p:cNvPr>
          <p:cNvSpPr/>
          <p:nvPr/>
        </p:nvSpPr>
        <p:spPr>
          <a:xfrm>
            <a:off x="6429456" y="5614906"/>
            <a:ext cx="5472000" cy="4589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轨迹编码器：将路径的视觉与动作信息编码为特征</a:t>
            </a:r>
          </a:p>
        </p:txBody>
      </p:sp>
    </p:spTree>
    <p:extLst>
      <p:ext uri="{BB962C8B-B14F-4D97-AF65-F5344CB8AC3E}">
        <p14:creationId xmlns:p14="http://schemas.microsoft.com/office/powerpoint/2010/main" val="319498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C-Instructor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 Kong, X., Chen, J., Wang, W.,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Su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, H., Hu, X., Yang, Y., and Liu, S., "Controllable Navigation Instruction Generation with Chain of Thought Prompting ECCV, 2024.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5961DF-7EF8-4642-B4EC-723248A0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0" y="672278"/>
            <a:ext cx="9944100" cy="21621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9C4245-C405-4049-A07E-B002A5994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48105"/>
            <a:ext cx="99822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2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LANA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dirty="0"/>
              <a:t> Wang, X., Wang, W., Shao, J., and Yang, Y., "LANA: A Language-Capable Navigator for Instruction Following and Generation" CVPR, 2023. 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74965" y="2927078"/>
            <a:ext cx="4768680" cy="21209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任务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指令跟随：给定自然语言指令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，规划并执行路径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指令生成：给定已执行路径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，生成描述该路径的自然语言指令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8359E1-C44A-460C-85AA-1ABA5241E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4" y="670701"/>
            <a:ext cx="12192000" cy="2260450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62543C70-BA48-40F1-92E5-D2EA703D4CBB}"/>
              </a:ext>
            </a:extLst>
          </p:cNvPr>
          <p:cNvSpPr/>
          <p:nvPr/>
        </p:nvSpPr>
        <p:spPr>
          <a:xfrm>
            <a:off x="5053391" y="3160671"/>
            <a:ext cx="6946610" cy="19824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（路径编码器）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：编码视觉观测序列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与动作序列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​。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（语言编码器）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：编码指令文本或已生成词序列。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（路径解码器）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：融合语言与路径信息，预测下一导航动作。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（语言解码器）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：融合路径与语言信息，生成下一词语。</a:t>
            </a: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因果掩码：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在语言解码器的自注意力层使用，确保生成时只关注已生成词。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942613-725F-4266-BEDB-BD8B06E93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101" y="5218754"/>
            <a:ext cx="5257800" cy="5143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59B531F-C40B-4AA2-B653-BAF762FF1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376" y="5688324"/>
            <a:ext cx="54292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4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LANA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4356" y="6523999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dirty="0"/>
              <a:t> Wang, X., Wang, W., Shao, J., and Yang, Y., "LANA: A Language-Capable Navigator for Instruction Following and Generation" CVPR, 2023. 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0" y="743273"/>
            <a:ext cx="8472000" cy="874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LANAmt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：预训练与微调均联合学习两个任务 → 单一全能模型。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LANAst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：预训练联合，微调分别针对两个任务 → 两个专家模型。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037846-D0BE-404D-AF9B-90A9B6D4A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89" y="1642893"/>
            <a:ext cx="5112000" cy="25422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979049B-8B11-4E8A-9902-809F87B6B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4" y="4343792"/>
            <a:ext cx="11819239" cy="17709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E3E173-8BCA-4A99-BFD3-63A3F7FE7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725" y="1640428"/>
            <a:ext cx="5328000" cy="26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6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0F1115"/>
                </a:solidFill>
                <a:latin typeface="quote-cjk-patch"/>
                <a:ea typeface="微软雅黑" panose="020B0503020204020204" pitchFamily="34" charset="-122"/>
                <a:cs typeface="MiSans" panose="02010600030101010101" charset="-122"/>
              </a:rPr>
              <a:t>CCC-speaker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0" y="566485"/>
            <a:ext cx="5829465" cy="46138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三元智能体系统：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Speaker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：指令生成（路径 → 指令）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Follower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：指令跟随（指令 → 路径）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Creator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：反事实环境生成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三个训练阶段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在对齐的指令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路径样本上 分别训练跟随者和说话者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使用说话者为随机采样的路径创建合成指令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在伪指令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路径样本上微调跟随者。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训练第三阶段不可避免的有数据指令问题，解决方案：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follower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生成的路径→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speaker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评估→反馈给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follower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speaker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生成的指令→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follower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评估→反馈给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speaker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A5BB79-9E50-4453-8944-D6DD5F298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40"/>
          <a:stretch/>
        </p:blipFill>
        <p:spPr>
          <a:xfrm>
            <a:off x="6776253" y="635310"/>
            <a:ext cx="5396211" cy="454506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334F09B-D487-4366-B3E2-12DA395B7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5" y="5123772"/>
            <a:ext cx="92106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0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0F1115"/>
                </a:solidFill>
                <a:latin typeface="quote-cjk-patch"/>
                <a:ea typeface="微软雅黑" panose="020B0503020204020204" pitchFamily="34" charset="-122"/>
                <a:cs typeface="MiSans" panose="02010600030101010101" charset="-122"/>
              </a:rPr>
              <a:t>CCC-speaker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9583" y="6438407"/>
            <a:ext cx="12192000" cy="461665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dirty="0"/>
              <a:t> </a:t>
            </a:r>
            <a:r>
              <a:rPr lang="en-US" altLang="zh-CN" sz="1200" dirty="0" err="1"/>
              <a:t>Hanqing</a:t>
            </a:r>
            <a:r>
              <a:rPr lang="en-US" altLang="zh-CN" sz="1200" dirty="0"/>
              <a:t> Wang, Wei Liang, Jianbing Shen, Luc Van Gool, and </a:t>
            </a:r>
            <a:r>
              <a:rPr lang="en-US" altLang="zh-CN" sz="1200" dirty="0" err="1"/>
              <a:t>Wenguan</a:t>
            </a:r>
            <a:r>
              <a:rPr lang="en-US" altLang="zh-CN" sz="1200" dirty="0"/>
              <a:t> Wang. Counterfactual cycle-consistent learning for instruction following and generation in </a:t>
            </a:r>
            <a:r>
              <a:rPr lang="en-US" altLang="zh-CN" sz="1200" dirty="0" err="1"/>
              <a:t>visionlanguage</a:t>
            </a:r>
            <a:r>
              <a:rPr lang="en-US" altLang="zh-CN" sz="1200" dirty="0"/>
              <a:t> navigation. In CVPR, 2022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5508360" y="838201"/>
            <a:ext cx="5829465" cy="1289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反事实环境生成：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大幅改变环境但是保留关键地标，不影响原指令执行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增强数据多样性与模型泛化能力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29D700-68EE-4A5D-9099-7190BDEE0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" y="2409780"/>
            <a:ext cx="7339074" cy="306506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ECAB381-92FA-452C-A5AF-C87F69CCE5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265" b="6029"/>
          <a:stretch/>
        </p:blipFill>
        <p:spPr>
          <a:xfrm>
            <a:off x="0" y="746146"/>
            <a:ext cx="5276850" cy="1603188"/>
          </a:xfrm>
          <a:prstGeom prst="rect">
            <a:avLst/>
          </a:prstGeom>
        </p:spPr>
      </p:pic>
      <p:sp>
        <p:nvSpPr>
          <p:cNvPr id="43" name="Text 9">
            <a:extLst>
              <a:ext uri="{FF2B5EF4-FFF2-40B4-BE49-F238E27FC236}">
                <a16:creationId xmlns:a16="http://schemas.microsoft.com/office/drawing/2014/main" id="{613D7D12-0048-4329-AC00-88E30A80F8B7}"/>
              </a:ext>
            </a:extLst>
          </p:cNvPr>
          <p:cNvSpPr/>
          <p:nvPr/>
        </p:nvSpPr>
        <p:spPr>
          <a:xfrm>
            <a:off x="7287884" y="2370554"/>
            <a:ext cx="4905172" cy="3846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CCC: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说话者在真实和反事实环境中与跟随者联合学习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并将随机采样的路径翻译成指令作为额外的训练数据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BT: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仅在真实环境中让说话者与跟随者单独训练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并将随机采样的路径转换为指令作为额外训练数据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APS: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仅在真实环境中让说话者与跟随者单独训练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但将对抗选择的路径转换为指令作为额外训练数据。</a:t>
            </a: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1D435108-02DD-4BBD-BB2C-52B9B188A70D}"/>
              </a:ext>
            </a:extLst>
          </p:cNvPr>
          <p:cNvSpPr/>
          <p:nvPr/>
        </p:nvSpPr>
        <p:spPr>
          <a:xfrm>
            <a:off x="289263" y="5493817"/>
            <a:ext cx="5829465" cy="8744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Follower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[7, 24, 79]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Speaker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[24]</a:t>
            </a:r>
          </a:p>
        </p:txBody>
      </p:sp>
    </p:spTree>
    <p:extLst>
      <p:ext uri="{BB962C8B-B14F-4D97-AF65-F5344CB8AC3E}">
        <p14:creationId xmlns:p14="http://schemas.microsoft.com/office/powerpoint/2010/main" val="1062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3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0F1115"/>
                </a:solidFill>
                <a:latin typeface="quote-cjk-patch"/>
                <a:ea typeface="微软雅黑" panose="020B0503020204020204" pitchFamily="34" charset="-122"/>
                <a:cs typeface="MiSans" panose="02010600030101010101" charset="-122"/>
              </a:rPr>
              <a:t>APS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4CF6FF-F14A-4782-9DA5-B412AE4CEF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9583" y="6438407"/>
            <a:ext cx="12192000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indent="0" fontAlgn="auto"/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[1]</a:t>
            </a:r>
            <a:r>
              <a:rPr lang="en-US" altLang="zh-CN" sz="1200" dirty="0"/>
              <a:t> </a:t>
            </a:r>
            <a:r>
              <a:rPr lang="en-US" altLang="zh-CN" sz="1200" dirty="0" err="1"/>
              <a:t>Tsu-Jui</a:t>
            </a:r>
            <a:r>
              <a:rPr lang="en-US" altLang="zh-CN" sz="1200" dirty="0"/>
              <a:t> Fu, Xin Wang, Matthew Peterson, Scott Grafton, Miguel Eckstein, and William Yang Wang. Counterfactual vision-and-language navigation via adversarial path sampling. In ECCV, 2020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613D7D12-0048-4329-AC00-88E30A80F8B7}"/>
              </a:ext>
            </a:extLst>
          </p:cNvPr>
          <p:cNvSpPr/>
          <p:nvPr/>
        </p:nvSpPr>
        <p:spPr>
          <a:xfrm>
            <a:off x="5387882" y="802323"/>
            <a:ext cx="6633475" cy="3782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导航模型在一条路径上的训练损失高，说明它在这类路径上表现差。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APS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的目标就是找到并生成更多这类“高损失路径”。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APS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是一个可学习的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，它通过对抗训练自我更新：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初始：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APS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随机采样路径。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试错：这些路径交给导航模型训练，计算损失。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学习：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APS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根据损失信号（高损失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好奖励）更新自己的参数。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进化：更新后，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APS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更擅长采样导航模型当前最怕的路径。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循环：导航模型被迫在这些“难题”上训练，能力提升 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APS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必须找到新的、更难的路径来继续制造高损失。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41BB32-DF6F-47E5-BD99-1E913CCF81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335" b="6773"/>
          <a:stretch/>
        </p:blipFill>
        <p:spPr>
          <a:xfrm>
            <a:off x="170643" y="744918"/>
            <a:ext cx="5019675" cy="2085566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FC38E942-B3E9-4A05-9930-97A7330AC49D}"/>
              </a:ext>
            </a:extLst>
          </p:cNvPr>
          <p:cNvSpPr/>
          <p:nvPr/>
        </p:nvSpPr>
        <p:spPr>
          <a:xfrm>
            <a:off x="219081" y="2850451"/>
            <a:ext cx="5829465" cy="4589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冻结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Speaker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参数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FE5712-17C6-4395-9C2B-E60D3B393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49" y="3329326"/>
            <a:ext cx="5208982" cy="306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2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3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9b34fa-850a-4f5b-9bd4-3e0419e52f74"/>
  <p:tag name="COMMONDATA" val="eyJoZGlkIjoiNDJlYjk4ZjQ2NzA1ZGEzMzYyZTZmODkzY2Q4ZDg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8783</TotalTime>
  <Words>1480</Words>
  <Application>Microsoft Office PowerPoint</Application>
  <PresentationFormat>宽屏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inpin heiti</vt:lpstr>
      <vt:lpstr>quote-cjk-patch</vt:lpstr>
      <vt:lpstr>等线</vt:lpstr>
      <vt:lpstr>微软雅黑</vt:lpstr>
      <vt:lpstr>Arial</vt:lpstr>
      <vt:lpstr>Calibri</vt:lpstr>
      <vt:lpstr>Calibri Light</vt:lpstr>
      <vt:lpstr>Office Theme 2013 - 2022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dkx</dc:creator>
  <cp:lastModifiedBy>2115875948@qq.com</cp:lastModifiedBy>
  <cp:revision>829</cp:revision>
  <dcterms:created xsi:type="dcterms:W3CDTF">2022-11-14T06:38:00Z</dcterms:created>
  <dcterms:modified xsi:type="dcterms:W3CDTF">2026-01-23T15:26:54Z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4E26A404E4B34345815899A7963F5C06</vt:lpwstr>
  </property>
  <property fmtid="{D5CDD505-2E9C-101B-9397-08002B2CF9AE}" pid="3" name="KSOProductBuildVer">
    <vt:lpwstr>2052-12.1.0.15374</vt:lpwstr>
  </property>
</Properties>
</file>