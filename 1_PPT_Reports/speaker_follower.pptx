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33" r:id="rId2"/>
    <p:sldId id="268" r:id="rId3"/>
    <p:sldId id="349" r:id="rId4"/>
    <p:sldId id="350" r:id="rId5"/>
    <p:sldId id="351" r:id="rId6"/>
    <p:sldId id="352" r:id="rId7"/>
    <p:sldId id="353" r:id="rId8"/>
    <p:sldId id="354" r:id="rId9"/>
    <p:sldId id="355" r:id="rId10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DA1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/>
            </a:lvl1pPr>
          </a:lstStyle>
          <a:p>
            <a:pPr>
              <a:defRPr/>
            </a:pPr>
            <a:fld id="{7477204D-134C-4E62-9A44-C5F9E31B4C7B}" type="datetime1">
              <a:rPr lang="zh-CN" altLang="en-US"/>
              <a:pPr>
                <a:defRPr/>
              </a:pPr>
              <a:t>2025/9/27</a:t>
            </a:fld>
            <a:endParaRPr lang="zh-CN" altLang="en-US" sz="1200"/>
          </a:p>
        </p:txBody>
      </p:sp>
      <p:sp>
        <p:nvSpPr>
          <p:cNvPr id="31748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</p:sp>
      <p:sp>
        <p:nvSpPr>
          <p:cNvPr id="31749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defTabSz="0" eaLnBrk="0" hangingPunct="0">
              <a:spcBef>
                <a:spcPct val="30000"/>
              </a:spcBef>
            </a:pPr>
            <a:r>
              <a:rPr lang="zh-CN" altLang="en-US" sz="1200"/>
              <a:t>单击此处编辑母版文本样式</a:t>
            </a:r>
          </a:p>
          <a:p>
            <a:pPr defTabSz="0" eaLnBrk="0" hangingPunct="0">
              <a:spcBef>
                <a:spcPct val="30000"/>
              </a:spcBef>
            </a:pPr>
            <a:r>
              <a:rPr lang="zh-CN" altLang="en-US" sz="1200"/>
              <a:t>第二级</a:t>
            </a:r>
          </a:p>
          <a:p>
            <a:pPr defTabSz="0" eaLnBrk="0" hangingPunct="0">
              <a:spcBef>
                <a:spcPct val="30000"/>
              </a:spcBef>
            </a:pPr>
            <a:r>
              <a:rPr lang="zh-CN" altLang="en-US" sz="1200"/>
              <a:t>第三级</a:t>
            </a:r>
          </a:p>
          <a:p>
            <a:pPr defTabSz="0" eaLnBrk="0" hangingPunct="0">
              <a:spcBef>
                <a:spcPct val="30000"/>
              </a:spcBef>
            </a:pPr>
            <a:r>
              <a:rPr lang="zh-CN" altLang="en-US" sz="1200"/>
              <a:t>第四级</a:t>
            </a:r>
          </a:p>
          <a:p>
            <a:pPr defTabSz="0" eaLnBrk="0" hangingPunct="0">
              <a:spcBef>
                <a:spcPct val="30000"/>
              </a:spcBef>
            </a:pPr>
            <a:r>
              <a:rPr lang="zh-CN" altLang="en-US" sz="120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/>
            </a:lvl1pPr>
          </a:lstStyle>
          <a:p>
            <a:pPr>
              <a:defRPr/>
            </a:pPr>
            <a:fld id="{DED62D68-B8E7-4372-85D8-F8BCB0C33717}" type="slidenum">
              <a:rPr lang="zh-CN" altLang="en-US"/>
              <a:pPr>
                <a:defRPr/>
              </a:pPr>
              <a:t>‹#›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21660421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89560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45024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64317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462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36700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22516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7545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93686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Calibri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6761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08192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95528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73056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 Light" pitchFamily="34" charset="0"/>
        </a:defRPr>
      </a:lvl1pPr>
      <a:lvl2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2pPr>
      <a:lvl3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3pPr>
      <a:lvl4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4pPr>
      <a:lvl5pPr marL="914400" indent="-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0" r="499"/>
          <a:stretch>
            <a:fillRect/>
          </a:stretch>
        </p:blipFill>
        <p:spPr bwMode="auto">
          <a:xfrm>
            <a:off x="0" y="0"/>
            <a:ext cx="122174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4"/>
          <p:cNvSpPr>
            <a:spLocks noChangeArrowheads="1"/>
          </p:cNvSpPr>
          <p:nvPr/>
        </p:nvSpPr>
        <p:spPr bwMode="auto">
          <a:xfrm>
            <a:off x="3111465" y="1377057"/>
            <a:ext cx="596907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buFont typeface="Arial" pitchFamily="34" charset="0"/>
              <a:buNone/>
            </a:pPr>
            <a:r>
              <a:rPr lang="en-US" altLang="zh-CN" sz="3200" b="1" dirty="0">
                <a:solidFill>
                  <a:srgbClr val="E39A1D"/>
                </a:solidFill>
                <a:latin typeface="Times New Roman" pitchFamily="18" charset="0"/>
                <a:ea typeface="微软雅黑" pitchFamily="34" charset="-122"/>
                <a:sym typeface="Times New Roman" pitchFamily="18" charset="0"/>
              </a:rPr>
              <a:t>Speaker-Follower Models for   </a:t>
            </a:r>
          </a:p>
          <a:p>
            <a:pPr algn="r">
              <a:buFont typeface="Arial" pitchFamily="34" charset="0"/>
              <a:buNone/>
            </a:pPr>
            <a:r>
              <a:rPr lang="en-US" altLang="zh-CN" sz="3200" b="1" dirty="0">
                <a:solidFill>
                  <a:srgbClr val="E39A1D"/>
                </a:solidFill>
                <a:latin typeface="Times New Roman" pitchFamily="18" charset="0"/>
                <a:ea typeface="微软雅黑" pitchFamily="34" charset="-122"/>
                <a:sym typeface="Times New Roman" pitchFamily="18" charset="0"/>
              </a:rPr>
              <a:t>Vision-and-Language Navigation</a:t>
            </a:r>
            <a:endParaRPr lang="zh-CN" altLang="en-US" sz="3200" b="1" dirty="0">
              <a:solidFill>
                <a:srgbClr val="E39A1D"/>
              </a:solidFill>
              <a:latin typeface="Times New Roman" pitchFamily="18" charset="0"/>
              <a:ea typeface="微软雅黑" pitchFamily="34" charset="-122"/>
              <a:sym typeface="Times New Roman" pitchFamily="18" charset="0"/>
            </a:endParaRPr>
          </a:p>
        </p:txBody>
      </p:sp>
      <p:sp>
        <p:nvSpPr>
          <p:cNvPr id="1031" name="矩形 6"/>
          <p:cNvSpPr>
            <a:spLocks noChangeArrowheads="1"/>
          </p:cNvSpPr>
          <p:nvPr/>
        </p:nvSpPr>
        <p:spPr bwMode="auto">
          <a:xfrm>
            <a:off x="3111465" y="3172358"/>
            <a:ext cx="5278437" cy="1705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tabLst>
                <a:tab pos="144463" algn="l"/>
                <a:tab pos="1079500" algn="l"/>
              </a:tabLst>
            </a:pPr>
            <a:r>
              <a:rPr lang="zh-CN" altLang="en-US" dirty="0">
                <a:solidFill>
                  <a:srgbClr val="E39A1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作者：</a:t>
            </a:r>
            <a:r>
              <a:rPr lang="en-US" altLang="zh-CN" dirty="0">
                <a:solidFill>
                  <a:srgbClr val="E39A1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Daniel Fried, </a:t>
            </a:r>
            <a:r>
              <a:rPr lang="en-US" altLang="zh-CN" dirty="0" err="1">
                <a:solidFill>
                  <a:srgbClr val="E39A1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Ronghang</a:t>
            </a:r>
            <a:r>
              <a:rPr lang="en-US" altLang="zh-CN" dirty="0">
                <a:solidFill>
                  <a:srgbClr val="E39A1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Hu, et al.</a:t>
            </a:r>
          </a:p>
          <a:p>
            <a:pPr>
              <a:lnSpc>
                <a:spcPct val="150000"/>
              </a:lnSpc>
              <a:buFont typeface="Arial" pitchFamily="34" charset="0"/>
              <a:buNone/>
              <a:tabLst>
                <a:tab pos="144463" algn="l"/>
                <a:tab pos="1079500" algn="l"/>
              </a:tabLst>
            </a:pPr>
            <a:r>
              <a:rPr lang="zh-CN" altLang="en-US" dirty="0">
                <a:solidFill>
                  <a:srgbClr val="E39A1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单位：</a:t>
            </a:r>
            <a:r>
              <a:rPr lang="en-US" altLang="zh-CN" dirty="0">
                <a:solidFill>
                  <a:srgbClr val="E39A1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UC Berkeley, CMU, Boston University</a:t>
            </a:r>
          </a:p>
          <a:p>
            <a:pPr>
              <a:lnSpc>
                <a:spcPct val="150000"/>
              </a:lnSpc>
              <a:buFont typeface="Arial" pitchFamily="34" charset="0"/>
              <a:buNone/>
              <a:tabLst>
                <a:tab pos="144463" algn="l"/>
                <a:tab pos="1079500" algn="l"/>
              </a:tabLst>
            </a:pPr>
            <a:r>
              <a:rPr lang="zh-CN" altLang="en-US" dirty="0">
                <a:solidFill>
                  <a:srgbClr val="E39A1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会议：</a:t>
            </a:r>
            <a:r>
              <a:rPr lang="en-US" altLang="zh-CN" dirty="0" err="1">
                <a:solidFill>
                  <a:srgbClr val="E39A1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NeurIPS</a:t>
            </a:r>
            <a:r>
              <a:rPr lang="en-US" altLang="zh-CN" dirty="0">
                <a:solidFill>
                  <a:srgbClr val="E39A1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2018</a:t>
            </a:r>
          </a:p>
          <a:p>
            <a:pPr>
              <a:lnSpc>
                <a:spcPct val="150000"/>
              </a:lnSpc>
              <a:buFont typeface="Arial" pitchFamily="34" charset="0"/>
              <a:buNone/>
              <a:tabLst>
                <a:tab pos="144463" algn="l"/>
                <a:tab pos="1079500" algn="l"/>
              </a:tabLst>
            </a:pPr>
            <a:r>
              <a:rPr lang="zh-CN" altLang="en-US" dirty="0">
                <a:solidFill>
                  <a:srgbClr val="E39A1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郑佳慧</a:t>
            </a:r>
            <a:r>
              <a:rPr lang="en-US" altLang="zh-CN" dirty="0">
                <a:solidFill>
                  <a:srgbClr val="E39A1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/2025.9</a:t>
            </a:r>
            <a:endParaRPr lang="en-US" dirty="0">
              <a:solidFill>
                <a:srgbClr val="E39A1D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9" name="矩形 4">
            <a:extLst>
              <a:ext uri="{FF2B5EF4-FFF2-40B4-BE49-F238E27FC236}">
                <a16:creationId xmlns:a16="http://schemas.microsoft.com/office/drawing/2014/main" id="{EFBED513-A690-4F5B-BEF9-160B10694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816" y="2512634"/>
            <a:ext cx="67505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buFont typeface="Arial" pitchFamily="34" charset="0"/>
              <a:buNone/>
            </a:pPr>
            <a:r>
              <a:rPr lang="en-US" altLang="zh-CN" sz="2400" dirty="0">
                <a:solidFill>
                  <a:srgbClr val="E39A1D"/>
                </a:solidFill>
                <a:latin typeface="Times New Roman" pitchFamily="18" charset="0"/>
                <a:ea typeface="微软雅黑" pitchFamily="34" charset="-122"/>
                <a:sym typeface="Times New Roman" pitchFamily="18" charset="0"/>
              </a:rPr>
              <a:t>——</a:t>
            </a:r>
            <a:r>
              <a:rPr lang="zh-CN" altLang="en-US" sz="2400" dirty="0">
                <a:solidFill>
                  <a:srgbClr val="E39A1D"/>
                </a:solidFill>
                <a:latin typeface="Times New Roman" pitchFamily="18" charset="0"/>
                <a:ea typeface="微软雅黑" pitchFamily="34" charset="-122"/>
                <a:sym typeface="Times New Roman" pitchFamily="18" charset="0"/>
              </a:rPr>
              <a:t>通过说话者</a:t>
            </a:r>
            <a:r>
              <a:rPr lang="en-US" altLang="zh-CN" sz="2400" dirty="0">
                <a:solidFill>
                  <a:srgbClr val="E39A1D"/>
                </a:solidFill>
                <a:latin typeface="Times New Roman" pitchFamily="18" charset="0"/>
                <a:ea typeface="微软雅黑" pitchFamily="34" charset="-122"/>
                <a:sym typeface="Times New Roman" pitchFamily="18" charset="0"/>
              </a:rPr>
              <a:t>-</a:t>
            </a:r>
            <a:r>
              <a:rPr lang="zh-CN" altLang="en-US" sz="2400" dirty="0">
                <a:solidFill>
                  <a:srgbClr val="E39A1D"/>
                </a:solidFill>
                <a:latin typeface="Times New Roman" pitchFamily="18" charset="0"/>
                <a:ea typeface="微软雅黑" pitchFamily="34" charset="-122"/>
                <a:sym typeface="Times New Roman" pitchFamily="18" charset="0"/>
              </a:rPr>
              <a:t>追随者模型实现视觉与语言导航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15"/>
          <p:cNvSpPr>
            <a:spLocks noChangeArrowheads="1"/>
          </p:cNvSpPr>
          <p:nvPr/>
        </p:nvSpPr>
        <p:spPr bwMode="auto">
          <a:xfrm>
            <a:off x="187325" y="1138238"/>
            <a:ext cx="5592762" cy="3367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任务定义：智能体根据自然语言指令（如“进入客厅，在沙发前停下”），在真实的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3D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环境中导航到目标位置。</a:t>
            </a:r>
            <a:endParaRPr lang="en-US" altLang="zh-CN" dirty="0">
              <a:solidFill>
                <a:srgbClr val="BDA16D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endParaRPr lang="en-US" altLang="zh-CN" dirty="0">
              <a:solidFill>
                <a:srgbClr val="BDA16D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核心挑战：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1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、语言模糊性：指令只描述关键地标，细节缺失。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、数据稀缺：收集（路径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-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指令）配对数据成本高。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3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、推理困难：需要结合视觉上下文进行推理。</a:t>
            </a:r>
          </a:p>
        </p:txBody>
      </p:sp>
      <p:sp>
        <p:nvSpPr>
          <p:cNvPr id="9" name="文本框 13">
            <a:extLst>
              <a:ext uri="{FF2B5EF4-FFF2-40B4-BE49-F238E27FC236}">
                <a16:creationId xmlns:a16="http://schemas.microsoft.com/office/drawing/2014/main" id="{69C7CBB4-512C-4AB4-B04E-16EDAA85D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325" y="117475"/>
            <a:ext cx="20542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pPr>
              <a:buFont typeface="Arial" pitchFamily="34" charset="0"/>
              <a:buNone/>
            </a:pPr>
            <a:r>
              <a:rPr lang="zh-CN" altLang="en-US" sz="3600" dirty="0">
                <a:solidFill>
                  <a:srgbClr val="BDA16D"/>
                </a:solidFill>
                <a:latin typeface="Impact" pitchFamily="34" charset="0"/>
                <a:ea typeface="华文隶书" pitchFamily="2" charset="-122"/>
                <a:sym typeface="Microsoft New Tai Lue" pitchFamily="34" charset="0"/>
              </a:rPr>
              <a:t>什么是视觉与语言导航？</a:t>
            </a:r>
          </a:p>
        </p:txBody>
      </p:sp>
      <p:sp>
        <p:nvSpPr>
          <p:cNvPr id="10" name="文本框 13">
            <a:extLst>
              <a:ext uri="{FF2B5EF4-FFF2-40B4-BE49-F238E27FC236}">
                <a16:creationId xmlns:a16="http://schemas.microsoft.com/office/drawing/2014/main" id="{A56DBFA0-390C-42D8-978C-9BD72D414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5300" y="117474"/>
            <a:ext cx="20542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pPr>
              <a:buFont typeface="Arial" pitchFamily="34" charset="0"/>
              <a:buNone/>
            </a:pPr>
            <a:r>
              <a:rPr lang="zh-CN" altLang="en-US" sz="3600" dirty="0">
                <a:solidFill>
                  <a:srgbClr val="BDA16D"/>
                </a:solidFill>
                <a:latin typeface="Impact" pitchFamily="34" charset="0"/>
                <a:ea typeface="华文隶书" pitchFamily="2" charset="-122"/>
                <a:sym typeface="Microsoft New Tai Lue" pitchFamily="34" charset="0"/>
              </a:rPr>
              <a:t>为什么需要新方法？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E011B269-6CCE-4D81-BD86-AB0A0A6A0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2850" y="1138237"/>
            <a:ext cx="5592762" cy="3782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传统方法：单一的序列到序列模型，直接映射指令到动作。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endParaRPr lang="zh-CN" altLang="en-US" dirty="0">
              <a:solidFill>
                <a:srgbClr val="BDA16D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局限性：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1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、数据饥饿：严重依赖大量标注数据。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、缺乏推理：难以处理歧义指令，容易“一错到底”。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3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、引出思路：能否让智能体像人一样，通过“思考指令的意图”来做出更好的决策？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15"/>
          <p:cNvSpPr>
            <a:spLocks noChangeArrowheads="1"/>
          </p:cNvSpPr>
          <p:nvPr/>
        </p:nvSpPr>
        <p:spPr bwMode="auto">
          <a:xfrm>
            <a:off x="187325" y="1138238"/>
            <a:ext cx="5592762" cy="253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追随者：传统角色，理解指令并执行动作。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说话者：新引入的角色，根据路径生成指令。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关键洞见：利用说话者模型进行：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1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、训练时：数据增强。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、测试时：语用推理。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endParaRPr lang="zh-CN" altLang="en-US" dirty="0">
              <a:solidFill>
                <a:srgbClr val="BDA16D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9" name="文本框 13">
            <a:extLst>
              <a:ext uri="{FF2B5EF4-FFF2-40B4-BE49-F238E27FC236}">
                <a16:creationId xmlns:a16="http://schemas.microsoft.com/office/drawing/2014/main" id="{69C7CBB4-512C-4AB4-B04E-16EDAA85D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325" y="117475"/>
            <a:ext cx="20542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pPr>
              <a:buFont typeface="Arial" pitchFamily="34" charset="0"/>
              <a:buNone/>
            </a:pPr>
            <a:r>
              <a:rPr lang="zh-CN" altLang="en-US" sz="3600" dirty="0">
                <a:solidFill>
                  <a:srgbClr val="BDA16D"/>
                </a:solidFill>
                <a:latin typeface="Impact" pitchFamily="34" charset="0"/>
                <a:ea typeface="华文隶书" pitchFamily="2" charset="-122"/>
                <a:sym typeface="Microsoft New Tai Lue" pitchFamily="34" charset="0"/>
              </a:rPr>
              <a:t>核心创新：引入“说话者”模型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C464078-5077-401F-AC26-B825AFC0A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24" y="3582336"/>
            <a:ext cx="12004675" cy="240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138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15"/>
          <p:cNvSpPr>
            <a:spLocks noChangeArrowheads="1"/>
          </p:cNvSpPr>
          <p:nvPr/>
        </p:nvSpPr>
        <p:spPr bwMode="auto">
          <a:xfrm>
            <a:off x="187325" y="1138238"/>
            <a:ext cx="5592762" cy="2951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步骤：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</a:t>
            </a:r>
            <a:r>
              <a:rPr lang="en-US" altLang="zh-CN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1</a:t>
            </a:r>
            <a:r>
              <a:rPr lang="zh-CN" altLang="en-US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、训练说话者：用真实（路径</a:t>
            </a:r>
            <a:r>
              <a:rPr lang="en-US" altLang="zh-CN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-</a:t>
            </a:r>
            <a:r>
              <a:rPr lang="zh-CN" altLang="en-US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指令）数据训练。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</a:t>
            </a:r>
            <a:r>
              <a:rPr lang="en-US" altLang="zh-CN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</a:t>
            </a:r>
            <a:r>
              <a:rPr lang="zh-CN" altLang="en-US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、采样新路径：在训练环境中随机生成新路线。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</a:t>
            </a:r>
            <a:r>
              <a:rPr lang="en-US" altLang="zh-CN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3</a:t>
            </a:r>
            <a:r>
              <a:rPr lang="zh-CN" altLang="en-US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、生成合成指令：用说话者为新路径生成指令。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</a:t>
            </a:r>
            <a:r>
              <a:rPr lang="en-US" altLang="zh-CN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4</a:t>
            </a:r>
            <a:r>
              <a:rPr lang="zh-CN" altLang="en-US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、增强训练：用“真实</a:t>
            </a:r>
            <a:r>
              <a:rPr lang="en-US" altLang="zh-CN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+</a:t>
            </a:r>
            <a:r>
              <a:rPr lang="zh-CN" altLang="en-US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合成”数据训练追随者。</a:t>
            </a:r>
            <a:endParaRPr lang="en-US" altLang="zh-CN">
              <a:solidFill>
                <a:srgbClr val="BDA16D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endParaRPr lang="zh-CN" altLang="en-US">
              <a:solidFill>
                <a:srgbClr val="BDA16D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优势：低成本扩大数据集，提升模型泛化能力。</a:t>
            </a:r>
            <a:endParaRPr lang="zh-CN" altLang="en-US" dirty="0">
              <a:solidFill>
                <a:srgbClr val="BDA16D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9" name="文本框 13">
            <a:extLst>
              <a:ext uri="{FF2B5EF4-FFF2-40B4-BE49-F238E27FC236}">
                <a16:creationId xmlns:a16="http://schemas.microsoft.com/office/drawing/2014/main" id="{69C7CBB4-512C-4AB4-B04E-16EDAA85D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325" y="117475"/>
            <a:ext cx="20542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pPr>
              <a:buFont typeface="Arial" pitchFamily="34" charset="0"/>
              <a:buNone/>
            </a:pPr>
            <a:r>
              <a:rPr lang="zh-CN" altLang="en-US" sz="3600" dirty="0">
                <a:solidFill>
                  <a:srgbClr val="BDA16D"/>
                </a:solidFill>
                <a:latin typeface="Impact" pitchFamily="34" charset="0"/>
                <a:ea typeface="华文隶书" pitchFamily="2" charset="-122"/>
                <a:sym typeface="Microsoft New Tai Lue" pitchFamily="34" charset="0"/>
              </a:rPr>
              <a:t>解决数据稀缺问题</a:t>
            </a:r>
            <a:r>
              <a:rPr lang="en-US" altLang="zh-CN" sz="3600" dirty="0">
                <a:solidFill>
                  <a:srgbClr val="BDA16D"/>
                </a:solidFill>
                <a:latin typeface="Impact" pitchFamily="34" charset="0"/>
                <a:ea typeface="华文隶书" pitchFamily="2" charset="-122"/>
                <a:sym typeface="Microsoft New Tai Lue" pitchFamily="34" charset="0"/>
              </a:rPr>
              <a:t>——</a:t>
            </a:r>
            <a:r>
              <a:rPr lang="zh-CN" altLang="en-US" sz="3600" dirty="0">
                <a:solidFill>
                  <a:srgbClr val="BDA16D"/>
                </a:solidFill>
                <a:latin typeface="Impact" pitchFamily="34" charset="0"/>
                <a:ea typeface="华文隶书" pitchFamily="2" charset="-122"/>
                <a:sym typeface="Microsoft New Tai Lue" pitchFamily="34" charset="0"/>
              </a:rPr>
              <a:t>说话者驱动的数据增强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4F3BEF5-0996-48AB-BE7B-76BFCC253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25" y="4228732"/>
            <a:ext cx="11950953" cy="2511793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5B09AB20-5874-44BA-8033-E662287505BB}"/>
              </a:ext>
            </a:extLst>
          </p:cNvPr>
          <p:cNvSpPr/>
          <p:nvPr/>
        </p:nvSpPr>
        <p:spPr bwMode="auto">
          <a:xfrm>
            <a:off x="5292725" y="2109787"/>
            <a:ext cx="1419225" cy="195263"/>
          </a:xfrm>
          <a:prstGeom prst="rightArrow">
            <a:avLst/>
          </a:prstGeom>
          <a:solidFill>
            <a:srgbClr val="BDA16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1" i="0" u="none" strike="noStrike" normalizeH="0" baseline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EDB4217E-1409-4BA2-8BE3-526158E7E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1950" y="871963"/>
            <a:ext cx="5592762" cy="3367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1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、随机采样起点和终点：在导航图中，随机选择两个不同的节点分别作为路径的起点和终点。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、计算最短路径：使用最短路径算法（在导航图上计算出从起点到终点的最短路径。这条路径由一系列连续的节点组成。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3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、确保路径合理性：会设置一些约束，比如路径必须包含一定数量的节点（在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R2R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中，路径长度被限制在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到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7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个节点之间），以确保指令不会太简单或太复杂</a:t>
            </a:r>
          </a:p>
        </p:txBody>
      </p:sp>
    </p:spTree>
    <p:extLst>
      <p:ext uri="{BB962C8B-B14F-4D97-AF65-F5344CB8AC3E}">
        <p14:creationId xmlns:p14="http://schemas.microsoft.com/office/powerpoint/2010/main" val="3313307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15"/>
          <p:cNvSpPr>
            <a:spLocks noChangeArrowheads="1"/>
          </p:cNvSpPr>
          <p:nvPr/>
        </p:nvSpPr>
        <p:spPr bwMode="auto">
          <a:xfrm>
            <a:off x="187325" y="1114425"/>
            <a:ext cx="6737350" cy="2120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问题：原始方法使用“转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30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度”、“前进”等低层动作，效率低。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解决方案：全景动作空间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1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、感知：一次性获取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360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度全景视图。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、动作：直接选择下一个要前往的可导航方向。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优势：更符合人类指令的抽象层次，简化决策。</a:t>
            </a:r>
          </a:p>
        </p:txBody>
      </p:sp>
      <p:sp>
        <p:nvSpPr>
          <p:cNvPr id="9" name="文本框 13">
            <a:extLst>
              <a:ext uri="{FF2B5EF4-FFF2-40B4-BE49-F238E27FC236}">
                <a16:creationId xmlns:a16="http://schemas.microsoft.com/office/drawing/2014/main" id="{69C7CBB4-512C-4AB4-B04E-16EDAA85D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325" y="117475"/>
            <a:ext cx="20542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pPr>
              <a:buFont typeface="Arial" pitchFamily="34" charset="0"/>
              <a:buNone/>
            </a:pPr>
            <a:r>
              <a:rPr lang="zh-CN" altLang="en-US" sz="3600" dirty="0">
                <a:solidFill>
                  <a:srgbClr val="BDA16D"/>
                </a:solidFill>
                <a:latin typeface="Impact" pitchFamily="34" charset="0"/>
                <a:ea typeface="华文隶书" pitchFamily="2" charset="-122"/>
                <a:sym typeface="Microsoft New Tai Lue" pitchFamily="34" charset="0"/>
              </a:rPr>
              <a:t>从低层控制到高层决策</a:t>
            </a:r>
            <a:r>
              <a:rPr lang="en-US" altLang="zh-CN" sz="3600" dirty="0">
                <a:solidFill>
                  <a:srgbClr val="BDA16D"/>
                </a:solidFill>
                <a:latin typeface="Impact" pitchFamily="34" charset="0"/>
                <a:ea typeface="华文隶书" pitchFamily="2" charset="-122"/>
                <a:sym typeface="Microsoft New Tai Lue" pitchFamily="34" charset="0"/>
              </a:rPr>
              <a:t>——</a:t>
            </a:r>
            <a:r>
              <a:rPr lang="zh-CN" altLang="en-US" sz="3600" dirty="0">
                <a:solidFill>
                  <a:srgbClr val="BDA16D"/>
                </a:solidFill>
                <a:latin typeface="Impact" pitchFamily="34" charset="0"/>
                <a:ea typeface="华文隶书" pitchFamily="2" charset="-122"/>
                <a:sym typeface="Microsoft New Tai Lue" pitchFamily="34" charset="0"/>
              </a:rPr>
              <a:t>全景动作空间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78AFE07-EDCD-4845-898C-D112BE11F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25" y="3403680"/>
            <a:ext cx="8834282" cy="328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593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15"/>
          <p:cNvSpPr>
            <a:spLocks noChangeArrowheads="1"/>
          </p:cNvSpPr>
          <p:nvPr/>
        </p:nvSpPr>
        <p:spPr bwMode="auto">
          <a:xfrm>
            <a:off x="187324" y="1181099"/>
            <a:ext cx="7794625" cy="5029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步骤：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1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、生成候选路径：追随者根据指令生成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K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条可能路径。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、说话者重新评分：计算每条路径 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P_S(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指令 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| 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路径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)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：“如果我要描述这条路径，我会用这个指令吗？”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3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、综合决策：结合追随者分数和说话者分数，选择最佳路径。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公式：最终分数 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= P_S(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指令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|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路径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)^λ * P_F(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路径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|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指令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)^(1-λ)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endParaRPr lang="en-US" altLang="zh-CN" dirty="0">
              <a:solidFill>
                <a:srgbClr val="BDA16D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PF​(</a:t>
            </a:r>
            <a:r>
              <a:rPr lang="en-US" altLang="zh-CN" dirty="0" err="1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r∣d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)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：基础跟随器的分数。意思是：“给定指令 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d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，我认为路径 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r 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是正确的概率有多大？” 这代表了模型对指令的字面理解。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PS​(</a:t>
            </a:r>
            <a:r>
              <a:rPr lang="en-US" altLang="zh-CN" dirty="0" err="1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d∣r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)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：说话者模型的分数。意思是：“如果我要描述路径 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r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，我有多大可能会使用指令 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d 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来描述它？” 这代表了路径对指令的解释力，是一种语用推理。</a:t>
            </a:r>
          </a:p>
        </p:txBody>
      </p:sp>
      <p:sp>
        <p:nvSpPr>
          <p:cNvPr id="9" name="文本框 13">
            <a:extLst>
              <a:ext uri="{FF2B5EF4-FFF2-40B4-BE49-F238E27FC236}">
                <a16:creationId xmlns:a16="http://schemas.microsoft.com/office/drawing/2014/main" id="{69C7CBB4-512C-4AB4-B04E-16EDAA85D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325" y="117475"/>
            <a:ext cx="20542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pPr>
              <a:buFont typeface="Arial" pitchFamily="34" charset="0"/>
              <a:buNone/>
            </a:pPr>
            <a:r>
              <a:rPr lang="zh-CN" altLang="en-US" sz="3600" dirty="0">
                <a:solidFill>
                  <a:srgbClr val="BDA16D"/>
                </a:solidFill>
                <a:latin typeface="Impact" pitchFamily="34" charset="0"/>
                <a:ea typeface="华文隶书" pitchFamily="2" charset="-122"/>
                <a:sym typeface="Microsoft New Tai Lue" pitchFamily="34" charset="0"/>
              </a:rPr>
              <a:t>让导航更“聪明”的关键</a:t>
            </a:r>
            <a:r>
              <a:rPr lang="en-US" altLang="zh-CN" sz="3600" dirty="0">
                <a:solidFill>
                  <a:srgbClr val="BDA16D"/>
                </a:solidFill>
                <a:latin typeface="Impact" pitchFamily="34" charset="0"/>
                <a:ea typeface="华文隶书" pitchFamily="2" charset="-122"/>
                <a:sym typeface="Microsoft New Tai Lue" pitchFamily="34" charset="0"/>
              </a:rPr>
              <a:t>——</a:t>
            </a:r>
            <a:r>
              <a:rPr lang="zh-CN" altLang="en-US" sz="3600" dirty="0">
                <a:solidFill>
                  <a:srgbClr val="BDA16D"/>
                </a:solidFill>
                <a:latin typeface="Impact" pitchFamily="34" charset="0"/>
                <a:ea typeface="华文隶书" pitchFamily="2" charset="-122"/>
                <a:sym typeface="Microsoft New Tai Lue" pitchFamily="34" charset="0"/>
              </a:rPr>
              <a:t>测试时的语用推理</a:t>
            </a:r>
          </a:p>
        </p:txBody>
      </p:sp>
    </p:spTree>
    <p:extLst>
      <p:ext uri="{BB962C8B-B14F-4D97-AF65-F5344CB8AC3E}">
        <p14:creationId xmlns:p14="http://schemas.microsoft.com/office/powerpoint/2010/main" val="3042016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15"/>
          <p:cNvSpPr>
            <a:spLocks noChangeArrowheads="1"/>
          </p:cNvSpPr>
          <p:nvPr/>
        </p:nvSpPr>
        <p:spPr bwMode="auto">
          <a:xfrm>
            <a:off x="187325" y="1114425"/>
            <a:ext cx="6737350" cy="2120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指令：“进入右边的门，在床前停下。”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Without Pragmatics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：追随者可能进入错误的门，看到一个像床的桌子就停下。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With Pragmatics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：说话者会判断，正确的路径应该是进入那个真正有床的房间的门。</a:t>
            </a:r>
          </a:p>
        </p:txBody>
      </p:sp>
      <p:sp>
        <p:nvSpPr>
          <p:cNvPr id="9" name="文本框 13">
            <a:extLst>
              <a:ext uri="{FF2B5EF4-FFF2-40B4-BE49-F238E27FC236}">
                <a16:creationId xmlns:a16="http://schemas.microsoft.com/office/drawing/2014/main" id="{69C7CBB4-512C-4AB4-B04E-16EDAA85D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325" y="117475"/>
            <a:ext cx="20542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pPr>
              <a:buFont typeface="Arial" pitchFamily="34" charset="0"/>
              <a:buNone/>
            </a:pPr>
            <a:r>
              <a:rPr lang="zh-CN" altLang="en-US" sz="3600" dirty="0">
                <a:solidFill>
                  <a:srgbClr val="BDA16D"/>
                </a:solidFill>
                <a:latin typeface="Impact" pitchFamily="34" charset="0"/>
                <a:ea typeface="华文隶书" pitchFamily="2" charset="-122"/>
                <a:sym typeface="Microsoft New Tai Lue" pitchFamily="34" charset="0"/>
              </a:rPr>
              <a:t>语用推理如何解决歧义？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4F40FE6-A6AA-4F2B-826A-BC8AAABCD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" y="3586164"/>
            <a:ext cx="1183957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55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15"/>
          <p:cNvSpPr>
            <a:spLocks noChangeArrowheads="1"/>
          </p:cNvSpPr>
          <p:nvPr/>
        </p:nvSpPr>
        <p:spPr bwMode="auto">
          <a:xfrm>
            <a:off x="187325" y="1114425"/>
            <a:ext cx="6737350" cy="2120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核心结论：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数据增强：提升泛化能力（特别是在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Unseen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环境）。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语用推理：大幅提升决策准确性。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全景空间：带来最大性能增益。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三者结合：效果最佳，性能远超基线。</a:t>
            </a:r>
          </a:p>
        </p:txBody>
      </p:sp>
      <p:sp>
        <p:nvSpPr>
          <p:cNvPr id="9" name="文本框 13">
            <a:extLst>
              <a:ext uri="{FF2B5EF4-FFF2-40B4-BE49-F238E27FC236}">
                <a16:creationId xmlns:a16="http://schemas.microsoft.com/office/drawing/2014/main" id="{69C7CBB4-512C-4AB4-B04E-16EDAA85D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325" y="117475"/>
            <a:ext cx="20542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pPr>
              <a:buFont typeface="Arial" pitchFamily="34" charset="0"/>
              <a:buNone/>
            </a:pPr>
            <a:r>
              <a:rPr lang="zh-CN" altLang="en-US" sz="3600" dirty="0">
                <a:solidFill>
                  <a:srgbClr val="BDA16D"/>
                </a:solidFill>
                <a:latin typeface="Impact" pitchFamily="34" charset="0"/>
                <a:ea typeface="华文隶书" pitchFamily="2" charset="-122"/>
                <a:sym typeface="Microsoft New Tai Lue" pitchFamily="34" charset="0"/>
              </a:rPr>
              <a:t>消融实验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8583822-0EA3-44B6-93F8-5F1430A8D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25" y="3332957"/>
            <a:ext cx="9530469" cy="342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043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Box 15"/>
          <p:cNvSpPr>
            <a:spLocks noChangeArrowheads="1"/>
          </p:cNvSpPr>
          <p:nvPr/>
        </p:nvSpPr>
        <p:spPr bwMode="auto">
          <a:xfrm>
            <a:off x="187325" y="1114425"/>
            <a:ext cx="6737350" cy="1705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核心结论：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在未见过的测试环境上，成功率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53.5%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，比之前最佳方法（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25.3%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）翻了一倍多。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 显著缩小了与人类性能（</a:t>
            </a:r>
            <a:r>
              <a:rPr lang="en-US" altLang="zh-CN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86.4%</a:t>
            </a:r>
            <a:r>
              <a:rPr lang="zh-CN" altLang="en-US" dirty="0">
                <a:solidFill>
                  <a:srgbClr val="BDA16D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）的差距。</a:t>
            </a:r>
          </a:p>
        </p:txBody>
      </p:sp>
      <p:sp>
        <p:nvSpPr>
          <p:cNvPr id="9" name="文本框 13">
            <a:extLst>
              <a:ext uri="{FF2B5EF4-FFF2-40B4-BE49-F238E27FC236}">
                <a16:creationId xmlns:a16="http://schemas.microsoft.com/office/drawing/2014/main" id="{69C7CBB4-512C-4AB4-B04E-16EDAA85D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325" y="117475"/>
            <a:ext cx="20542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pPr>
              <a:buFont typeface="Arial" pitchFamily="34" charset="0"/>
              <a:buNone/>
            </a:pPr>
            <a:r>
              <a:rPr lang="zh-CN" altLang="en-US" sz="3600" dirty="0">
                <a:solidFill>
                  <a:srgbClr val="BDA16D"/>
                </a:solidFill>
                <a:latin typeface="Impact" pitchFamily="34" charset="0"/>
                <a:ea typeface="华文隶书" pitchFamily="2" charset="-122"/>
                <a:sym typeface="Microsoft New Tai Lue" pitchFamily="34" charset="0"/>
              </a:rPr>
              <a:t>实验结果：与前沿方法对比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B6A80C9-A36D-4F21-900B-54D4132D2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25" y="3170665"/>
            <a:ext cx="11706225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831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Pages>0</Pages>
  <Words>913</Words>
  <Characters>0</Characters>
  <Application>Microsoft Office PowerPoint</Application>
  <DocSecurity>0</DocSecurity>
  <PresentationFormat>宽屏</PresentationFormat>
  <Lines>0</Lines>
  <Paragraphs>67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微软雅黑</vt:lpstr>
      <vt:lpstr>Arial</vt:lpstr>
      <vt:lpstr>Calibri</vt:lpstr>
      <vt:lpstr>Calibri Light</vt:lpstr>
      <vt:lpstr>Impact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丫丫精饰</dc:title>
  <dc:subject>丫丫精饰</dc:subject>
  <dc:creator>丫丫精饰</dc:creator>
  <cp:keywords>https://cyppt.taobao.com</cp:keywords>
  <dc:description>https://cyppt.taobao.com</dc:description>
  <cp:lastModifiedBy>2115875948@qq.com</cp:lastModifiedBy>
  <cp:revision>1387</cp:revision>
  <dcterms:created xsi:type="dcterms:W3CDTF">2014-11-18T07:27:00Z</dcterms:created>
  <dcterms:modified xsi:type="dcterms:W3CDTF">2025-09-27T12:11:36Z</dcterms:modified>
  <cp:category>https://cyppt.taobao.com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2052-9.1.0.5184</vt:lpwstr>
  </property>
</Properties>
</file>