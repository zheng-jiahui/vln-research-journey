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7"/>
  </p:notesMasterIdLst>
  <p:handoutMasterIdLst>
    <p:handoutMasterId r:id="rId8"/>
  </p:handoutMasterIdLst>
  <p:sldIdLst>
    <p:sldId id="256" r:id="rId2"/>
    <p:sldId id="534" r:id="rId3"/>
    <p:sldId id="539" r:id="rId4"/>
    <p:sldId id="535" r:id="rId5"/>
    <p:sldId id="540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fkx" initials="w" lastIdx="1" clrIdx="0"/>
  <p:cmAuthor id="2" name="2115875948@qq.com" initials="2" lastIdx="3" clrIdx="1">
    <p:extLst>
      <p:ext uri="{19B8F6BF-5375-455C-9EA6-DF929625EA0E}">
        <p15:presenceInfo xmlns:p15="http://schemas.microsoft.com/office/powerpoint/2012/main" userId="77d56f992319ea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8F"/>
    <a:srgbClr val="5B9BD5"/>
    <a:srgbClr val="FF9966"/>
    <a:srgbClr val="FF9800"/>
    <a:srgbClr val="00AFF0"/>
    <a:srgbClr val="FF0000"/>
    <a:srgbClr val="1212F0"/>
    <a:srgbClr val="FFB014"/>
    <a:srgbClr val="AAAAFF"/>
    <a:srgbClr val="5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153" autoAdjust="0"/>
  </p:normalViewPr>
  <p:slideViewPr>
    <p:cSldViewPr>
      <p:cViewPr varScale="1">
        <p:scale>
          <a:sx n="84" d="100"/>
          <a:sy n="84" d="100"/>
        </p:scale>
        <p:origin x="610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B522-843A-4E8E-A647-AF429A9C9E7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59DB-8BA6-4AD3-9C6C-00F0DE7EB8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659DB-8BA6-4AD3-9C6C-00F0DE7EB85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28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696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32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340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66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42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76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90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93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22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89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1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4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248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52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 userDrawn="1"/>
        </p:nvSpPr>
        <p:spPr>
          <a:xfrm>
            <a:off x="-65252" y="-921"/>
            <a:ext cx="1961103" cy="69215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2" y="16480"/>
            <a:ext cx="944487" cy="659190"/>
          </a:xfrm>
          <a:prstGeom prst="rect">
            <a:avLst/>
          </a:prstGeom>
        </p:spPr>
      </p:pic>
      <p:sp>
        <p:nvSpPr>
          <p:cNvPr id="4" name="平行四边形 3"/>
          <p:cNvSpPr/>
          <p:nvPr userDrawn="1"/>
        </p:nvSpPr>
        <p:spPr>
          <a:xfrm>
            <a:off x="1387544" y="647450"/>
            <a:ext cx="10848000" cy="3600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717597" y="6583996"/>
            <a:ext cx="66693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1B2D83C-3CD3-4CBF-B268-3EDB8087C524}" type="slidenum">
              <a:rPr lang="zh-CN" altLang="en-US" sz="1200" b="1" smtClean="0">
                <a:solidFill>
                  <a:srgbClr val="354B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354B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3576061" y="-8561"/>
            <a:ext cx="5393514" cy="1515659"/>
            <a:chOff x="5295900" y="2146300"/>
            <a:chExt cx="2552700" cy="1181100"/>
          </a:xfrm>
          <a:solidFill>
            <a:schemeClr val="bg1">
              <a:lumMod val="85000"/>
              <a:alpha val="58000"/>
            </a:schemeClr>
          </a:solidFill>
        </p:grpSpPr>
        <p:grpSp>
          <p:nvGrpSpPr>
            <p:cNvPr id="164" name="组合 163"/>
            <p:cNvGrpSpPr/>
            <p:nvPr/>
          </p:nvGrpSpPr>
          <p:grpSpPr>
            <a:xfrm>
              <a:off x="5295900" y="2146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91" name="矩形 290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4" name="矩形 293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9" name="矩形 298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0" name="矩形 299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2" name="矩形 301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3" name="矩形 302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4" name="矩形 303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5" name="矩形 304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6" name="矩形 305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7" name="矩形 306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5295900" y="2298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74" name="矩形 273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5" name="矩形 274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6" name="矩形 275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7" name="矩形 276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8" name="矩形 277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9" name="矩形 278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0" name="矩形 279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1" name="矩形 280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2" name="矩形 281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3" name="矩形 282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4" name="矩形 283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5" name="矩形 284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6" name="矩形 285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7" name="矩形 286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8" name="矩形 287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9" name="矩形 288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0" name="矩形 289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5295900" y="2451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57" name="矩形 256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8" name="矩形 257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1" name="矩形 260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3" name="矩形 262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4" name="矩形 263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295900" y="26035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40" name="矩形 239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2" name="矩形 241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2" name="矩形 251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3" name="矩形 252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5" name="矩形 254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5295900" y="27559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23" name="矩形 222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5295900" y="2908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06" name="矩形 205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0" name="矩形 219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2" name="矩形 221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5295900" y="3060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89" name="矩形 188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5295900" y="3213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72" name="矩形 171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sp>
        <p:nvSpPr>
          <p:cNvPr id="158" name="矩形 157"/>
          <p:cNvSpPr/>
          <p:nvPr/>
        </p:nvSpPr>
        <p:spPr>
          <a:xfrm>
            <a:off x="-12326" y="11038"/>
            <a:ext cx="3589020" cy="1498600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9" name="文本框 333"/>
          <p:cNvSpPr txBox="1"/>
          <p:nvPr/>
        </p:nvSpPr>
        <p:spPr>
          <a:xfrm>
            <a:off x="119999" y="1654419"/>
            <a:ext cx="8849575" cy="17660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</a:t>
            </a:r>
            <a:r>
              <a:rPr lang="en-US" altLang="zh-CN" sz="32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MapNav</a:t>
            </a:r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: A Novel Memory Representation via Annotated Semantic Maps for Vision-and-Language Navigation</a:t>
            </a:r>
            <a:endParaRPr lang="zh-CN" altLang="en-US" sz="3200" b="1" dirty="0">
              <a:solidFill>
                <a:srgbClr val="0065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  <a:sym typeface="inpin heiti" panose="00000500000000000000" pitchFamily="2" charset="-122"/>
            </a:endParaRPr>
          </a:p>
        </p:txBody>
      </p:sp>
      <p:sp>
        <p:nvSpPr>
          <p:cNvPr id="162" name="矩形 161"/>
          <p:cNvSpPr/>
          <p:nvPr/>
        </p:nvSpPr>
        <p:spPr>
          <a:xfrm flipV="1">
            <a:off x="0" y="3860999"/>
            <a:ext cx="8969573" cy="97896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1" name="图片 160" descr="校徽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" y="155819"/>
            <a:ext cx="3467735" cy="1152525"/>
          </a:xfrm>
          <a:prstGeom prst="rect">
            <a:avLst/>
          </a:prstGeom>
        </p:spPr>
      </p:pic>
      <p:pic>
        <p:nvPicPr>
          <p:cNvPr id="308" name="图片 30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575" y="-8561"/>
            <a:ext cx="3222425" cy="6858000"/>
          </a:xfrm>
          <a:prstGeom prst="rect">
            <a:avLst/>
          </a:prstGeom>
        </p:spPr>
      </p:pic>
      <p:graphicFrame>
        <p:nvGraphicFramePr>
          <p:cNvPr id="311" name="表格 3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0576194"/>
              </p:ext>
            </p:extLst>
          </p:nvPr>
        </p:nvGraphicFramePr>
        <p:xfrm>
          <a:off x="2783755" y="4494960"/>
          <a:ext cx="34179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   告   人：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     号：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指导教师：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报告日期：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32335" y="689472"/>
            <a:ext cx="6006724" cy="5444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传统方法：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历史帧序列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= 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图片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图片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2, ...,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图片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N]</a:t>
            </a: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问题：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现有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VLN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方法依赖历史观测帧，存储与计算开销大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连续环境导航中缺乏结构化记忆表示</a:t>
            </a: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动机：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提出标注语义地图（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ASM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 替代历史帧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实现高效、结构化的空间记忆表示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MapNav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方法：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注释语义地图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一张随时间更新的智能地图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0F1115"/>
                </a:solidFill>
                <a:latin typeface="quote-cjk-patch"/>
                <a:ea typeface="微软雅黑" panose="020B0503020204020204" pitchFamily="34" charset="-122"/>
                <a:cs typeface="MiSans" panose="02010600030101010101" charset="-122"/>
              </a:rPr>
              <a:t>局限与动机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3B794F-EBE0-46FF-AA62-A157936DC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562" y="669422"/>
            <a:ext cx="4645051" cy="59900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5B092A-FEC0-4691-866C-2EBB30F32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19" y="5084619"/>
            <a:ext cx="5944081" cy="109266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FA9138AB-860B-4CCE-AB7D-FE660855DD66}"/>
              </a:ext>
            </a:extLst>
          </p:cNvPr>
          <p:cNvSpPr txBox="1"/>
          <p:nvPr/>
        </p:nvSpPr>
        <p:spPr>
          <a:xfrm>
            <a:off x="0" y="6598656"/>
            <a:ext cx="107083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MapNav: A Novel Memory Representation via Annotated Semantic Maps for VLM-based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2025,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香港科技大学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广州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北京人工智能研究院</a:t>
            </a:r>
          </a:p>
        </p:txBody>
      </p:sp>
    </p:spTree>
    <p:extLst>
      <p:ext uri="{BB962C8B-B14F-4D97-AF65-F5344CB8AC3E}">
        <p14:creationId xmlns:p14="http://schemas.microsoft.com/office/powerpoint/2010/main" val="412794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-46119" y="498806"/>
            <a:ext cx="7510119" cy="58603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ASM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的三大特点：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俯视图表示：上帝视角，消除透视畸变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语义标注：物体级信息（椅子、桌子、门）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文字注释：关键区域直接标注文本标签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生成步骤：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数据采集 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RGB-D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图像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姿态信息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语义分割 → 识别物体类别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3. 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投影 → 点云转换为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俯视图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4.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文本标注 → 计算质心并添加文字标签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计算语义区域的几何中心，放置标签，确保标签在物体内部，视觉清晰，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易读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0F1115"/>
                </a:solidFill>
                <a:latin typeface="quote-cjk-patch"/>
                <a:ea typeface="微软雅黑" panose="020B0503020204020204" pitchFamily="34" charset="-122"/>
                <a:cs typeface="MiSans" panose="02010600030101010101" charset="-122"/>
              </a:rPr>
              <a:t>ASM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0CA5E-4E17-4E65-84B8-C151993B4B2E}"/>
              </a:ext>
            </a:extLst>
          </p:cNvPr>
          <p:cNvSpPr txBox="1"/>
          <p:nvPr/>
        </p:nvSpPr>
        <p:spPr>
          <a:xfrm>
            <a:off x="0" y="6598656"/>
            <a:ext cx="107885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MapGPT: Map-Guided Prompting with Adaptive Path Planning for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2024,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中山大学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深圳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香港大学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, https://gthub.com/chen-judge/MapGPT/</a:t>
            </a:r>
            <a:endParaRPr kumimoji="1" lang="zh-CN" altLang="en-US" sz="1100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FE0D44-90B3-4FC5-85C6-31F2C1357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786" y="763937"/>
            <a:ext cx="4938366" cy="56866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EC0549-8B94-4180-A9C4-AD17C4E3E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862" y="5016846"/>
            <a:ext cx="7184617" cy="187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8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1077218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latin typeface="quote-cjk-patch"/>
              </a:rPr>
              <a:t>模型结构</a:t>
            </a:r>
            <a:endParaRPr lang="en-US" altLang="zh-CN" sz="3200" b="1" dirty="0">
              <a:solidFill>
                <a:srgbClr val="0F1115"/>
              </a:solidFill>
              <a:latin typeface="quote-cjk-patch"/>
            </a:endParaRPr>
          </a:p>
          <a:p>
            <a:pPr algn="l"/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50B50E-18EE-40F6-A9A4-C452F938B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56" y="750883"/>
            <a:ext cx="8838003" cy="5728178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CE504A87-179B-4E64-9430-390B7403F121}"/>
              </a:ext>
            </a:extLst>
          </p:cNvPr>
          <p:cNvSpPr txBox="1"/>
          <p:nvPr/>
        </p:nvSpPr>
        <p:spPr>
          <a:xfrm>
            <a:off x="0" y="6598656"/>
            <a:ext cx="107083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MapNav: A Novel Memory Representation via Annotated Semantic Maps for VLM-based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2025,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香港科技大学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广州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北京人工智能研究院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6F21C4C6-9C9C-4DE6-809A-09ECFC351B75}"/>
              </a:ext>
            </a:extLst>
          </p:cNvPr>
          <p:cNvSpPr/>
          <p:nvPr/>
        </p:nvSpPr>
        <p:spPr>
          <a:xfrm>
            <a:off x="8679863" y="734576"/>
            <a:ext cx="3598902" cy="5444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输出：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生成自然语言动作描述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模式匹配解析为底层控制指令</a:t>
            </a: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输出示例：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前方有障碍物，我需要右转绕过桌子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解析过程：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模式匹配：识别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右转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关键词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动作映射：匹配到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P_TURN-RIGHT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集合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指令发送：执行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turn_right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 30°</a:t>
            </a:r>
          </a:p>
        </p:txBody>
      </p:sp>
    </p:spTree>
    <p:extLst>
      <p:ext uri="{BB962C8B-B14F-4D97-AF65-F5344CB8AC3E}">
        <p14:creationId xmlns:p14="http://schemas.microsoft.com/office/powerpoint/2010/main" val="426236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1077218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latin typeface="quote-cjk-patch"/>
              </a:rPr>
              <a:t>总结</a:t>
            </a:r>
            <a:endParaRPr lang="en-US" altLang="zh-CN" sz="3200" b="1" dirty="0">
              <a:solidFill>
                <a:srgbClr val="0F1115"/>
              </a:solidFill>
              <a:latin typeface="quote-cjk-patch"/>
            </a:endParaRPr>
          </a:p>
          <a:p>
            <a:pPr algn="l"/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E504A87-179B-4E64-9430-390B7403F121}"/>
              </a:ext>
            </a:extLst>
          </p:cNvPr>
          <p:cNvSpPr txBox="1"/>
          <p:nvPr/>
        </p:nvSpPr>
        <p:spPr>
          <a:xfrm>
            <a:off x="0" y="6598656"/>
            <a:ext cx="107083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MapNav: A Novel Memory Representation via Annotated Semantic Maps for VLM-based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2025,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香港科技大学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广州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北京人工智能研究院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6F21C4C6-9C9C-4DE6-809A-09ECFC351B75}"/>
              </a:ext>
            </a:extLst>
          </p:cNvPr>
          <p:cNvSpPr/>
          <p:nvPr/>
        </p:nvSpPr>
        <p:spPr>
          <a:xfrm>
            <a:off x="32906" y="611268"/>
            <a:ext cx="7467763" cy="50293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记忆表示创新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传统：存储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张历史图像 → 内存随步数增长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MapNav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：维护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ASM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地图 → 恒定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0.17MB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内存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效率提升：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步时内存减少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1600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倍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2. VLM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友好设计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关键：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擅长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图文关联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，不擅长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颜色解码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ASM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设计：直接用文字标注物体（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椅子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而不是蓝色色块）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效果验证：注意力热图显示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高度关注文字标签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端到端文本交互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传统：图像→特征→动作编码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MapNav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：图像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地图→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思考→自然语言→动作解析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优势：可解释性强，易于调试，支持复杂指令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BDBB2D-0907-4789-9577-8FB406E4A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00" y="2287763"/>
            <a:ext cx="50101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06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9b34fa-850a-4f5b-9bd4-3e0419e52f74"/>
  <p:tag name="COMMONDATA" val="eyJoZGlkIjoiNDJlYjk4ZjQ2NzA1ZGEzMzYyZTZmODkzY2Q4ZDg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5074.6850393700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ac9fd9-164d-4dc8-9a8d-e31483b9f66e}"/>
</p:tagLst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8778</TotalTime>
  <Words>524</Words>
  <Application>Microsoft Office PowerPoint</Application>
  <PresentationFormat>宽屏</PresentationFormat>
  <Paragraphs>65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inpin heiti</vt:lpstr>
      <vt:lpstr>quote-cjk-patch</vt:lpstr>
      <vt:lpstr>等线</vt:lpstr>
      <vt:lpstr>微软雅黑</vt:lpstr>
      <vt:lpstr>Arial</vt:lpstr>
      <vt:lpstr>Calibri</vt:lpstr>
      <vt:lpstr>Calibri Light</vt:lpstr>
      <vt:lpstr>Times New Roman</vt:lpstr>
      <vt:lpstr>Office Theme 2013 - 2022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dkx</dc:creator>
  <cp:lastModifiedBy>2115875948@qq.com</cp:lastModifiedBy>
  <cp:revision>833</cp:revision>
  <dcterms:created xsi:type="dcterms:W3CDTF">2022-11-14T06:38:00Z</dcterms:created>
  <dcterms:modified xsi:type="dcterms:W3CDTF">2026-01-20T05:36:17Z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4E26A404E4B34345815899A7963F5C06</vt:lpwstr>
  </property>
  <property fmtid="{D5CDD505-2E9C-101B-9397-08002B2CF9AE}" pid="3" name="KSOProductBuildVer">
    <vt:lpwstr>2052-12.1.0.15374</vt:lpwstr>
  </property>
</Properties>
</file>