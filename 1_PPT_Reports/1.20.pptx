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5"/>
  </p:notesMasterIdLst>
  <p:handoutMasterIdLst>
    <p:handoutMasterId r:id="rId6"/>
  </p:handoutMasterIdLst>
  <p:sldIdLst>
    <p:sldId id="256" r:id="rId2"/>
    <p:sldId id="534" r:id="rId3"/>
    <p:sldId id="535" r:id="rId4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fkx" initials="w" lastIdx="1" clrIdx="0"/>
  <p:cmAuthor id="2" name="2115875948@qq.com" initials="2" lastIdx="3" clrIdx="1">
    <p:extLst>
      <p:ext uri="{19B8F6BF-5375-455C-9EA6-DF929625EA0E}">
        <p15:presenceInfo xmlns:p15="http://schemas.microsoft.com/office/powerpoint/2012/main" userId="77d56f992319ea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8F"/>
    <a:srgbClr val="5B9BD5"/>
    <a:srgbClr val="FF9966"/>
    <a:srgbClr val="FF9800"/>
    <a:srgbClr val="00AFF0"/>
    <a:srgbClr val="FF0000"/>
    <a:srgbClr val="1212F0"/>
    <a:srgbClr val="FFB014"/>
    <a:srgbClr val="AAAAFF"/>
    <a:srgbClr val="55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153" autoAdjust="0"/>
  </p:normalViewPr>
  <p:slideViewPr>
    <p:cSldViewPr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0B522-843A-4E8E-A647-AF429A9C9E7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59DB-8BA6-4AD3-9C6C-00F0DE7EB8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659DB-8BA6-4AD3-9C6C-00F0DE7EB8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28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D0A12A2-0C94-4ACB-BC57-F09E82DBA6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32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663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42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761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2909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93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22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89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1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54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248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525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 userDrawn="1"/>
        </p:nvSpPr>
        <p:spPr>
          <a:xfrm>
            <a:off x="-65252" y="-921"/>
            <a:ext cx="1961103" cy="69215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62" y="16480"/>
            <a:ext cx="944487" cy="659190"/>
          </a:xfrm>
          <a:prstGeom prst="rect">
            <a:avLst/>
          </a:prstGeom>
        </p:spPr>
      </p:pic>
      <p:sp>
        <p:nvSpPr>
          <p:cNvPr id="4" name="平行四边形 3"/>
          <p:cNvSpPr/>
          <p:nvPr userDrawn="1"/>
        </p:nvSpPr>
        <p:spPr>
          <a:xfrm>
            <a:off x="1387544" y="647450"/>
            <a:ext cx="10848000" cy="36000"/>
          </a:xfrm>
          <a:prstGeom prst="parallelogram">
            <a:avLst>
              <a:gd name="adj" fmla="val 57289"/>
            </a:avLst>
          </a:prstGeom>
          <a:solidFill>
            <a:srgbClr val="354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717597" y="6583996"/>
            <a:ext cx="66693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1B2D83C-3CD3-4CBF-B268-3EDB8087C524}" type="slidenum">
              <a:rPr lang="zh-CN" altLang="en-US" sz="1200" b="1" smtClean="0">
                <a:solidFill>
                  <a:srgbClr val="354B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354B7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23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3576061" y="-8561"/>
            <a:ext cx="5393514" cy="1515659"/>
            <a:chOff x="5295900" y="2146300"/>
            <a:chExt cx="2552700" cy="1181100"/>
          </a:xfrm>
          <a:solidFill>
            <a:schemeClr val="bg1">
              <a:lumMod val="85000"/>
              <a:alpha val="58000"/>
            </a:schemeClr>
          </a:solidFill>
        </p:grpSpPr>
        <p:grpSp>
          <p:nvGrpSpPr>
            <p:cNvPr id="164" name="组合 163"/>
            <p:cNvGrpSpPr/>
            <p:nvPr/>
          </p:nvGrpSpPr>
          <p:grpSpPr>
            <a:xfrm>
              <a:off x="5295900" y="2146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91" name="矩形 290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4" name="矩形 293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5" name="矩形 294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6" name="矩形 295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7" name="矩形 296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8" name="矩形 297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9" name="矩形 298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0" name="矩形 299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1" name="矩形 300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2" name="矩形 301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3" name="矩形 302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4" name="矩形 303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5" name="矩形 304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6" name="矩形 305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307" name="矩形 306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5" name="组合 164"/>
            <p:cNvGrpSpPr/>
            <p:nvPr/>
          </p:nvGrpSpPr>
          <p:grpSpPr>
            <a:xfrm>
              <a:off x="5295900" y="2298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74" name="矩形 273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5" name="矩形 274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6" name="矩形 275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7" name="矩形 276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8" name="矩形 277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9" name="矩形 278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0" name="矩形 279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1" name="矩形 280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2" name="矩形 281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3" name="矩形 282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4" name="矩形 283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5" name="矩形 284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6" name="矩形 285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7" name="矩形 286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89" name="矩形 288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90" name="矩形 289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5295900" y="2451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57" name="矩形 256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3" name="矩形 262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5295900" y="26035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40" name="矩形 239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5295900" y="27559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23" name="矩形 222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69" name="组合 168"/>
            <p:cNvGrpSpPr/>
            <p:nvPr/>
          </p:nvGrpSpPr>
          <p:grpSpPr>
            <a:xfrm>
              <a:off x="5295900" y="29083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206" name="矩形 205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0" name="组合 169"/>
            <p:cNvGrpSpPr/>
            <p:nvPr/>
          </p:nvGrpSpPr>
          <p:grpSpPr>
            <a:xfrm>
              <a:off x="5295900" y="30607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89" name="矩形 188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5295900" y="3213100"/>
              <a:ext cx="2552700" cy="114300"/>
              <a:chOff x="5295900" y="2146300"/>
              <a:chExt cx="2552700" cy="114300"/>
            </a:xfrm>
            <a:grpFill/>
          </p:grpSpPr>
          <p:sp>
            <p:nvSpPr>
              <p:cNvPr id="172" name="矩形 171"/>
              <p:cNvSpPr/>
              <p:nvPr/>
            </p:nvSpPr>
            <p:spPr>
              <a:xfrm>
                <a:off x="5295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448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600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5753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5905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6057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6210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6362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6515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6667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6819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6972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71247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2771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4295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75819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7734300" y="2146300"/>
                <a:ext cx="114300" cy="1143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sp>
        <p:nvSpPr>
          <p:cNvPr id="158" name="矩形 157"/>
          <p:cNvSpPr/>
          <p:nvPr/>
        </p:nvSpPr>
        <p:spPr>
          <a:xfrm>
            <a:off x="-12326" y="11038"/>
            <a:ext cx="3589020" cy="1498600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b="1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9" name="文本框 333"/>
          <p:cNvSpPr txBox="1"/>
          <p:nvPr/>
        </p:nvSpPr>
        <p:spPr>
          <a:xfrm>
            <a:off x="119999" y="1654419"/>
            <a:ext cx="8849575" cy="17660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 </a:t>
            </a:r>
            <a:r>
              <a:rPr lang="en-US" altLang="zh-CN" sz="3200" b="1" dirty="0" err="1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MapGPT</a:t>
            </a:r>
            <a:r>
              <a:rPr lang="en-US" altLang="zh-CN" sz="3200" b="1" dirty="0">
                <a:solidFill>
                  <a:srgbClr val="0065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  <a:sym typeface="inpin heiti" panose="00000500000000000000" pitchFamily="2" charset="-122"/>
              </a:rPr>
              <a:t>: Map-Guided Prompting with Adaptive Path Planning for Vision-and-Language Navigation</a:t>
            </a:r>
            <a:endParaRPr lang="zh-CN" altLang="en-US" sz="3200" b="1" dirty="0">
              <a:solidFill>
                <a:srgbClr val="0065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  <a:sym typeface="inpin heiti" panose="00000500000000000000" pitchFamily="2" charset="-122"/>
            </a:endParaRPr>
          </a:p>
        </p:txBody>
      </p:sp>
      <p:sp>
        <p:nvSpPr>
          <p:cNvPr id="162" name="矩形 161"/>
          <p:cNvSpPr/>
          <p:nvPr/>
        </p:nvSpPr>
        <p:spPr>
          <a:xfrm flipV="1">
            <a:off x="0" y="3860999"/>
            <a:ext cx="8969573" cy="97896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pic>
        <p:nvPicPr>
          <p:cNvPr id="161" name="图片 160" descr="校徽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0" y="155819"/>
            <a:ext cx="3467735" cy="1152525"/>
          </a:xfrm>
          <a:prstGeom prst="rect">
            <a:avLst/>
          </a:prstGeom>
        </p:spPr>
      </p:pic>
      <p:pic>
        <p:nvPicPr>
          <p:cNvPr id="308" name="图片 30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75" y="-8561"/>
            <a:ext cx="3222425" cy="6858000"/>
          </a:xfrm>
          <a:prstGeom prst="rect">
            <a:avLst/>
          </a:prstGeom>
        </p:spPr>
      </p:pic>
      <p:graphicFrame>
        <p:nvGraphicFramePr>
          <p:cNvPr id="311" name="表格 3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0576194"/>
              </p:ext>
            </p:extLst>
          </p:nvPr>
        </p:nvGraphicFramePr>
        <p:xfrm>
          <a:off x="2783755" y="4494960"/>
          <a:ext cx="341793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   告   人：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学     号：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指导教师：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报告日期：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8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r>
              <a:rPr lang="en-US" altLang="zh-CN" sz="3200" b="1" i="0" dirty="0">
                <a:solidFill>
                  <a:srgbClr val="0F1115"/>
                </a:solidFill>
                <a:effectLst/>
                <a:latin typeface="quote-cjk-patch"/>
              </a:rPr>
              <a:t>SE-VLN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024C66-0805-4126-8436-412D7937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1" y="708786"/>
            <a:ext cx="8511630" cy="4844424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F686EFFF-6EBB-4870-9808-203A66F40298}"/>
              </a:ext>
            </a:extLst>
          </p:cNvPr>
          <p:cNvSpPr/>
          <p:nvPr/>
        </p:nvSpPr>
        <p:spPr>
          <a:xfrm>
            <a:off x="8472002" y="773241"/>
            <a:ext cx="3719997" cy="62758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提出自进化视觉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语言导航框架，实现智能体在测试阶段持续学习与改进，无需重新训练。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设计分层记忆系统，结合短期口头拓扑地图与长期经验库，支持实时决策与跨任务知识迁移。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融合检索增强生成（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RAG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）与思维链（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Cot)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推理，引入外部历史经验增强多步决策的准确性和可解释性。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引入反思修正机制，通过量化评估与自动错误校正，形成“决策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评估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修正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Sans" panose="02010600030101010101" charset="-122"/>
              </a:rPr>
              <a:t>进化”的闭环学习。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MiSans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794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">
            <a:extLst>
              <a:ext uri="{FF2B5EF4-FFF2-40B4-BE49-F238E27FC236}">
                <a16:creationId xmlns:a16="http://schemas.microsoft.com/office/drawing/2014/main" id="{CCB4A4D2-2BB4-4DA9-B43E-27137BDB5339}"/>
              </a:ext>
            </a:extLst>
          </p:cNvPr>
          <p:cNvSpPr/>
          <p:nvPr/>
        </p:nvSpPr>
        <p:spPr>
          <a:xfrm>
            <a:off x="-67778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629F0BF3-9C1D-455A-989D-5662A6554E75}"/>
              </a:ext>
            </a:extLst>
          </p:cNvPr>
          <p:cNvSpPr/>
          <p:nvPr/>
        </p:nvSpPr>
        <p:spPr>
          <a:xfrm>
            <a:off x="-59015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4BAB1488-3927-454B-91C5-92DB9E2C140C}"/>
              </a:ext>
            </a:extLst>
          </p:cNvPr>
          <p:cNvSpPr/>
          <p:nvPr/>
        </p:nvSpPr>
        <p:spPr>
          <a:xfrm>
            <a:off x="-501890" y="6802934"/>
            <a:ext cx="0" cy="20256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C48C4EE8-1A5E-4C21-8CC8-98EC0C7FCE10}"/>
              </a:ext>
            </a:extLst>
          </p:cNvPr>
          <p:cNvSpPr/>
          <p:nvPr/>
        </p:nvSpPr>
        <p:spPr>
          <a:xfrm>
            <a:off x="-414260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24CFC9BC-4D96-4575-A5D7-EB3F61E4DD11}"/>
              </a:ext>
            </a:extLst>
          </p:cNvPr>
          <p:cNvSpPr/>
          <p:nvPr/>
        </p:nvSpPr>
        <p:spPr>
          <a:xfrm>
            <a:off x="-325995" y="6900072"/>
            <a:ext cx="0" cy="11558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9A245DD-B593-4960-8CB9-B4E714DCA42B}"/>
              </a:ext>
            </a:extLst>
          </p:cNvPr>
          <p:cNvSpPr/>
          <p:nvPr/>
        </p:nvSpPr>
        <p:spPr>
          <a:xfrm>
            <a:off x="-25124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285B36B-BA6B-47E7-912C-C69A480B5E7B}"/>
              </a:ext>
            </a:extLst>
          </p:cNvPr>
          <p:cNvSpPr/>
          <p:nvPr/>
        </p:nvSpPr>
        <p:spPr>
          <a:xfrm>
            <a:off x="-163611" y="5944477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B162677F-4236-4123-9675-D9B75B9DA17D}"/>
              </a:ext>
            </a:extLst>
          </p:cNvPr>
          <p:cNvSpPr/>
          <p:nvPr/>
        </p:nvSpPr>
        <p:spPr>
          <a:xfrm>
            <a:off x="-142354" y="5338681"/>
            <a:ext cx="0" cy="177823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D66491B3-BD94-495F-831E-04A11DBB22E1}"/>
              </a:ext>
            </a:extLst>
          </p:cNvPr>
          <p:cNvSpPr/>
          <p:nvPr/>
        </p:nvSpPr>
        <p:spPr>
          <a:xfrm>
            <a:off x="-54724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F2F52D77-5E21-4FCB-A0B3-B7F1B9C1E5EC}"/>
              </a:ext>
            </a:extLst>
          </p:cNvPr>
          <p:cNvSpPr/>
          <p:nvPr/>
        </p:nvSpPr>
        <p:spPr>
          <a:xfrm>
            <a:off x="1557541" y="5425196"/>
            <a:ext cx="0" cy="101467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Shape 20">
            <a:extLst>
              <a:ext uri="{FF2B5EF4-FFF2-40B4-BE49-F238E27FC236}">
                <a16:creationId xmlns:a16="http://schemas.microsoft.com/office/drawing/2014/main" id="{907E2114-B18D-4CC1-9BE5-04231D8060F1}"/>
              </a:ext>
            </a:extLst>
          </p:cNvPr>
          <p:cNvSpPr/>
          <p:nvPr/>
        </p:nvSpPr>
        <p:spPr>
          <a:xfrm>
            <a:off x="4727155" y="5630950"/>
            <a:ext cx="652471" cy="541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0A4228D-C9B2-4DF6-ADE5-EA509A72BEA2}"/>
              </a:ext>
            </a:extLst>
          </p:cNvPr>
          <p:cNvSpPr/>
          <p:nvPr/>
        </p:nvSpPr>
        <p:spPr>
          <a:xfrm flipV="1">
            <a:off x="0" y="563911"/>
            <a:ext cx="12192000" cy="94715"/>
          </a:xfrm>
          <a:prstGeom prst="rect">
            <a:avLst/>
          </a:prstGeom>
          <a:solidFill>
            <a:srgbClr val="0065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47E2E811-D5FA-4E64-9B3A-0F9D21BB1D0C}"/>
              </a:ext>
            </a:extLst>
          </p:cNvPr>
          <p:cNvSpPr txBox="1"/>
          <p:nvPr/>
        </p:nvSpPr>
        <p:spPr>
          <a:xfrm>
            <a:off x="-4356" y="0"/>
            <a:ext cx="9261122" cy="584775"/>
          </a:xfrm>
          <a:prstGeom prst="rect">
            <a:avLst/>
          </a:prstGeom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0F1115"/>
                </a:solidFill>
                <a:effectLst/>
                <a:latin typeface="quote-cjk-patch"/>
              </a:rPr>
              <a:t>VLN-R1</a:t>
            </a:r>
            <a:endParaRPr lang="zh-CN" altLang="en-US" sz="3200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33" name="Text 0">
            <a:extLst>
              <a:ext uri="{FF2B5EF4-FFF2-40B4-BE49-F238E27FC236}">
                <a16:creationId xmlns:a16="http://schemas.microsoft.com/office/drawing/2014/main" id="{29F306BF-CB06-453E-87CD-ED9CD49AB1E9}"/>
              </a:ext>
            </a:extLst>
          </p:cNvPr>
          <p:cNvSpPr/>
          <p:nvPr/>
        </p:nvSpPr>
        <p:spPr>
          <a:xfrm>
            <a:off x="2459305" y="479264"/>
            <a:ext cx="3049055" cy="6068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34" name="Shape 23">
            <a:extLst>
              <a:ext uri="{FF2B5EF4-FFF2-40B4-BE49-F238E27FC236}">
                <a16:creationId xmlns:a16="http://schemas.microsoft.com/office/drawing/2014/main" id="{947C43CF-6D32-48B2-9323-C8D3B84B6689}"/>
              </a:ext>
            </a:extLst>
          </p:cNvPr>
          <p:cNvSpPr/>
          <p:nvPr/>
        </p:nvSpPr>
        <p:spPr>
          <a:xfrm flipH="1">
            <a:off x="3094762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5" name="Text 24">
            <a:extLst>
              <a:ext uri="{FF2B5EF4-FFF2-40B4-BE49-F238E27FC236}">
                <a16:creationId xmlns:a16="http://schemas.microsoft.com/office/drawing/2014/main" id="{FC410578-49C6-4062-B42C-AB4DFE848D9F}"/>
              </a:ext>
            </a:extLst>
          </p:cNvPr>
          <p:cNvSpPr/>
          <p:nvPr/>
        </p:nvSpPr>
        <p:spPr>
          <a:xfrm>
            <a:off x="309476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6" name="Shape 25">
            <a:extLst>
              <a:ext uri="{FF2B5EF4-FFF2-40B4-BE49-F238E27FC236}">
                <a16:creationId xmlns:a16="http://schemas.microsoft.com/office/drawing/2014/main" id="{5B8EA68A-7FDB-48F6-B39F-E07E2A90ED58}"/>
              </a:ext>
            </a:extLst>
          </p:cNvPr>
          <p:cNvSpPr/>
          <p:nvPr/>
        </p:nvSpPr>
        <p:spPr>
          <a:xfrm flipH="1">
            <a:off x="2966492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A43D0174-B3BA-4797-A602-5502C8C941C3}"/>
              </a:ext>
            </a:extLst>
          </p:cNvPr>
          <p:cNvSpPr/>
          <p:nvPr/>
        </p:nvSpPr>
        <p:spPr>
          <a:xfrm>
            <a:off x="2966492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38" name="Shape 27">
            <a:extLst>
              <a:ext uri="{FF2B5EF4-FFF2-40B4-BE49-F238E27FC236}">
                <a16:creationId xmlns:a16="http://schemas.microsoft.com/office/drawing/2014/main" id="{37AE5155-4F56-41F9-831C-5CA7223FB399}"/>
              </a:ext>
            </a:extLst>
          </p:cNvPr>
          <p:cNvSpPr/>
          <p:nvPr/>
        </p:nvSpPr>
        <p:spPr>
          <a:xfrm flipH="1">
            <a:off x="2835047" y="766446"/>
            <a:ext cx="78105" cy="717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9" name="Text 28">
            <a:extLst>
              <a:ext uri="{FF2B5EF4-FFF2-40B4-BE49-F238E27FC236}">
                <a16:creationId xmlns:a16="http://schemas.microsoft.com/office/drawing/2014/main" id="{D329E221-2854-4782-81D9-D01713BC20A0}"/>
              </a:ext>
            </a:extLst>
          </p:cNvPr>
          <p:cNvSpPr/>
          <p:nvPr/>
        </p:nvSpPr>
        <p:spPr>
          <a:xfrm>
            <a:off x="283504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140" name="Shape 29">
            <a:extLst>
              <a:ext uri="{FF2B5EF4-FFF2-40B4-BE49-F238E27FC236}">
                <a16:creationId xmlns:a16="http://schemas.microsoft.com/office/drawing/2014/main" id="{B8E85980-0220-4FE3-ACD5-72469EE7A87B}"/>
              </a:ext>
            </a:extLst>
          </p:cNvPr>
          <p:cNvSpPr/>
          <p:nvPr/>
        </p:nvSpPr>
        <p:spPr>
          <a:xfrm flipH="1">
            <a:off x="2704237" y="766446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  <a:ln/>
        </p:spPr>
      </p:sp>
      <p:sp>
        <p:nvSpPr>
          <p:cNvPr id="141" name="Text 30">
            <a:extLst>
              <a:ext uri="{FF2B5EF4-FFF2-40B4-BE49-F238E27FC236}">
                <a16:creationId xmlns:a16="http://schemas.microsoft.com/office/drawing/2014/main" id="{189A7C4C-B83F-4371-AC8F-06B4585CCB88}"/>
              </a:ext>
            </a:extLst>
          </p:cNvPr>
          <p:cNvSpPr/>
          <p:nvPr/>
        </p:nvSpPr>
        <p:spPr>
          <a:xfrm>
            <a:off x="2704237" y="766446"/>
            <a:ext cx="78105" cy="71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endParaRPr lang="en-US" sz="16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E26F9D-6DFC-4FD0-B586-7103AB888509}"/>
              </a:ext>
            </a:extLst>
          </p:cNvPr>
          <p:cNvSpPr txBox="1"/>
          <p:nvPr/>
        </p:nvSpPr>
        <p:spPr>
          <a:xfrm>
            <a:off x="0" y="6598656"/>
            <a:ext cx="107885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[1] MapGPT: Map-Guided Prompting with Adaptive Path Planning for Vision-and-Language Navigation,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ACL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2024,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 中山大学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深圳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香港大学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, https://github.com/</a:t>
            </a:r>
            <a:r>
              <a:rPr kumimoji="1" lang="en-US" altLang="zh-CN" sz="1100" dirty="0" err="1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chen</a:t>
            </a:r>
            <a:r>
              <a:rPr kumimoji="1" lang="en-US" altLang="zh-CN" sz="1100" dirty="0"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rPr>
              <a:t>-judge/MapGPT/</a:t>
            </a:r>
            <a:endParaRPr kumimoji="1" lang="zh-CN" altLang="en-US" sz="1100" dirty="0">
              <a:latin typeface="Times New Roman" panose="02020603050405020304" pitchFamily="18" charset="0"/>
              <a:ea typeface="FangSong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60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19b34fa-850a-4f5b-9bd4-3e0419e52f74"/>
  <p:tag name="COMMONDATA" val="eyJoZGlkIjoiNDJlYjk4ZjQ2NzA1ZGEzMzYyZTZmODkzY2Q4ZDg0Z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5074.6850393700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dac9fd9-164d-4dc8-9a8d-e31483b9f66e}"/>
</p:tagLst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8767</TotalTime>
  <Words>167</Words>
  <Application>Microsoft Office PowerPoint</Application>
  <PresentationFormat>宽屏</PresentationFormat>
  <Paragraphs>17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inpin heiti</vt:lpstr>
      <vt:lpstr>quote-cjk-patch</vt:lpstr>
      <vt:lpstr>等线</vt:lpstr>
      <vt:lpstr>微软雅黑</vt:lpstr>
      <vt:lpstr>Arial</vt:lpstr>
      <vt:lpstr>Calibri</vt:lpstr>
      <vt:lpstr>Calibri Light</vt:lpstr>
      <vt:lpstr>Times New Roman</vt:lpstr>
      <vt:lpstr>Office Theme 2013 - 2022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dkx</dc:creator>
  <cp:lastModifiedBy>2115875948@qq.com</cp:lastModifiedBy>
  <cp:revision>825</cp:revision>
  <dcterms:created xsi:type="dcterms:W3CDTF">2022-11-14T06:38:00Z</dcterms:created>
  <dcterms:modified xsi:type="dcterms:W3CDTF">2026-01-20T10:53:44Z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4E26A404E4B34345815899A7963F5C06</vt:lpwstr>
  </property>
  <property fmtid="{D5CDD505-2E9C-101B-9397-08002B2CF9AE}" pid="3" name="KSOProductBuildVer">
    <vt:lpwstr>2052-12.1.0.15374</vt:lpwstr>
  </property>
</Properties>
</file>