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7"/>
  </p:notesMasterIdLst>
  <p:handoutMasterIdLst>
    <p:handoutMasterId r:id="rId8"/>
  </p:handoutMasterIdLst>
  <p:sldIdLst>
    <p:sldId id="256" r:id="rId2"/>
    <p:sldId id="502" r:id="rId3"/>
    <p:sldId id="529" r:id="rId4"/>
    <p:sldId id="531" r:id="rId5"/>
    <p:sldId id="530" r:id="rId6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fkx" initials="w" lastIdx="1" clrIdx="0"/>
  <p:cmAuthor id="2" name="2115875948@qq.com" initials="2" lastIdx="3" clrIdx="1">
    <p:extLst>
      <p:ext uri="{19B8F6BF-5375-455C-9EA6-DF929625EA0E}">
        <p15:presenceInfo xmlns:p15="http://schemas.microsoft.com/office/powerpoint/2012/main" userId="77d56f992319ea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58F"/>
    <a:srgbClr val="5B9BD5"/>
    <a:srgbClr val="FF9966"/>
    <a:srgbClr val="FF9800"/>
    <a:srgbClr val="00AFF0"/>
    <a:srgbClr val="FF0000"/>
    <a:srgbClr val="1212F0"/>
    <a:srgbClr val="FFB014"/>
    <a:srgbClr val="AAAAFF"/>
    <a:srgbClr val="55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153" autoAdjust="0"/>
  </p:normalViewPr>
  <p:slideViewPr>
    <p:cSldViewPr>
      <p:cViewPr varScale="1">
        <p:scale>
          <a:sx n="84" d="100"/>
          <a:sy n="84" d="100"/>
        </p:scale>
        <p:origin x="610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0B522-843A-4E8E-A647-AF429A9C9E7B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659DB-8BA6-4AD3-9C6C-00F0DE7EB8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659DB-8BA6-4AD3-9C6C-00F0DE7EB85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9819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2692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K</a:t>
            </a:r>
            <a:r>
              <a:rPr lang="zh-CN" altLang="en-US" dirty="0"/>
              <a:t>是窗口，最开始</a:t>
            </a:r>
            <a:r>
              <a:rPr lang="en-US" altLang="zh-CN" dirty="0" err="1"/>
              <a:t>Ot</a:t>
            </a:r>
            <a:r>
              <a:rPr lang="zh-CN" altLang="en-US" dirty="0"/>
              <a:t>是</a:t>
            </a:r>
            <a:r>
              <a:rPr lang="en-US" altLang="zh-CN" dirty="0"/>
              <a:t>k</a:t>
            </a:r>
            <a:r>
              <a:rPr lang="zh-CN" altLang="en-US" dirty="0"/>
              <a:t>张图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78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8731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5663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1428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2761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2909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9933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9229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689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9190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354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12480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0525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/>
          <p:cNvSpPr/>
          <p:nvPr userDrawn="1"/>
        </p:nvSpPr>
        <p:spPr>
          <a:xfrm>
            <a:off x="-65252" y="-921"/>
            <a:ext cx="1961103" cy="692150"/>
          </a:xfrm>
          <a:prstGeom prst="parallelogram">
            <a:avLst>
              <a:gd name="adj" fmla="val 57289"/>
            </a:avLst>
          </a:prstGeom>
          <a:solidFill>
            <a:srgbClr val="354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62" y="16480"/>
            <a:ext cx="944487" cy="659190"/>
          </a:xfrm>
          <a:prstGeom prst="rect">
            <a:avLst/>
          </a:prstGeom>
        </p:spPr>
      </p:pic>
      <p:sp>
        <p:nvSpPr>
          <p:cNvPr id="4" name="平行四边形 3"/>
          <p:cNvSpPr/>
          <p:nvPr userDrawn="1"/>
        </p:nvSpPr>
        <p:spPr>
          <a:xfrm>
            <a:off x="1387544" y="647450"/>
            <a:ext cx="10848000" cy="36000"/>
          </a:xfrm>
          <a:prstGeom prst="parallelogram">
            <a:avLst>
              <a:gd name="adj" fmla="val 57289"/>
            </a:avLst>
          </a:prstGeom>
          <a:solidFill>
            <a:srgbClr val="354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1717597" y="6583996"/>
            <a:ext cx="66693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1B2D83C-3CD3-4CBF-B268-3EDB8087C524}" type="slidenum">
              <a:rPr lang="zh-CN" altLang="en-US" sz="1200" b="1" smtClean="0">
                <a:solidFill>
                  <a:srgbClr val="354B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354B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23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>
            <a:off x="3576061" y="-8561"/>
            <a:ext cx="5393514" cy="1515659"/>
            <a:chOff x="5295900" y="2146300"/>
            <a:chExt cx="2552700" cy="1181100"/>
          </a:xfrm>
          <a:solidFill>
            <a:schemeClr val="bg1">
              <a:lumMod val="85000"/>
              <a:alpha val="58000"/>
            </a:schemeClr>
          </a:solidFill>
        </p:grpSpPr>
        <p:grpSp>
          <p:nvGrpSpPr>
            <p:cNvPr id="164" name="组合 163"/>
            <p:cNvGrpSpPr/>
            <p:nvPr/>
          </p:nvGrpSpPr>
          <p:grpSpPr>
            <a:xfrm>
              <a:off x="5295900" y="21463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91" name="矩形 290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2" name="矩形 291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3" name="矩形 292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4" name="矩形 293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5" name="矩形 294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6" name="矩形 295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7" name="矩形 296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8" name="矩形 297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9" name="矩形 298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0" name="矩形 299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1" name="矩形 300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2" name="矩形 301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3" name="矩形 302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4" name="矩形 303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5" name="矩形 304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6" name="矩形 305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7" name="矩形 306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5" name="组合 164"/>
            <p:cNvGrpSpPr/>
            <p:nvPr/>
          </p:nvGrpSpPr>
          <p:grpSpPr>
            <a:xfrm>
              <a:off x="5295900" y="22987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74" name="矩形 273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5" name="矩形 274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6" name="矩形 275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7" name="矩形 276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8" name="矩形 277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9" name="矩形 278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0" name="矩形 279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1" name="矩形 280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2" name="矩形 281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3" name="矩形 282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4" name="矩形 283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5" name="矩形 284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6" name="矩形 285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7" name="矩形 286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8" name="矩形 287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9" name="矩形 288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0" name="矩形 289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6" name="组合 165"/>
            <p:cNvGrpSpPr/>
            <p:nvPr/>
          </p:nvGrpSpPr>
          <p:grpSpPr>
            <a:xfrm>
              <a:off x="5295900" y="24511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57" name="矩形 256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8" name="矩形 257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9" name="矩形 258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0" name="矩形 259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1" name="矩形 260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2" name="矩形 261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3" name="矩形 262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4" name="矩形 263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5" name="矩形 264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6" name="矩形 265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7" name="矩形 266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8" name="矩形 267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9" name="矩形 268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0" name="矩形 269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1" name="矩形 270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2" name="矩形 271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3" name="矩形 272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7" name="组合 166"/>
            <p:cNvGrpSpPr/>
            <p:nvPr/>
          </p:nvGrpSpPr>
          <p:grpSpPr>
            <a:xfrm>
              <a:off x="5295900" y="26035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40" name="矩形 239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1" name="矩形 240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2" name="矩形 241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3" name="矩形 242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4" name="矩形 243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5" name="矩形 244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6" name="矩形 245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7" name="矩形 246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8" name="矩形 247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9" name="矩形 248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0" name="矩形 249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1" name="矩形 250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2" name="矩形 251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3" name="矩形 252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4" name="矩形 253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5" name="矩形 254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6" name="矩形 255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8" name="组合 167"/>
            <p:cNvGrpSpPr/>
            <p:nvPr/>
          </p:nvGrpSpPr>
          <p:grpSpPr>
            <a:xfrm>
              <a:off x="5295900" y="27559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23" name="矩形 222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4" name="矩形 223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5" name="矩形 224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6" name="矩形 225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7" name="矩形 226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8" name="矩形 227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9" name="矩形 228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0" name="矩形 229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1" name="矩形 230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2" name="矩形 231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3" name="矩形 232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4" name="矩形 233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5" name="矩形 234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6" name="矩形 235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7" name="矩形 236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8" name="矩形 237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9" name="矩形 238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9" name="组合 168"/>
            <p:cNvGrpSpPr/>
            <p:nvPr/>
          </p:nvGrpSpPr>
          <p:grpSpPr>
            <a:xfrm>
              <a:off x="5295900" y="29083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06" name="矩形 205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7" name="矩形 206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8" name="矩形 207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9" name="矩形 208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0" name="矩形 209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1" name="矩形 210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2" name="矩形 211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3" name="矩形 212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4" name="矩形 213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5" name="矩形 214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6" name="矩形 215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7" name="矩形 216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8" name="矩形 217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9" name="矩形 218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0" name="矩形 219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1" name="矩形 220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2" name="矩形 221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70" name="组合 169"/>
            <p:cNvGrpSpPr/>
            <p:nvPr/>
          </p:nvGrpSpPr>
          <p:grpSpPr>
            <a:xfrm>
              <a:off x="5295900" y="30607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189" name="矩形 188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0" name="矩形 189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1" name="矩形 190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2" name="矩形 191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3" name="矩形 192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4" name="矩形 193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5" name="矩形 194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6" name="矩形 195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7" name="矩形 196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8" name="矩形 197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9" name="矩形 198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0" name="矩形 199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1" name="矩形 200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2" name="矩形 201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3" name="矩形 202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4" name="矩形 203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5" name="矩形 204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71" name="组合 170"/>
            <p:cNvGrpSpPr/>
            <p:nvPr/>
          </p:nvGrpSpPr>
          <p:grpSpPr>
            <a:xfrm>
              <a:off x="5295900" y="32131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172" name="矩形 171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4" name="矩形 173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5" name="矩形 174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6" name="矩形 175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7" name="矩形 176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8" name="矩形 177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9" name="矩形 178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0" name="矩形 179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1" name="矩形 180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2" name="矩形 181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3" name="矩形 182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4" name="矩形 183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5" name="矩形 184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6" name="矩形 185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7" name="矩形 186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8" name="矩形 187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</p:grpSp>
      <p:sp>
        <p:nvSpPr>
          <p:cNvPr id="158" name="矩形 157"/>
          <p:cNvSpPr/>
          <p:nvPr/>
        </p:nvSpPr>
        <p:spPr>
          <a:xfrm>
            <a:off x="-12326" y="11038"/>
            <a:ext cx="3589020" cy="1498600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b="1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59" name="文本框 333"/>
          <p:cNvSpPr txBox="1"/>
          <p:nvPr/>
        </p:nvSpPr>
        <p:spPr>
          <a:xfrm>
            <a:off x="119999" y="1654419"/>
            <a:ext cx="8849575" cy="176602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 </a:t>
            </a:r>
            <a:r>
              <a:rPr lang="en-US" altLang="zh-CN" sz="3200" b="1" dirty="0" err="1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GoViG</a:t>
            </a:r>
            <a:r>
              <a:rPr lang="en-US" altLang="zh-CN" sz="32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: Goal-Conditioned Visual Navigation Instruction Generation</a:t>
            </a:r>
            <a:endParaRPr lang="zh-CN" altLang="en-US" sz="3200" b="1" dirty="0">
              <a:solidFill>
                <a:srgbClr val="0065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  <a:sym typeface="inpin heiti" panose="00000500000000000000" pitchFamily="2" charset="-122"/>
            </a:endParaRPr>
          </a:p>
        </p:txBody>
      </p:sp>
      <p:sp>
        <p:nvSpPr>
          <p:cNvPr id="162" name="矩形 161"/>
          <p:cNvSpPr/>
          <p:nvPr/>
        </p:nvSpPr>
        <p:spPr>
          <a:xfrm flipV="1">
            <a:off x="0" y="3860999"/>
            <a:ext cx="8969573" cy="97896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pic>
        <p:nvPicPr>
          <p:cNvPr id="161" name="图片 160" descr="校徽-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0" y="155819"/>
            <a:ext cx="3467735" cy="1152525"/>
          </a:xfrm>
          <a:prstGeom prst="rect">
            <a:avLst/>
          </a:prstGeom>
        </p:spPr>
      </p:pic>
      <p:pic>
        <p:nvPicPr>
          <p:cNvPr id="308" name="图片 30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575" y="-8561"/>
            <a:ext cx="3222425" cy="6858000"/>
          </a:xfrm>
          <a:prstGeom prst="rect">
            <a:avLst/>
          </a:prstGeom>
        </p:spPr>
      </p:pic>
      <p:graphicFrame>
        <p:nvGraphicFramePr>
          <p:cNvPr id="311" name="表格 310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70576194"/>
              </p:ext>
            </p:extLst>
          </p:nvPr>
        </p:nvGraphicFramePr>
        <p:xfrm>
          <a:off x="2783755" y="4494960"/>
          <a:ext cx="341793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报   告   人：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学     号：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指导教师：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报告日期：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1" name="Text 9">
            <a:extLst>
              <a:ext uri="{FF2B5EF4-FFF2-40B4-BE49-F238E27FC236}">
                <a16:creationId xmlns:a16="http://schemas.microsoft.com/office/drawing/2014/main" id="{E87E747E-4DCF-42B6-B18D-A5F3AEA62EE4}"/>
              </a:ext>
            </a:extLst>
          </p:cNvPr>
          <p:cNvSpPr/>
          <p:nvPr/>
        </p:nvSpPr>
        <p:spPr>
          <a:xfrm>
            <a:off x="12039" y="650502"/>
            <a:ext cx="10082701" cy="37828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现有方法瓶颈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、依赖“特权输入”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全景视图、语义地图、动作序列等。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、视觉信息损失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将图像简化为文本描述，丢失空间细节。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、泛化能力弱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在未知、非结构化环境中表现不佳。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GoViG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、输入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仅 第一视角的初始视觉序列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+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目标图像。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、输出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自然语言导航指令。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、核心思想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像人一样思考”，先想象路径，再描述路径。</a:t>
            </a:r>
          </a:p>
        </p:txBody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800219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zh-CN" altLang="en-US" sz="3200" b="1" i="0" dirty="0">
                <a:solidFill>
                  <a:srgbClr val="0F1115"/>
                </a:solidFill>
                <a:effectLst/>
                <a:latin typeface="quote-cjk-patch"/>
              </a:rPr>
              <a:t>研究动机与核心方法总览</a:t>
            </a:r>
            <a:endParaRPr lang="zh-CN" altLang="en-US" sz="3200" b="1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4CF6FF-F14A-4782-9DA5-B412AE4CEFD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4356" y="6523999"/>
            <a:ext cx="12192000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indent="0" fontAlgn="auto"/>
            <a:r>
              <a:rPr lang="en-US" altLang="zh-CN" sz="1200" b="1" i="0" dirty="0">
                <a:solidFill>
                  <a:srgbClr val="0F1115"/>
                </a:solidFill>
                <a:effectLst/>
                <a:latin typeface="quote-cjk-patch"/>
              </a:rPr>
              <a:t>[1]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 F. Wu, Y. Dong, Z.-Q. Cheng, Y. Dai, G. Chen, H. Wang, Q. Dai, and A. G. Hauptmann, "</a:t>
            </a:r>
            <a:r>
              <a:rPr lang="en-US" altLang="zh-CN" sz="1200" b="0" i="0" dirty="0" err="1">
                <a:solidFill>
                  <a:srgbClr val="0F1115"/>
                </a:solidFill>
                <a:effectLst/>
                <a:latin typeface="quote-cjk-patch"/>
              </a:rPr>
              <a:t>GoViG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: Goal-Conditioned Visual Navigation Instruction Generation," </a:t>
            </a:r>
            <a:r>
              <a:rPr lang="en-US" altLang="zh-CN" sz="1200" b="0" i="1" dirty="0" err="1">
                <a:solidFill>
                  <a:srgbClr val="0F1115"/>
                </a:solidFill>
                <a:effectLst/>
                <a:latin typeface="quote-cjk-patch"/>
              </a:rPr>
              <a:t>arXiv</a:t>
            </a:r>
            <a:r>
              <a:rPr lang="en-US" altLang="zh-CN" sz="1200" b="0" i="1" dirty="0">
                <a:solidFill>
                  <a:srgbClr val="0F1115"/>
                </a:solidFill>
                <a:effectLst/>
                <a:latin typeface="quote-cjk-patch"/>
              </a:rPr>
              <a:t> preprint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, 2025.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EAF686F-2247-437D-82C4-AFD1334A534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0387"/>
          <a:stretch/>
        </p:blipFill>
        <p:spPr>
          <a:xfrm>
            <a:off x="28390" y="4564589"/>
            <a:ext cx="6383483" cy="190383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CA7F85FC-4094-44FA-9A4E-0F2547ADC0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7616" y="838201"/>
            <a:ext cx="5080293" cy="3195028"/>
          </a:xfrm>
          <a:prstGeom prst="rect">
            <a:avLst/>
          </a:prstGeom>
        </p:spPr>
      </p:pic>
      <p:sp>
        <p:nvSpPr>
          <p:cNvPr id="29" name="Text 9">
            <a:extLst>
              <a:ext uri="{FF2B5EF4-FFF2-40B4-BE49-F238E27FC236}">
                <a16:creationId xmlns:a16="http://schemas.microsoft.com/office/drawing/2014/main" id="{5EE5B903-FF57-4FEB-A4B3-14516DB1567A}"/>
              </a:ext>
            </a:extLst>
          </p:cNvPr>
          <p:cNvSpPr/>
          <p:nvPr/>
        </p:nvSpPr>
        <p:spPr>
          <a:xfrm>
            <a:off x="7162636" y="4248304"/>
            <a:ext cx="4650252" cy="2536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两大关键子任务分解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、导航可视化： 根据当前和目标视图，预测出中间的视觉状态。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、基于视觉线索的指令生成： 根据真实与预测的视觉序列，生成连贯的指令。</a:t>
            </a: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041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1" name="Text 9">
            <a:extLst>
              <a:ext uri="{FF2B5EF4-FFF2-40B4-BE49-F238E27FC236}">
                <a16:creationId xmlns:a16="http://schemas.microsoft.com/office/drawing/2014/main" id="{E87E747E-4DCF-42B6-B18D-A5F3AEA62EE4}"/>
              </a:ext>
            </a:extLst>
          </p:cNvPr>
          <p:cNvSpPr/>
          <p:nvPr/>
        </p:nvSpPr>
        <p:spPr>
          <a:xfrm>
            <a:off x="12039" y="650502"/>
            <a:ext cx="10082701" cy="37828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、分块：将一张完整图片切分成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个小块。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、映射成向量：用一个编码器神经网络将每个图像块转换成一个连续的特征向量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emb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。这个向量捕捉了该块的视觉本质（形状、颜色、纹理）。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、查表量化：准备一个视觉词汇表，这是一个包含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个标准特征向量的代码本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C = {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emb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₁,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emb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₂, ...,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emb_N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，相当于“视觉基本元素库”。对于每个图像块向量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emb_i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，在词汇表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C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中查找与它最相似的那个标准向量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emb_j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。用该标准向量的索引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（一个整数）来代表原始图像块。这个索引就是视觉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token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、生成序列对所有图像块重复步骤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，最终将整张图片转换为一个视觉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token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序列（如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[124, 589, 3047, ..., 12]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，共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token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）。</a:t>
            </a:r>
          </a:p>
        </p:txBody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26004" y="570010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800219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en-US" altLang="zh-CN" sz="3200" b="1" i="0" dirty="0">
                <a:solidFill>
                  <a:srgbClr val="0F1115"/>
                </a:solidFill>
                <a:effectLst/>
                <a:latin typeface="quote-cjk-patch"/>
              </a:rPr>
              <a:t>Visual Tokens</a:t>
            </a:r>
            <a:endParaRPr lang="zh-CN" altLang="en-US" sz="3200" b="1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4CF6FF-F14A-4782-9DA5-B412AE4CEFD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4356" y="6523999"/>
            <a:ext cx="12192000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indent="0" fontAlgn="auto"/>
            <a:r>
              <a:rPr lang="en-US" altLang="zh-CN" sz="1200" b="1" i="0" dirty="0">
                <a:solidFill>
                  <a:srgbClr val="0F1115"/>
                </a:solidFill>
                <a:effectLst/>
                <a:latin typeface="quote-cjk-patch"/>
              </a:rPr>
              <a:t>[1]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 F. Wu, Y. Dong, Z.-Q. Cheng, Y. Dai, G. Chen, H. Wang, Q. Dai, and A. G. Hauptmann, "</a:t>
            </a:r>
            <a:r>
              <a:rPr lang="en-US" altLang="zh-CN" sz="1200" b="0" i="0" dirty="0" err="1">
                <a:solidFill>
                  <a:srgbClr val="0F1115"/>
                </a:solidFill>
                <a:effectLst/>
                <a:latin typeface="quote-cjk-patch"/>
              </a:rPr>
              <a:t>GoViG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: Goal-Conditioned Visual Navigation Instruction Generation," </a:t>
            </a:r>
            <a:r>
              <a:rPr lang="en-US" altLang="zh-CN" sz="1200" b="0" i="1" dirty="0" err="1">
                <a:solidFill>
                  <a:srgbClr val="0F1115"/>
                </a:solidFill>
                <a:effectLst/>
                <a:latin typeface="quote-cjk-patch"/>
              </a:rPr>
              <a:t>arXiv</a:t>
            </a:r>
            <a:r>
              <a:rPr lang="en-US" altLang="zh-CN" sz="1200" b="0" i="1" dirty="0">
                <a:solidFill>
                  <a:srgbClr val="0F1115"/>
                </a:solidFill>
                <a:effectLst/>
                <a:latin typeface="quote-cjk-patch"/>
              </a:rPr>
              <a:t> preprint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, 2025.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C2E9A6F-D5FF-4596-B958-02A0DA663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42" y="4513889"/>
            <a:ext cx="5635419" cy="844863"/>
          </a:xfrm>
          <a:prstGeom prst="rect">
            <a:avLst/>
          </a:prstGeom>
        </p:spPr>
      </p:pic>
      <p:sp>
        <p:nvSpPr>
          <p:cNvPr id="33" name="Text 9">
            <a:extLst>
              <a:ext uri="{FF2B5EF4-FFF2-40B4-BE49-F238E27FC236}">
                <a16:creationId xmlns:a16="http://schemas.microsoft.com/office/drawing/2014/main" id="{68A32A1F-3436-44F4-8811-82BBE5439FD6}"/>
              </a:ext>
            </a:extLst>
          </p:cNvPr>
          <p:cNvSpPr/>
          <p:nvPr/>
        </p:nvSpPr>
        <p:spPr>
          <a:xfrm>
            <a:off x="6066780" y="4752353"/>
            <a:ext cx="4650252" cy="4589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其中，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emb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是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groud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 truth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是预测的概率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45A21E9-B744-4D64-87EF-42294231F0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429972"/>
            <a:ext cx="58864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113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3200" b="1" i="0" dirty="0">
                <a:solidFill>
                  <a:srgbClr val="0F1115"/>
                </a:solidFill>
                <a:effectLst/>
                <a:latin typeface="quote-cjk-patch"/>
              </a:rPr>
              <a:t>多模态推理策略</a:t>
            </a:r>
            <a:endParaRPr lang="zh-CN" altLang="en-US" sz="32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1BD352-076A-4F21-9EFA-F8A77D372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9018"/>
            <a:ext cx="12192000" cy="35981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44893C7-35C2-4F6A-A85C-0DD902791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6" y="4230131"/>
            <a:ext cx="5475453" cy="257280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028629D-8F6D-4B9D-B514-E47DD5DCBC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7799" y="4365000"/>
            <a:ext cx="6271971" cy="229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51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26004" y="570010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800219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en-US" altLang="zh-CN" sz="3200" b="1" i="0" dirty="0">
                <a:solidFill>
                  <a:srgbClr val="0F1115"/>
                </a:solidFill>
                <a:effectLst/>
                <a:latin typeface="quote-cjk-patch"/>
              </a:rPr>
              <a:t>Visual Tokens</a:t>
            </a:r>
            <a:endParaRPr lang="zh-CN" altLang="en-US" sz="3200" b="1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4CF6FF-F14A-4782-9DA5-B412AE4CEFD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4356" y="6523999"/>
            <a:ext cx="12192000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indent="0" fontAlgn="auto"/>
            <a:r>
              <a:rPr lang="en-US" altLang="zh-CN" sz="1200" b="1" i="0" dirty="0">
                <a:solidFill>
                  <a:srgbClr val="0F1115"/>
                </a:solidFill>
                <a:effectLst/>
                <a:latin typeface="quote-cjk-patch"/>
              </a:rPr>
              <a:t>[1]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 F. Wu, Y. Dong, Z.-Q. Cheng, Y. Dai, G. Chen, H. Wang, Q. Dai, and A. G. Hauptmann, "</a:t>
            </a:r>
            <a:r>
              <a:rPr lang="en-US" altLang="zh-CN" sz="1200" b="0" i="0" dirty="0" err="1">
                <a:solidFill>
                  <a:srgbClr val="0F1115"/>
                </a:solidFill>
                <a:effectLst/>
                <a:latin typeface="quote-cjk-patch"/>
              </a:rPr>
              <a:t>GoViG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: Goal-Conditioned Visual Navigation Instruction Generation," </a:t>
            </a:r>
            <a:r>
              <a:rPr lang="en-US" altLang="zh-CN" sz="1200" b="0" i="1" dirty="0" err="1">
                <a:solidFill>
                  <a:srgbClr val="0F1115"/>
                </a:solidFill>
                <a:effectLst/>
                <a:latin typeface="quote-cjk-patch"/>
              </a:rPr>
              <a:t>arXiv</a:t>
            </a:r>
            <a:r>
              <a:rPr lang="en-US" altLang="zh-CN" sz="1200" b="0" i="1" dirty="0">
                <a:solidFill>
                  <a:srgbClr val="0F1115"/>
                </a:solidFill>
                <a:effectLst/>
                <a:latin typeface="quote-cjk-patch"/>
              </a:rPr>
              <a:t> preprint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, 2025.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BAC0515-C3AB-452E-8575-EFC04DA78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04" y="664725"/>
            <a:ext cx="12192000" cy="295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4187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19b34fa-850a-4f5b-9bd4-3e0419e52f74"/>
  <p:tag name="COMMONDATA" val="eyJoZGlkIjoiNDJlYjk4ZjQ2NzA1ZGEzMzYyZTZmODkzY2Q4ZDg0Z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5074.68503937007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dac9fd9-164d-4dc8-9a8d-e31483b9f66e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 2013 - 2022">
  <a:themeElements>
    <a:clrScheme name="Office Them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8577</TotalTime>
  <Words>563</Words>
  <Application>Microsoft Office PowerPoint</Application>
  <PresentationFormat>宽屏</PresentationFormat>
  <Paragraphs>37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inpin heiti</vt:lpstr>
      <vt:lpstr>quote-cjk-patch</vt:lpstr>
      <vt:lpstr>等线</vt:lpstr>
      <vt:lpstr>微软雅黑</vt:lpstr>
      <vt:lpstr>Arial</vt:lpstr>
      <vt:lpstr>Calibri</vt:lpstr>
      <vt:lpstr>Calibri Light</vt:lpstr>
      <vt:lpstr>Office Theme 2013 - 2022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dkx</dc:creator>
  <cp:lastModifiedBy>2115875948@qq.com</cp:lastModifiedBy>
  <cp:revision>795</cp:revision>
  <dcterms:created xsi:type="dcterms:W3CDTF">2022-11-14T06:38:00Z</dcterms:created>
  <dcterms:modified xsi:type="dcterms:W3CDTF">2025-11-21T12:07:16Z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4E26A404E4B34345815899A7963F5C06</vt:lpwstr>
  </property>
  <property fmtid="{D5CDD505-2E9C-101B-9397-08002B2CF9AE}" pid="3" name="KSOProductBuildVer">
    <vt:lpwstr>2052-12.1.0.15374</vt:lpwstr>
  </property>
</Properties>
</file>